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Century Gothic Paneuropean" charset="1" panose="020B0502020202020204"/>
      <p:regular r:id="rId39"/>
    </p:embeddedFont>
    <p:embeddedFont>
      <p:font typeface="Times New Roman Bold" charset="1" panose="02020803070505020304"/>
      <p:regular r:id="rId40"/>
    </p:embeddedFont>
    <p:embeddedFont>
      <p:font typeface="Times New Roman" charset="1" panose="02020603050405020304"/>
      <p:regular r:id="rId41"/>
    </p:embeddedFont>
    <p:embeddedFont>
      <p:font typeface="Century Gothic Paneuropean Bold" charset="1" panose="020B0702020202020204"/>
      <p:regular r:id="rId46"/>
    </p:embeddedFont>
    <p:embeddedFont>
      <p:font typeface="Arimo Bold" charset="1" panose="020B0704020202020204"/>
      <p:regular r:id="rId53"/>
    </p:embeddedFont>
    <p:embeddedFont>
      <p:font typeface="Arimo" charset="1" panose="020B0604020202020204"/>
      <p:regular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notesMasters/notesMaster1.xml" Type="http://schemas.openxmlformats.org/officeDocument/2006/relationships/notesMaster"/><Relationship Id="rId43" Target="theme/theme2.xml" Type="http://schemas.openxmlformats.org/officeDocument/2006/relationships/theme"/><Relationship Id="rId44" Target="notesSlides/notesSlide1.xml" Type="http://schemas.openxmlformats.org/officeDocument/2006/relationships/notesSlide"/><Relationship Id="rId45" Target="notesSlides/notesSlide2.xml" Type="http://schemas.openxmlformats.org/officeDocument/2006/relationships/notesSlide"/><Relationship Id="rId46" Target="fonts/font46.fntdata" Type="http://schemas.openxmlformats.org/officeDocument/2006/relationships/font"/><Relationship Id="rId47" Target="notesSlides/notesSlide3.xml" Type="http://schemas.openxmlformats.org/officeDocument/2006/relationships/notesSlide"/><Relationship Id="rId48" Target="notesSlides/notesSlide4.xml" Type="http://schemas.openxmlformats.org/officeDocument/2006/relationships/notesSlide"/><Relationship Id="rId49" Target="notesSlides/notesSlide5.xml" Type="http://schemas.openxmlformats.org/officeDocument/2006/relationships/notesSlide"/><Relationship Id="rId5" Target="tableStyles.xml" Type="http://schemas.openxmlformats.org/officeDocument/2006/relationships/tableStyles"/><Relationship Id="rId50" Target="notesSlides/notesSlide6.xml" Type="http://schemas.openxmlformats.org/officeDocument/2006/relationships/notesSlide"/><Relationship Id="rId51" Target="notesSlides/notesSlide7.xml" Type="http://schemas.openxmlformats.org/officeDocument/2006/relationships/notesSlide"/><Relationship Id="rId52" Target="notesSlides/notesSlide8.xml" Type="http://schemas.openxmlformats.org/officeDocument/2006/relationships/notesSlide"/><Relationship Id="rId53" Target="fonts/font53.fntdata" Type="http://schemas.openxmlformats.org/officeDocument/2006/relationships/font"/><Relationship Id="rId54" Target="fonts/font54.fntdata" Type="http://schemas.openxmlformats.org/officeDocument/2006/relationships/font"/><Relationship Id="rId55" Target="notesSlides/notesSlide9.xml" Type="http://schemas.openxmlformats.org/officeDocument/2006/relationships/notesSlide"/><Relationship Id="rId56" Target="notesSlides/notesSlide10.xml" Type="http://schemas.openxmlformats.org/officeDocument/2006/relationships/notesSlide"/><Relationship Id="rId57" Target="notesSlides/notesSlide11.xml" Type="http://schemas.openxmlformats.org/officeDocument/2006/relationships/notesSlide"/><Relationship Id="rId58" Target="notesSlides/notesSlide12.xml" Type="http://schemas.openxmlformats.org/officeDocument/2006/relationships/notesSlide"/><Relationship Id="rId59" Target="notesSlides/notesSlide13.xml" Type="http://schemas.openxmlformats.org/officeDocument/2006/relationships/notesSlide"/><Relationship Id="rId6" Target="slides/slide1.xml" Type="http://schemas.openxmlformats.org/officeDocument/2006/relationships/slide"/><Relationship Id="rId60" Target="notesSlides/notesSlide14.xml" Type="http://schemas.openxmlformats.org/officeDocument/2006/relationships/notesSlide"/><Relationship Id="rId61" Target="notesSlides/notesSlide15.xml" Type="http://schemas.openxmlformats.org/officeDocument/2006/relationships/notesSlide"/><Relationship Id="rId62" Target="notesSlides/notesSlide16.xml" Type="http://schemas.openxmlformats.org/officeDocument/2006/relationships/notesSlide"/><Relationship Id="rId63" Target="notesSlides/notesSlide17.xml" Type="http://schemas.openxmlformats.org/officeDocument/2006/relationships/notesSlide"/><Relationship Id="rId64" Target="notesSlides/notesSlide18.xml" Type="http://schemas.openxmlformats.org/officeDocument/2006/relationships/notesSlide"/><Relationship Id="rId65" Target="notesSlides/notesSlide19.xml" Type="http://schemas.openxmlformats.org/officeDocument/2006/relationships/notesSlide"/><Relationship Id="rId66" Target="notesSlides/notesSlide20.xml" Type="http://schemas.openxmlformats.org/officeDocument/2006/relationships/notesSlide"/><Relationship Id="rId67" Target="notesSlides/notesSlide21.xml" Type="http://schemas.openxmlformats.org/officeDocument/2006/relationships/notesSlide"/><Relationship Id="rId68" Target="notesSlides/notesSlide22.xml" Type="http://schemas.openxmlformats.org/officeDocument/2006/relationships/notesSlide"/><Relationship Id="rId69" Target="notesSlides/notesSlide23.xml" Type="http://schemas.openxmlformats.org/officeDocument/2006/relationships/notesSlide"/><Relationship Id="rId7" Target="slides/slide2.xml" Type="http://schemas.openxmlformats.org/officeDocument/2006/relationships/slide"/><Relationship Id="rId70" Target="notesSlides/notesSlide24.xml" Type="http://schemas.openxmlformats.org/officeDocument/2006/relationships/notesSlide"/><Relationship Id="rId71" Target="notesSlides/notesSlide25.xml" Type="http://schemas.openxmlformats.org/officeDocument/2006/relationships/note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糖尿病是一種慢性代謝性疾病，目前正影響著全球數百萬人。</a:t>
            </a:r>
          </a:p>
          <a:p>
            <a:r>
              <a:rPr lang="en-US"/>
              <a:t/>
            </a:r>
          </a:p>
          <a:p>
            <a:r>
              <a:rPr lang="en-US"/>
              <a:t>由世界衛生組織的報告中可以知道，近年來生活方式的改變以及肥胖率增加。 導致糖尿病越來越盛行。</a:t>
            </a:r>
          </a:p>
          <a:p>
            <a:r>
              <a:rPr lang="en-US"/>
              <a:t/>
            </a:r>
          </a:p>
          <a:p>
            <a:r>
              <a:rPr lang="en-US"/>
              <a:t>此外，糖尿病主要的併發症有以下三類，心血管疾病，腎臟病，以及神經病變。</a:t>
            </a:r>
          </a:p>
          <a:p>
            <a:r>
              <a:rPr lang="en-US"/>
              <a:t>如果能夠盡早發現糖尿病，可以有效預防這些併發症的發生。</a:t>
            </a:r>
          </a:p>
          <a:p>
            <a:r>
              <a:rPr lang="en-US"/>
              <a:t/>
            </a:r>
          </a:p>
          <a:p>
            <a:r>
              <a:rPr lang="en-US"/>
              <a:t/>
            </a:r>
          </a:p>
          <a:p>
            <a:r>
              <a:rPr lang="en-US"/>
              <a:t>Ref:</a:t>
            </a:r>
          </a:p>
          <a:p>
            <a:r>
              <a:rPr lang="en-US"/>
              <a:t>https://www.lipotype.com/lipidomics-applications/lipidomics-of-cardiovascular-diseases/</a:t>
            </a:r>
          </a:p>
          <a:p>
            <a:r>
              <a:rPr lang="en-US"/>
              <a:t>https://www.vascularcures.org/kidney-failure-and-vascular-disease</a:t>
            </a:r>
          </a:p>
          <a:p>
            <a:r>
              <a:rPr lang="en-US"/>
              <a:t>https://my.clevelandclinic.org/health/diseases/21621-diabetic-neuropathy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以下是我們的動機</a:t>
            </a:r>
          </a:p>
          <a:p>
            <a:r>
              <a:rPr lang="en-US"/>
              <a:t/>
            </a:r>
          </a:p>
          <a:p>
            <a:r>
              <a:rPr lang="en-US"/>
              <a:t>第一點是提早偵測與預防。</a:t>
            </a:r>
          </a:p>
          <a:p>
            <a:r>
              <a:rPr lang="en-US"/>
              <a:t>我們希望能夠在臨床症狀出現之前評估其風險並採取預防措施。</a:t>
            </a:r>
          </a:p>
          <a:p>
            <a:r>
              <a:rPr lang="en-US"/>
              <a:t/>
            </a:r>
          </a:p>
          <a:p>
            <a:r>
              <a:rPr lang="en-US"/>
              <a:t>第二點是降低醫療保健成本。</a:t>
            </a:r>
          </a:p>
          <a:p>
            <a:r>
              <a:rPr lang="en-US"/>
              <a:t>透過提供初步風險評估來減少對昂貴測試的需求。</a:t>
            </a:r>
          </a:p>
          <a:p>
            <a:r>
              <a:rPr lang="en-US"/>
              <a:t/>
            </a:r>
          </a:p>
          <a:p>
            <a:r>
              <a:rPr lang="en-US"/>
              <a:t>第三點醫生提供決策支援。</a:t>
            </a:r>
          </a:p>
          <a:p>
            <a:r>
              <a:rPr lang="en-US"/>
              <a:t>幫助醫療保健專業人員根據數據驅動的見解做出更明智的決策。</a:t>
            </a:r>
          </a:p>
          <a:p>
            <a:r>
              <a:rPr lang="en-US"/>
              <a:t/>
            </a:r>
          </a:p>
          <a:p>
            <a:r>
              <a:rPr lang="en-US"/>
              <a:t>Early detection and prevention: Enabling individuals to assess their risk and take preventive actions before clinical symptoms appear.</a:t>
            </a:r>
          </a:p>
          <a:p>
            <a:r>
              <a:rPr lang="en-US"/>
              <a:t>Cost reduction in healthcare: Reducing reliance on expensive tests by providing an initial risk assessment.</a:t>
            </a:r>
          </a:p>
          <a:p>
            <a:r>
              <a:rPr lang="en-US"/>
              <a:t>Decision support for doctors: Assisting healthcare professionals in making better-informed decisions based on data-driven insights.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我們的目標受眾是</a:t>
            </a:r>
          </a:p>
          <a:p>
            <a:r>
              <a:rPr lang="en-US"/>
              <a:t>醫生、潛在的病患、及醫療院所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Dataset issues:</a:t>
            </a:r>
          </a:p>
          <a:p>
            <a:r>
              <a:rPr lang="en-US"/>
              <a:t>我們已經有稍微確認過 dataset，裡面包含一些 missing value 以及 data imbalance 的問題。</a:t>
            </a:r>
          </a:p>
          <a:p>
            <a:r>
              <a:rPr lang="en-US"/>
              <a:t/>
            </a:r>
          </a:p>
          <a:p>
            <a:r>
              <a:rPr lang="en-US"/>
              <a:t>第二點是模型泛化</a:t>
            </a:r>
          </a:p>
          <a:p>
            <a:r>
              <a:rPr lang="en-US"/>
              <a:t>我們需要確保模型在未見過的資料上表現良好，並且不會 overfitting 這個資料集。</a:t>
            </a:r>
          </a:p>
          <a:p>
            <a:r>
              <a:rPr lang="en-US"/>
              <a:t/>
            </a:r>
          </a:p>
          <a:p>
            <a:r>
              <a:rPr lang="en-US"/>
              <a:t>第三點是 feature selection 與可解釋性。</a:t>
            </a:r>
          </a:p>
          <a:p>
            <a:r>
              <a:rPr lang="en-US"/>
              <a:t>我們需要確保模型不是黑盒子，能提供糖尿病的風險因素，及決策的依據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這是我們希望這像專案能夠擁有的主要貢獻。</a:t>
            </a:r>
          </a:p>
          <a:p>
            <a:r>
              <a:rPr lang="en-US"/>
              <a:t/>
            </a:r>
          </a:p>
          <a:p>
            <a:r>
              <a:rPr lang="en-US"/>
              <a:t>第一個是能夠準確預測糖尿病的 model</a:t>
            </a:r>
          </a:p>
          <a:p>
            <a:r>
              <a:rPr lang="en-US"/>
              <a:t/>
            </a:r>
          </a:p>
          <a:p>
            <a:r>
              <a:rPr lang="en-US"/>
              <a:t>第二個是提供糖尿病的風險因素</a:t>
            </a:r>
          </a:p>
          <a:p>
            <a:r>
              <a:rPr lang="en-US"/>
              <a:t/>
            </a:r>
          </a:p>
          <a:p>
            <a:r>
              <a:rPr lang="en-US"/>
              <a:t>第三個是希望能讓醫療院所擁有低成本的輔助診斷工具。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Early detection and prevention: Enabling individuals to assess their risk and take preventive actions before clinical symptoms appear.</a:t>
            </a:r>
          </a:p>
          <a:p>
            <a:r>
              <a:rPr lang="en-US"/>
              <a:t>Cost reduction in healthcare: Reducing reliance on expensive tests by providing an initial risk assessment.</a:t>
            </a:r>
          </a:p>
          <a:p>
            <a:r>
              <a:rPr lang="en-US"/>
              <a:t>Decision support for doctors: Assisting healthcare professionals in making better-informed decisions based on data-driven insights.</a:t>
            </a:r>
          </a:p>
          <a:p>
            <a:r>
              <a:rPr lang="en-US"/>
              <a:t/>
            </a:r>
          </a:p>
          <a:p>
            <a:r>
              <a:rPr lang="en-US"/>
              <a:t/>
            </a:r>
          </a:p>
          <a:p>
            <a:r>
              <a:rPr lang="en-US"/>
              <a:t>我們此次挑選的資料集是做糖尿病的預測</a:t>
            </a:r>
          </a:p>
          <a:p>
            <a:r>
              <a:rPr lang="en-US"/>
              <a:t>input會是病患資料，包含九個properties，後續會比較詳細的介紹</a:t>
            </a:r>
          </a:p>
          <a:p>
            <a:r>
              <a:rPr lang="en-US"/>
              <a:t>output會是預測該患者是否有糖尿病，以及若後續採用DL model，會有confidence score to support我們的模型預測結果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Accuracy</a:t>
            </a:r>
          </a:p>
          <a:p>
            <a:r>
              <a:rPr lang="en-US"/>
              <a:t>模型預測正確的比例</a:t>
            </a:r>
          </a:p>
          <a:p>
            <a:r>
              <a:rPr lang="en-US"/>
              <a:t/>
            </a:r>
          </a:p>
          <a:p>
            <a:r>
              <a:rPr lang="en-US"/>
              <a:t>Precision</a:t>
            </a:r>
          </a:p>
          <a:p>
            <a:r>
              <a:rPr lang="en-US"/>
              <a:t>模型預測為positive的樣本中有多少是true positive</a:t>
            </a:r>
          </a:p>
          <a:p>
            <a:r>
              <a:rPr lang="en-US"/>
              <a:t>模型預測有糖尿病的人，主要真的有糖尿病患者的有幾個</a:t>
            </a:r>
          </a:p>
          <a:p>
            <a:r>
              <a:rPr lang="en-US"/>
              <a:t/>
            </a:r>
          </a:p>
          <a:p>
            <a:r>
              <a:rPr lang="en-US"/>
              <a:t>Recall 召回率</a:t>
            </a:r>
          </a:p>
          <a:p>
            <a:r>
              <a:rPr lang="en-US"/>
              <a:t>找出病患的能力，也就是漏報程度，當 Recall 越高，漏報越少。</a:t>
            </a:r>
          </a:p>
          <a:p>
            <a:r>
              <a:rPr lang="en-US"/>
              <a:t/>
            </a:r>
          </a:p>
          <a:p>
            <a:r>
              <a:rPr lang="en-US"/>
              <a:t>F1-score 是綜合評估指標，由 Precision 與 Recall 計算而來。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我們觀察到大部分使用 PCA 的方式進行特徵篩選，可以相較於沒有使用的 work 能提升不少performance。</a:t>
            </a:r>
          </a:p>
          <a:p>
            <a:r>
              <a:rPr lang="en-US"/>
              <a:t>- 資料缺失的問題我們可能可以透過 MICE 的方式進行填補。</a:t>
            </a:r>
          </a:p>
          <a:p>
            <a:r>
              <a:rPr lang="en-US"/>
              <a:t>- 我們希望能公平的比較，並且盡量避免overfitting 的問題，所以不希望刪除太多 row 以及使用 SMOTEENN 的方法人工合成資料。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我們觀察到大部分使用 PCA 的方式進行特徵篩選，可以相較於沒有使用的 work 能提升不少performance。</a:t>
            </a:r>
          </a:p>
          <a:p>
            <a:r>
              <a:rPr lang="en-US"/>
              <a:t>- 資料缺失的問題我們可能可以透過 MICE 的方式進行填補。</a:t>
            </a:r>
          </a:p>
          <a:p>
            <a:r>
              <a:rPr lang="en-US"/>
              <a:t>- 我們希望能公平的比較，並且盡量避免overfitting 的問題，所以不希望刪除太多 row 以及使用 SMOTEENN 的方法人工合成資料。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我們觀察到大部分使用 PCA 的方式進行特徵篩選，可以相較於沒有使用的 work 能提升不少performance。</a:t>
            </a:r>
          </a:p>
          <a:p>
            <a:r>
              <a:rPr lang="en-US"/>
              <a:t>- 資料缺失的問題我們可能可以透過 MICE 的方式進行填補。</a:t>
            </a:r>
          </a:p>
          <a:p>
            <a:r>
              <a:rPr lang="en-US"/>
              <a:t>- 我們希望能公平的比較，並且盡量避免overfitting 的問題，所以不希望刪除太多 row 以及使用 SMOTEENN 的方法人工合成資料。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我們觀察到大部分使用 PCA 的方式進行特徵篩選，可以相較於沒有使用的 work 能提升不少performance。</a:t>
            </a:r>
          </a:p>
          <a:p>
            <a:r>
              <a:rPr lang="en-US"/>
              <a:t>- 資料缺失的問題我們可能可以透過 MICE 的方式進行填補。</a:t>
            </a:r>
          </a:p>
          <a:p>
            <a:r>
              <a:rPr lang="en-US"/>
              <a:t>- 我們希望能公平的比較，並且盡量避免overfitting 的問題，所以不希望刪除太多 row 以及使用 SMOTEENN 的方法人工合成資料。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我們觀察到大部分使用 PCA 的方式進行特徵篩選，可以相較於沒有使用的 work 能提升不少performance。</a:t>
            </a:r>
          </a:p>
          <a:p>
            <a:r>
              <a:rPr lang="en-US"/>
              <a:t>- 資料缺失的問題我們可能可以透過 MICE 的方式進行填補。</a:t>
            </a:r>
          </a:p>
          <a:p>
            <a:r>
              <a:rPr lang="en-US"/>
              <a:t>- 我們希望能公平的比較，並且盡量避免overfitting 的問題，所以不希望刪除太多 row 以及使用 SMOTEENN 的方法人工合成資料。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我們觀察到大部分使用 PCA 的方式進行特徵篩選，可以相較於沒有使用的 work 能提升不少performance。</a:t>
            </a:r>
          </a:p>
          <a:p>
            <a:r>
              <a:rPr lang="en-US"/>
              <a:t>- 資料缺失的問題我們可能可以透過 MICE 的方式進行填補。</a:t>
            </a:r>
          </a:p>
          <a:p>
            <a:r>
              <a:rPr lang="en-US"/>
              <a:t>- 我們希望能公平的比較，並且盡量避免overfitting 的問題，所以不希望刪除太多 row 以及使用 SMOTEENN 的方法人工合成資料。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Accuracy</a:t>
            </a:r>
          </a:p>
          <a:p>
            <a:r>
              <a:rPr lang="en-US"/>
              <a:t>模型預測正確的比例</a:t>
            </a:r>
          </a:p>
          <a:p>
            <a:r>
              <a:rPr lang="en-US"/>
              <a:t/>
            </a:r>
          </a:p>
          <a:p>
            <a:r>
              <a:rPr lang="en-US"/>
              <a:t>Precision</a:t>
            </a:r>
          </a:p>
          <a:p>
            <a:r>
              <a:rPr lang="en-US"/>
              <a:t>模型預測為positive的樣本中有多少是true positive</a:t>
            </a:r>
          </a:p>
          <a:p>
            <a:r>
              <a:rPr lang="en-US"/>
              <a:t>模型預測有糖尿病的人，主要真的有糖尿病患者的有幾個</a:t>
            </a:r>
          </a:p>
          <a:p>
            <a:r>
              <a:rPr lang="en-US"/>
              <a:t/>
            </a:r>
          </a:p>
          <a:p>
            <a:r>
              <a:rPr lang="en-US"/>
              <a:t>Recall 召回率</a:t>
            </a:r>
          </a:p>
          <a:p>
            <a:r>
              <a:rPr lang="en-US"/>
              <a:t>找出病患的能力，也就是漏報程度，當 Recall 越高，漏報越少。</a:t>
            </a:r>
          </a:p>
          <a:p>
            <a:r>
              <a:rPr lang="en-US"/>
              <a:t/>
            </a:r>
          </a:p>
          <a:p>
            <a:r>
              <a:rPr lang="en-US"/>
              <a:t>F1-score 是綜合評估指標，由 Precision 與 Recall 計算而來。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我們觀察到大部分使用 PCA 的方式進行特徵篩選，可以相較於沒有使用的 work 能提升不少performance。</a:t>
            </a:r>
          </a:p>
          <a:p>
            <a:r>
              <a:rPr lang="en-US"/>
              <a:t>- 資料缺失的問題我們可能可以透過 MICE 的方式進行填補。</a:t>
            </a:r>
          </a:p>
          <a:p>
            <a:r>
              <a:rPr lang="en-US"/>
              <a:t>- 我們希望能公平的比較，並且盡量避免overfitting 的問題，所以不希望刪除太多 row 以及使用 SMOTEENN 的方法人工合成資料。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我們的資料集是利用美國皮馬族印地安人糖尿病的資料庫作為分析對象</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這是我們希望這像專案能夠擁有的主要貢獻。</a:t>
            </a:r>
          </a:p>
          <a:p>
            <a:r>
              <a:rPr lang="en-US"/>
              <a:t/>
            </a:r>
          </a:p>
          <a:p>
            <a:r>
              <a:rPr lang="en-US"/>
              <a:t>第一個是能夠準確預測糖尿病的 model</a:t>
            </a:r>
          </a:p>
          <a:p>
            <a:r>
              <a:rPr lang="en-US"/>
              <a:t/>
            </a:r>
          </a:p>
          <a:p>
            <a:r>
              <a:rPr lang="en-US"/>
              <a:t>第二個是提供糖尿病的風險因素</a:t>
            </a:r>
          </a:p>
          <a:p>
            <a:r>
              <a:rPr lang="en-US"/>
              <a:t/>
            </a:r>
          </a:p>
          <a:p>
            <a:r>
              <a:rPr lang="en-US"/>
              <a:t>第三個是希望能讓醫療院所擁有低成本的輔助診斷工具。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這是我們希望這像專案能夠擁有的主要貢獻。</a:t>
            </a:r>
          </a:p>
          <a:p>
            <a:r>
              <a:rPr lang="en-US"/>
              <a:t/>
            </a:r>
          </a:p>
          <a:p>
            <a:r>
              <a:rPr lang="en-US"/>
              <a:t>第一個是能夠準確預測糖尿病的 model</a:t>
            </a:r>
          </a:p>
          <a:p>
            <a:r>
              <a:rPr lang="en-US"/>
              <a:t/>
            </a:r>
          </a:p>
          <a:p>
            <a:r>
              <a:rPr lang="en-US"/>
              <a:t>第二個是提供糖尿病的風險因素</a:t>
            </a:r>
          </a:p>
          <a:p>
            <a:r>
              <a:rPr lang="en-US"/>
              <a:t/>
            </a:r>
          </a:p>
          <a:p>
            <a:r>
              <a:rPr lang="en-US"/>
              <a:t>第三個是希望能讓醫療院所擁有低成本的輔助診斷工具。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以下是我們的動機</a:t>
            </a:r>
          </a:p>
          <a:p>
            <a:r>
              <a:rPr lang="en-US"/>
              <a:t/>
            </a:r>
          </a:p>
          <a:p>
            <a:r>
              <a:rPr lang="en-US"/>
              <a:t>第一點是提早偵測與預防。</a:t>
            </a:r>
          </a:p>
          <a:p>
            <a:r>
              <a:rPr lang="en-US"/>
              <a:t>我們希望能夠在臨床症狀出現之前評估其風險並採取預防措施。</a:t>
            </a:r>
          </a:p>
          <a:p>
            <a:r>
              <a:rPr lang="en-US"/>
              <a:t/>
            </a:r>
          </a:p>
          <a:p>
            <a:r>
              <a:rPr lang="en-US"/>
              <a:t>第二點是降低醫療保健成本。</a:t>
            </a:r>
          </a:p>
          <a:p>
            <a:r>
              <a:rPr lang="en-US"/>
              <a:t>透過提供初步風險評估來減少對昂貴測試的需求。</a:t>
            </a:r>
          </a:p>
          <a:p>
            <a:r>
              <a:rPr lang="en-US"/>
              <a:t/>
            </a:r>
          </a:p>
          <a:p>
            <a:r>
              <a:rPr lang="en-US"/>
              <a:t>第三點醫生提供決策支援。</a:t>
            </a:r>
          </a:p>
          <a:p>
            <a:r>
              <a:rPr lang="en-US"/>
              <a:t>幫助醫療保健專業人員根據數據驅動的見解做出更明智的決策。</a:t>
            </a:r>
          </a:p>
          <a:p>
            <a:r>
              <a:rPr lang="en-US"/>
              <a:t/>
            </a:r>
          </a:p>
          <a:p>
            <a:r>
              <a:rPr lang="en-US"/>
              <a:t>Early detection and prevention: Enabling individuals to assess their risk and take preventive actions before clinical symptoms appear.</a:t>
            </a:r>
          </a:p>
          <a:p>
            <a:r>
              <a:rPr lang="en-US"/>
              <a:t>Cost reduction in healthcare: Reducing reliance on expensive tests by providing an initial risk assessment.</a:t>
            </a:r>
          </a:p>
          <a:p>
            <a:r>
              <a:rPr lang="en-US"/>
              <a:t>Decision support for doctors: Assisting healthcare professionals in making better-informed decisions based on data-driven insights.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這是我們希望這像專案能夠擁有的主要貢獻。</a:t>
            </a:r>
          </a:p>
          <a:p>
            <a:r>
              <a:rPr lang="en-US"/>
              <a:t/>
            </a:r>
          </a:p>
          <a:p>
            <a:r>
              <a:rPr lang="en-US"/>
              <a:t>第一個是能夠準確預測糖尿病的 model</a:t>
            </a:r>
          </a:p>
          <a:p>
            <a:r>
              <a:rPr lang="en-US"/>
              <a:t/>
            </a:r>
          </a:p>
          <a:p>
            <a:r>
              <a:rPr lang="en-US"/>
              <a:t>第二個是提供糖尿病的風險因素</a:t>
            </a:r>
          </a:p>
          <a:p>
            <a:r>
              <a:rPr lang="en-US"/>
              <a:t/>
            </a:r>
          </a:p>
          <a:p>
            <a:r>
              <a:rPr lang="en-US"/>
              <a:t>第三個是希望能讓醫療院所擁有低成本的輔助診斷工具。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這是我們希望這像專案能夠擁有的主要貢獻。</a:t>
            </a:r>
          </a:p>
          <a:p>
            <a:r>
              <a:rPr lang="en-US"/>
              <a:t/>
            </a:r>
          </a:p>
          <a:p>
            <a:r>
              <a:rPr lang="en-US"/>
              <a:t>第一個是能夠準確預測糖尿病的 model</a:t>
            </a:r>
          </a:p>
          <a:p>
            <a:r>
              <a:rPr lang="en-US"/>
              <a:t/>
            </a:r>
          </a:p>
          <a:p>
            <a:r>
              <a:rPr lang="en-US"/>
              <a:t>第二個是提供糖尿病的風險因素</a:t>
            </a:r>
          </a:p>
          <a:p>
            <a:r>
              <a:rPr lang="en-US"/>
              <a:t/>
            </a:r>
          </a:p>
          <a:p>
            <a:r>
              <a:rPr lang="en-US"/>
              <a:t>第三個是希望能讓醫療院所擁有低成本的輔助診斷工具。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這是我們希望這像專案能夠擁有的主要貢獻。</a:t>
            </a:r>
          </a:p>
          <a:p>
            <a:r>
              <a:rPr lang="en-US"/>
              <a:t/>
            </a:r>
          </a:p>
          <a:p>
            <a:r>
              <a:rPr lang="en-US"/>
              <a:t>第一個是能夠準確預測糖尿病的 model</a:t>
            </a:r>
          </a:p>
          <a:p>
            <a:r>
              <a:rPr lang="en-US"/>
              <a:t/>
            </a:r>
          </a:p>
          <a:p>
            <a:r>
              <a:rPr lang="en-US"/>
              <a:t>第二個是提供糖尿病的風險因素</a:t>
            </a:r>
          </a:p>
          <a:p>
            <a:r>
              <a:rPr lang="en-US"/>
              <a:t/>
            </a:r>
          </a:p>
          <a:p>
            <a:r>
              <a:rPr lang="en-US"/>
              <a:t>第三個是希望能讓醫療院所擁有低成本的輔助診斷工具。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這是我們希望這像專案能夠擁有的主要貢獻。</a:t>
            </a:r>
          </a:p>
          <a:p>
            <a:r>
              <a:rPr lang="en-US"/>
              <a:t/>
            </a:r>
          </a:p>
          <a:p>
            <a:r>
              <a:rPr lang="en-US"/>
              <a:t>第一個是能夠準確預測糖尿病的 model</a:t>
            </a:r>
          </a:p>
          <a:p>
            <a:r>
              <a:rPr lang="en-US"/>
              <a:t/>
            </a:r>
          </a:p>
          <a:p>
            <a:r>
              <a:rPr lang="en-US"/>
              <a:t>第二個是提供糖尿病的風險因素</a:t>
            </a:r>
          </a:p>
          <a:p>
            <a:r>
              <a:rPr lang="en-US"/>
              <a:t/>
            </a:r>
          </a:p>
          <a:p>
            <a:r>
              <a:rPr lang="en-US"/>
              <a:t>第三個是希望能讓醫療院所擁有低成本的輔助診斷工具。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這是我們希望這像專案能夠擁有的主要貢獻。</a:t>
            </a:r>
          </a:p>
          <a:p>
            <a:r>
              <a:rPr lang="en-US"/>
              <a:t/>
            </a:r>
          </a:p>
          <a:p>
            <a:r>
              <a:rPr lang="en-US"/>
              <a:t>第一個是能夠準確預測糖尿病的 model</a:t>
            </a:r>
          </a:p>
          <a:p>
            <a:r>
              <a:rPr lang="en-US"/>
              <a:t/>
            </a:r>
          </a:p>
          <a:p>
            <a:r>
              <a:rPr lang="en-US"/>
              <a:t>第二個是提供糖尿病的風險因素</a:t>
            </a:r>
          </a:p>
          <a:p>
            <a:r>
              <a:rPr lang="en-US"/>
              <a:t/>
            </a:r>
          </a:p>
          <a:p>
            <a:r>
              <a:rPr lang="en-US"/>
              <a:t>第三個是希望能讓醫療院所擁有低成本的輔助診斷工具。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 Id="rId8" Target="https://visualsonline.cancer.gov/details.cfm?imageid=9803&amp;utm_source=chatgpt.com" TargetMode="External" Type="http://schemas.openxmlformats.org/officeDocument/2006/relationships/hyperlink"/><Relationship Id="rId9" Target="https://www.kaggle.com/competitions/histopathologic-cancer-detection"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notesSlides/notesSlide2.xml" Type="http://schemas.openxmlformats.org/officeDocument/2006/relationships/notesSlide"/><Relationship Id="rId3" Target="../media/image14.png" Type="http://schemas.openxmlformats.org/officeDocument/2006/relationships/image"/><Relationship Id="rId4" Target="../media/image15.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 Id="rId8"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svg" Type="http://schemas.openxmlformats.org/officeDocument/2006/relationships/image"/><Relationship Id="rId2" Target="../notesSlides/notesSlide5.xml" Type="http://schemas.openxmlformats.org/officeDocument/2006/relationships/notesSlid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jpe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6.png" Type="http://schemas.openxmlformats.org/officeDocument/2006/relationships/image"/><Relationship Id="rId4" Target="../media/image5.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5.png" Type="http://schemas.openxmlformats.org/officeDocument/2006/relationships/image"/><Relationship Id="rId4" Target="../media/image36.png" Type="http://schemas.openxmlformats.org/officeDocument/2006/relationships/image"/><Relationship Id="rId5" Target="../media/image37.jpe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svg" Type="http://schemas.openxmlformats.org/officeDocument/2006/relationships/image"/><Relationship Id="rId11" Target="../media/image50.png" Type="http://schemas.openxmlformats.org/officeDocument/2006/relationships/image"/><Relationship Id="rId12" Target="../media/image51.png" Type="http://schemas.openxmlformats.org/officeDocument/2006/relationships/image"/><Relationship Id="rId13" Target="../media/image3.png" Type="http://schemas.openxmlformats.org/officeDocument/2006/relationships/image"/><Relationship Id="rId14" Target="../media/image4.svg" Type="http://schemas.openxmlformats.org/officeDocument/2006/relationships/image"/><Relationship Id="rId15" Target="../media/image52.png" Type="http://schemas.openxmlformats.org/officeDocument/2006/relationships/image"/><Relationship Id="rId16" Target="../media/image53.png" Type="http://schemas.openxmlformats.org/officeDocument/2006/relationships/image"/><Relationship Id="rId2" Target="../notesSlides/notesSlide7.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4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6.png" Type="http://schemas.openxmlformats.org/officeDocument/2006/relationships/image"/><Relationship Id="rId4" Target="../media/image5.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svg" Type="http://schemas.openxmlformats.org/officeDocument/2006/relationships/image"/><Relationship Id="rId2" Target="../notesSlides/notesSlide8.xml" Type="http://schemas.openxmlformats.org/officeDocument/2006/relationships/notesSlide"/><Relationship Id="rId3" Target="../media/image54.pn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58.png" Type="http://schemas.openxmlformats.org/officeDocument/2006/relationships/image"/><Relationship Id="rId8" Target="../media/image59.svg" Type="http://schemas.openxmlformats.org/officeDocument/2006/relationships/image"/><Relationship Id="rId9" Target="../media/image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png" Type="http://schemas.openxmlformats.org/officeDocument/2006/relationships/image"/><Relationship Id="rId4" Target="../media/image38.svg" Type="http://schemas.openxmlformats.org/officeDocument/2006/relationships/image"/><Relationship Id="rId5" Target="../media/image60.png" Type="http://schemas.openxmlformats.org/officeDocument/2006/relationships/image"/><Relationship Id="rId6" Target="../media/image61.png" Type="http://schemas.openxmlformats.org/officeDocument/2006/relationships/image"/><Relationship Id="rId7" Target="../media/image6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svg" Type="http://schemas.openxmlformats.org/officeDocument/2006/relationships/image"/><Relationship Id="rId2" Target="../notesSlides/notesSlide10.xml" Type="http://schemas.openxmlformats.org/officeDocument/2006/relationships/notesSlide"/><Relationship Id="rId3" Target="../media/image3.png" Type="http://schemas.openxmlformats.org/officeDocument/2006/relationships/image"/><Relationship Id="rId4" Target="../media/image38.svg" Type="http://schemas.openxmlformats.org/officeDocument/2006/relationships/image"/><Relationship Id="rId5" Target="../media/image63.png" Type="http://schemas.openxmlformats.org/officeDocument/2006/relationships/image"/><Relationship Id="rId6" Target="../media/image64.png" Type="http://schemas.openxmlformats.org/officeDocument/2006/relationships/image"/><Relationship Id="rId7" Target="../media/image62.png" Type="http://schemas.openxmlformats.org/officeDocument/2006/relationships/image"/><Relationship Id="rId8" Target="../media/image65.png" Type="http://schemas.openxmlformats.org/officeDocument/2006/relationships/image"/><Relationship Id="rId9" Target="../media/image5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png" Type="http://schemas.openxmlformats.org/officeDocument/2006/relationships/image"/><Relationship Id="rId4" Target="../media/image3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png" Type="http://schemas.openxmlformats.org/officeDocument/2006/relationships/image"/><Relationship Id="rId4" Target="../media/image3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3.png" Type="http://schemas.openxmlformats.org/officeDocument/2006/relationships/image"/><Relationship Id="rId4" Target="../media/image38.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svg" Type="http://schemas.openxmlformats.org/officeDocument/2006/relationships/image"/><Relationship Id="rId11" Target="../media/image50.png" Type="http://schemas.openxmlformats.org/officeDocument/2006/relationships/image"/><Relationship Id="rId12" Target="../media/image51.png" Type="http://schemas.openxmlformats.org/officeDocument/2006/relationships/image"/><Relationship Id="rId13" Target="../media/image3.png" Type="http://schemas.openxmlformats.org/officeDocument/2006/relationships/image"/><Relationship Id="rId14" Target="../media/image4.svg" Type="http://schemas.openxmlformats.org/officeDocument/2006/relationships/image"/><Relationship Id="rId15" Target="../media/image52.png" Type="http://schemas.openxmlformats.org/officeDocument/2006/relationships/image"/><Relationship Id="rId16" Target="../media/image53.png" Type="http://schemas.openxmlformats.org/officeDocument/2006/relationships/image"/><Relationship Id="rId2" Target="../notesSlides/notesSlide14.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4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3.png" Type="http://schemas.openxmlformats.org/officeDocument/2006/relationships/image"/><Relationship Id="rId4" Target="../media/image38.svg" Type="http://schemas.openxmlformats.org/officeDocument/2006/relationships/image"/><Relationship Id="rId5" Target="../media/image66.png" Type="http://schemas.openxmlformats.org/officeDocument/2006/relationships/image"/><Relationship Id="rId6" Target="../media/image67.png" Type="http://schemas.openxmlformats.org/officeDocument/2006/relationships/image"/><Relationship Id="rId7" Target="../media/image56.png" Type="http://schemas.openxmlformats.org/officeDocument/2006/relationships/image"/><Relationship Id="rId8" Target="../media/image57.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https://www.kaggle.com/competitions/histopathologic-cancer-detection" TargetMode="External" Type="http://schemas.openxmlformats.org/officeDocument/2006/relationships/hyperlink"/><Relationship Id="rId4" Target="../media/image3.png" Type="http://schemas.openxmlformats.org/officeDocument/2006/relationships/image"/><Relationship Id="rId5" Target="../media/image4.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3.png" Type="http://schemas.openxmlformats.org/officeDocument/2006/relationships/image"/><Relationship Id="rId11" Target="../media/image74.svg" Type="http://schemas.openxmlformats.org/officeDocument/2006/relationships/image"/><Relationship Id="rId12" Target="../media/image75.png" Type="http://schemas.openxmlformats.org/officeDocument/2006/relationships/image"/><Relationship Id="rId13" Target="../media/image76.svg" Type="http://schemas.openxmlformats.org/officeDocument/2006/relationships/image"/><Relationship Id="rId2" Target="../notesSlides/notesSlide17.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68.png" Type="http://schemas.openxmlformats.org/officeDocument/2006/relationships/image"/><Relationship Id="rId6" Target="../media/image69.png" Type="http://schemas.openxmlformats.org/officeDocument/2006/relationships/image"/><Relationship Id="rId7" Target="../media/image70.svg" Type="http://schemas.openxmlformats.org/officeDocument/2006/relationships/image"/><Relationship Id="rId8" Target="../media/image71.png" Type="http://schemas.openxmlformats.org/officeDocument/2006/relationships/image"/><Relationship Id="rId9" Target="../media/image7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1.png" Type="http://schemas.openxmlformats.org/officeDocument/2006/relationships/image"/><Relationship Id="rId11" Target="../media/image82.svg" Type="http://schemas.openxmlformats.org/officeDocument/2006/relationships/image"/><Relationship Id="rId12" Target="../media/image83.png" Type="http://schemas.openxmlformats.org/officeDocument/2006/relationships/image"/><Relationship Id="rId13" Target="../media/image84.svg" Type="http://schemas.openxmlformats.org/officeDocument/2006/relationships/image"/><Relationship Id="rId2" Target="../notesSlides/notesSlide19.xml" Type="http://schemas.openxmlformats.org/officeDocument/2006/relationships/notesSlide"/><Relationship Id="rId3" Target="../media/image1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7.png" Type="http://schemas.openxmlformats.org/officeDocument/2006/relationships/image"/><Relationship Id="rId7" Target="../media/image78.svg" Type="http://schemas.openxmlformats.org/officeDocument/2006/relationships/image"/><Relationship Id="rId8" Target="../media/image79.png" Type="http://schemas.openxmlformats.org/officeDocument/2006/relationships/image"/><Relationship Id="rId9" Target="../media/image80.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notesSlides/notesSlide21.xml" Type="http://schemas.openxmlformats.org/officeDocument/2006/relationships/notesSlide"/><Relationship Id="rId3" Target="../media/image8.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5.pn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 Id="rId9" Target="../media/image9.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85.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85.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86.png" Type="http://schemas.openxmlformats.org/officeDocument/2006/relationships/image"/><Relationship Id="rId6" Target="../media/image87.svg" Type="http://schemas.openxmlformats.org/officeDocument/2006/relationships/image"/><Relationship Id="rId7" Target="../media/image88.png" Type="http://schemas.openxmlformats.org/officeDocument/2006/relationships/image"/><Relationship Id="rId8" Target="../media/image89.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86.png" Type="http://schemas.openxmlformats.org/officeDocument/2006/relationships/image"/><Relationship Id="rId6" Target="../media/image87.svg" Type="http://schemas.openxmlformats.org/officeDocument/2006/relationships/image"/><Relationship Id="rId7" Target="../media/image88.png" Type="http://schemas.openxmlformats.org/officeDocument/2006/relationships/image"/><Relationship Id="rId8" Target="../media/image89.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605871" y="4431659"/>
            <a:ext cx="17076257" cy="1423683"/>
            <a:chOff x="0" y="0"/>
            <a:chExt cx="22768343" cy="1898244"/>
          </a:xfrm>
        </p:grpSpPr>
        <p:sp>
          <p:nvSpPr>
            <p:cNvPr name="Freeform 3" id="3"/>
            <p:cNvSpPr/>
            <p:nvPr/>
          </p:nvSpPr>
          <p:spPr>
            <a:xfrm flipH="false" flipV="false" rot="0">
              <a:off x="0" y="0"/>
              <a:ext cx="22768344" cy="1898244"/>
            </a:xfrm>
            <a:custGeom>
              <a:avLst/>
              <a:gdLst/>
              <a:ahLst/>
              <a:cxnLst/>
              <a:rect r="r" b="b" t="t" l="l"/>
              <a:pathLst>
                <a:path h="1898244" w="22768344">
                  <a:moveTo>
                    <a:pt x="0" y="0"/>
                  </a:moveTo>
                  <a:lnTo>
                    <a:pt x="22768344" y="0"/>
                  </a:lnTo>
                  <a:lnTo>
                    <a:pt x="22768344" y="1898244"/>
                  </a:lnTo>
                  <a:lnTo>
                    <a:pt x="0" y="1898244"/>
                  </a:lnTo>
                  <a:close/>
                </a:path>
              </a:pathLst>
            </a:custGeom>
            <a:solidFill>
              <a:srgbClr val="000000">
                <a:alpha val="0"/>
              </a:srgbClr>
            </a:solidFill>
          </p:spPr>
        </p:sp>
        <p:sp>
          <p:nvSpPr>
            <p:cNvPr name="TextBox 4" id="4"/>
            <p:cNvSpPr txBox="true"/>
            <p:nvPr/>
          </p:nvSpPr>
          <p:spPr>
            <a:xfrm>
              <a:off x="0" y="9525"/>
              <a:ext cx="22768343" cy="1888719"/>
            </a:xfrm>
            <a:prstGeom prst="rect">
              <a:avLst/>
            </a:prstGeom>
          </p:spPr>
          <p:txBody>
            <a:bodyPr anchor="t" rtlCol="false" tIns="0" lIns="0" bIns="0" rIns="0"/>
            <a:lstStyle/>
            <a:p>
              <a:pPr algn="ctr">
                <a:lnSpc>
                  <a:spcPts val="8280"/>
                </a:lnSpc>
              </a:pPr>
              <a:r>
                <a:rPr lang="en-US" sz="6900">
                  <a:solidFill>
                    <a:srgbClr val="FFFFFF"/>
                  </a:solidFill>
                  <a:latin typeface="Century Gothic Paneuropean"/>
                  <a:ea typeface="Century Gothic Paneuropean"/>
                  <a:cs typeface="Century Gothic Paneuropean"/>
                  <a:sym typeface="Century Gothic Paneuropean"/>
                </a:rPr>
                <a:t>轉移性癌組織模型預測</a:t>
              </a:r>
            </a:p>
          </p:txBody>
        </p:sp>
      </p:grpSp>
      <p:grpSp>
        <p:nvGrpSpPr>
          <p:cNvPr name="Group 5" id="5"/>
          <p:cNvGrpSpPr/>
          <p:nvPr/>
        </p:nvGrpSpPr>
        <p:grpSpPr>
          <a:xfrm rot="0">
            <a:off x="9509785" y="7880748"/>
            <a:ext cx="7749515" cy="1077849"/>
            <a:chOff x="0" y="0"/>
            <a:chExt cx="10332686" cy="1437132"/>
          </a:xfrm>
        </p:grpSpPr>
        <p:sp>
          <p:nvSpPr>
            <p:cNvPr name="Freeform 6" id="6"/>
            <p:cNvSpPr/>
            <p:nvPr/>
          </p:nvSpPr>
          <p:spPr>
            <a:xfrm flipH="false" flipV="false" rot="0">
              <a:off x="0" y="0"/>
              <a:ext cx="10332686" cy="1437132"/>
            </a:xfrm>
            <a:custGeom>
              <a:avLst/>
              <a:gdLst/>
              <a:ahLst/>
              <a:cxnLst/>
              <a:rect r="r" b="b" t="t" l="l"/>
              <a:pathLst>
                <a:path h="1437132" w="10332686">
                  <a:moveTo>
                    <a:pt x="0" y="0"/>
                  </a:moveTo>
                  <a:lnTo>
                    <a:pt x="10332686" y="0"/>
                  </a:lnTo>
                  <a:lnTo>
                    <a:pt x="10332686" y="1437132"/>
                  </a:lnTo>
                  <a:lnTo>
                    <a:pt x="0" y="1437132"/>
                  </a:lnTo>
                  <a:close/>
                </a:path>
              </a:pathLst>
            </a:custGeom>
            <a:solidFill>
              <a:srgbClr val="000000">
                <a:alpha val="0"/>
              </a:srgbClr>
            </a:solidFill>
          </p:spPr>
        </p:sp>
        <p:sp>
          <p:nvSpPr>
            <p:cNvPr name="TextBox 7" id="7"/>
            <p:cNvSpPr txBox="true"/>
            <p:nvPr/>
          </p:nvSpPr>
          <p:spPr>
            <a:xfrm>
              <a:off x="0" y="0"/>
              <a:ext cx="10332686" cy="1437132"/>
            </a:xfrm>
            <a:prstGeom prst="rect">
              <a:avLst/>
            </a:prstGeom>
          </p:spPr>
          <p:txBody>
            <a:bodyPr anchor="t" rtlCol="false" tIns="0" lIns="0" bIns="0" rIns="0"/>
            <a:lstStyle/>
            <a:p>
              <a:pPr algn="l">
                <a:lnSpc>
                  <a:spcPts val="3600"/>
                </a:lnSpc>
              </a:pPr>
              <a:r>
                <a:rPr lang="en-US" sz="3000">
                  <a:solidFill>
                    <a:srgbClr val="FFFFFF"/>
                  </a:solidFill>
                  <a:latin typeface="Century Gothic Paneuropean"/>
                  <a:ea typeface="Century Gothic Paneuropean"/>
                  <a:cs typeface="Century Gothic Paneuropean"/>
                  <a:sym typeface="Century Gothic Paneuropean"/>
                </a:rPr>
                <a:t>Team members: </a:t>
              </a:r>
            </a:p>
            <a:p>
              <a:pPr algn="l">
                <a:lnSpc>
                  <a:spcPts val="3600"/>
                </a:lnSpc>
              </a:pPr>
              <a:r>
                <a:rPr lang="en-US" sz="3000">
                  <a:solidFill>
                    <a:srgbClr val="FFFFFF"/>
                  </a:solidFill>
                  <a:latin typeface="Century Gothic Paneuropean"/>
                  <a:ea typeface="Century Gothic Paneuropean"/>
                  <a:cs typeface="Century Gothic Paneuropean"/>
                  <a:sym typeface="Century Gothic Paneuropean"/>
                </a:rPr>
                <a:t>313554033許晴鈞、313554060 林呈軒</a:t>
              </a:r>
            </a:p>
          </p:txBody>
        </p:sp>
      </p:grpSp>
      <p:sp>
        <p:nvSpPr>
          <p:cNvPr name="Freeform 8" id="8"/>
          <p:cNvSpPr/>
          <p:nvPr/>
        </p:nvSpPr>
        <p:spPr>
          <a:xfrm flipH="false" flipV="false" rot="0">
            <a:off x="-88491" y="6331744"/>
            <a:ext cx="8219043" cy="3977378"/>
          </a:xfrm>
          <a:custGeom>
            <a:avLst/>
            <a:gdLst/>
            <a:ahLst/>
            <a:cxnLst/>
            <a:rect r="r" b="b" t="t" l="l"/>
            <a:pathLst>
              <a:path h="3977378" w="8219043">
                <a:moveTo>
                  <a:pt x="0" y="0"/>
                </a:moveTo>
                <a:lnTo>
                  <a:pt x="8219043" y="0"/>
                </a:lnTo>
                <a:lnTo>
                  <a:pt x="8219043" y="3977378"/>
                </a:lnTo>
                <a:lnTo>
                  <a:pt x="0" y="3977378"/>
                </a:lnTo>
                <a:lnTo>
                  <a:pt x="0" y="0"/>
                </a:lnTo>
                <a:close/>
              </a:path>
            </a:pathLst>
          </a:custGeom>
          <a:blipFill>
            <a:blip r:embed="rId2"/>
            <a:stretch>
              <a:fillRect l="-34627" t="0" r="-1" b="-117504"/>
            </a:stretch>
          </a:blipFill>
        </p:spPr>
      </p:sp>
      <p:sp>
        <p:nvSpPr>
          <p:cNvPr name="Freeform 9" id="9"/>
          <p:cNvSpPr/>
          <p:nvPr/>
        </p:nvSpPr>
        <p:spPr>
          <a:xfrm flipH="false" flipV="false" rot="0">
            <a:off x="11467362" y="-44247"/>
            <a:ext cx="6894379" cy="3721198"/>
          </a:xfrm>
          <a:custGeom>
            <a:avLst/>
            <a:gdLst/>
            <a:ahLst/>
            <a:cxnLst/>
            <a:rect r="r" b="b" t="t" l="l"/>
            <a:pathLst>
              <a:path h="3721198" w="6894379">
                <a:moveTo>
                  <a:pt x="0" y="0"/>
                </a:moveTo>
                <a:lnTo>
                  <a:pt x="6894379" y="0"/>
                </a:lnTo>
                <a:lnTo>
                  <a:pt x="6894379" y="3721199"/>
                </a:lnTo>
                <a:lnTo>
                  <a:pt x="0" y="3721199"/>
                </a:lnTo>
                <a:lnTo>
                  <a:pt x="0" y="0"/>
                </a:lnTo>
                <a:close/>
              </a:path>
            </a:pathLst>
          </a:custGeom>
          <a:blipFill>
            <a:blip r:embed="rId3"/>
            <a:stretch>
              <a:fillRect l="0" t="-139114" r="-48160" b="0"/>
            </a:stretch>
          </a:blipFill>
        </p:spPr>
      </p:sp>
      <p:grpSp>
        <p:nvGrpSpPr>
          <p:cNvPr name="Group 10" id="10"/>
          <p:cNvGrpSpPr/>
          <p:nvPr/>
        </p:nvGrpSpPr>
        <p:grpSpPr>
          <a:xfrm rot="0">
            <a:off x="9509785" y="7260099"/>
            <a:ext cx="5161811" cy="620649"/>
            <a:chOff x="0" y="0"/>
            <a:chExt cx="6882415" cy="827532"/>
          </a:xfrm>
        </p:grpSpPr>
        <p:sp>
          <p:nvSpPr>
            <p:cNvPr name="Freeform 11" id="11"/>
            <p:cNvSpPr/>
            <p:nvPr/>
          </p:nvSpPr>
          <p:spPr>
            <a:xfrm flipH="false" flipV="false" rot="0">
              <a:off x="0" y="0"/>
              <a:ext cx="6882416" cy="827532"/>
            </a:xfrm>
            <a:custGeom>
              <a:avLst/>
              <a:gdLst/>
              <a:ahLst/>
              <a:cxnLst/>
              <a:rect r="r" b="b" t="t" l="l"/>
              <a:pathLst>
                <a:path h="827532" w="6882416">
                  <a:moveTo>
                    <a:pt x="0" y="0"/>
                  </a:moveTo>
                  <a:lnTo>
                    <a:pt x="6882416" y="0"/>
                  </a:lnTo>
                  <a:lnTo>
                    <a:pt x="6882416" y="827532"/>
                  </a:lnTo>
                  <a:lnTo>
                    <a:pt x="0" y="827532"/>
                  </a:lnTo>
                  <a:close/>
                </a:path>
              </a:pathLst>
            </a:custGeom>
            <a:solidFill>
              <a:srgbClr val="000000">
                <a:alpha val="0"/>
              </a:srgbClr>
            </a:solidFill>
          </p:spPr>
        </p:sp>
        <p:sp>
          <p:nvSpPr>
            <p:cNvPr name="TextBox 12" id="12"/>
            <p:cNvSpPr txBox="true"/>
            <p:nvPr/>
          </p:nvSpPr>
          <p:spPr>
            <a:xfrm>
              <a:off x="0" y="0"/>
              <a:ext cx="6882415" cy="827532"/>
            </a:xfrm>
            <a:prstGeom prst="rect">
              <a:avLst/>
            </a:prstGeom>
          </p:spPr>
          <p:txBody>
            <a:bodyPr anchor="t" rtlCol="false" tIns="0" lIns="0" bIns="0" rIns="0"/>
            <a:lstStyle/>
            <a:p>
              <a:pPr algn="l">
                <a:lnSpc>
                  <a:spcPts val="3600"/>
                </a:lnSpc>
              </a:pPr>
              <a:r>
                <a:rPr lang="en-US" sz="3000">
                  <a:solidFill>
                    <a:srgbClr val="FFFFFF"/>
                  </a:solidFill>
                  <a:latin typeface="Century Gothic Paneuropean"/>
                  <a:ea typeface="Century Gothic Paneuropean"/>
                  <a:cs typeface="Century Gothic Paneuropean"/>
                  <a:sym typeface="Century Gothic Paneuropean"/>
                </a:rPr>
                <a:t>Group B / Part 2  / </a:t>
              </a:r>
              <a:r>
                <a:rPr lang="en-US" sz="3000">
                  <a:solidFill>
                    <a:srgbClr val="FFFFFF"/>
                  </a:solidFill>
                  <a:latin typeface="Century Gothic Paneuropean"/>
                  <a:ea typeface="Century Gothic Paneuropean"/>
                  <a:cs typeface="Century Gothic Paneuropean"/>
                  <a:sym typeface="Century Gothic Paneuropean"/>
                </a:rPr>
                <a:t>Group 19</a:t>
              </a:r>
            </a:p>
          </p:txBody>
        </p:sp>
      </p:grpSp>
      <p:sp>
        <p:nvSpPr>
          <p:cNvPr name="Freeform 13" id="13"/>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7847303" y="9694902"/>
            <a:ext cx="323850" cy="553998"/>
            <a:chOff x="0" y="0"/>
            <a:chExt cx="431800" cy="738664"/>
          </a:xfrm>
        </p:grpSpPr>
        <p:sp>
          <p:nvSpPr>
            <p:cNvPr name="Freeform 15" id="15"/>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6" id="16"/>
            <p:cNvSpPr txBox="true"/>
            <p:nvPr/>
          </p:nvSpPr>
          <p:spPr>
            <a:xfrm>
              <a:off x="0" y="-19050"/>
              <a:ext cx="431800" cy="757714"/>
            </a:xfrm>
            <a:prstGeom prst="rect">
              <a:avLst/>
            </a:prstGeom>
          </p:spPr>
          <p:txBody>
            <a:bodyPr anchor="t" rtlCol="false" tIns="0" lIns="0" bIns="0" rIns="0"/>
            <a:lstStyle/>
            <a:p>
              <a:pPr algn="l">
                <a:lnSpc>
                  <a:spcPts val="3240"/>
                </a:lnSpc>
              </a:pPr>
              <a:r>
                <a:rPr lang="en-US" b="true" sz="2700">
                  <a:solidFill>
                    <a:srgbClr val="FFFFFF"/>
                  </a:solidFill>
                  <a:latin typeface="Times New Roman Bold"/>
                  <a:ea typeface="Times New Roman Bold"/>
                  <a:cs typeface="Times New Roman Bold"/>
                  <a:sym typeface="Times New Roman Bold"/>
                </a:rPr>
                <a:t>1</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6597043" y="499119"/>
            <a:ext cx="5093914" cy="1206475"/>
            <a:chOff x="0" y="0"/>
            <a:chExt cx="6791885" cy="1608634"/>
          </a:xfrm>
        </p:grpSpPr>
        <p:sp>
          <p:nvSpPr>
            <p:cNvPr name="Freeform 3" id="3"/>
            <p:cNvSpPr/>
            <p:nvPr/>
          </p:nvSpPr>
          <p:spPr>
            <a:xfrm flipH="false" flipV="false" rot="0">
              <a:off x="0" y="0"/>
              <a:ext cx="6791885" cy="1608634"/>
            </a:xfrm>
            <a:custGeom>
              <a:avLst/>
              <a:gdLst/>
              <a:ahLst/>
              <a:cxnLst/>
              <a:rect r="r" b="b" t="t" l="l"/>
              <a:pathLst>
                <a:path h="1608634" w="6791885">
                  <a:moveTo>
                    <a:pt x="0" y="0"/>
                  </a:moveTo>
                  <a:lnTo>
                    <a:pt x="6791885" y="0"/>
                  </a:lnTo>
                  <a:lnTo>
                    <a:pt x="6791885" y="1608634"/>
                  </a:lnTo>
                  <a:lnTo>
                    <a:pt x="0" y="1608634"/>
                  </a:lnTo>
                  <a:close/>
                </a:path>
              </a:pathLst>
            </a:custGeom>
            <a:solidFill>
              <a:srgbClr val="000000">
                <a:alpha val="0"/>
              </a:srgbClr>
            </a:solidFill>
          </p:spPr>
        </p:sp>
        <p:sp>
          <p:nvSpPr>
            <p:cNvPr name="TextBox 4" id="4"/>
            <p:cNvSpPr txBox="true"/>
            <p:nvPr/>
          </p:nvSpPr>
          <p:spPr>
            <a:xfrm>
              <a:off x="0" y="-38100"/>
              <a:ext cx="6791885" cy="1646734"/>
            </a:xfrm>
            <a:prstGeom prst="rect">
              <a:avLst/>
            </a:prstGeom>
          </p:spPr>
          <p:txBody>
            <a:bodyPr anchor="t" rtlCol="false" tIns="0" lIns="0" bIns="0" rIns="0"/>
            <a:lstStyle/>
            <a:p>
              <a:pPr algn="ctr">
                <a:lnSpc>
                  <a:spcPts val="7200"/>
                </a:lnSpc>
              </a:pPr>
              <a:r>
                <a:rPr lang="en-US" sz="6000">
                  <a:solidFill>
                    <a:srgbClr val="F7B902"/>
                  </a:solidFill>
                  <a:latin typeface="Times New Roman"/>
                  <a:ea typeface="Times New Roman"/>
                  <a:cs typeface="Times New Roman"/>
                  <a:sym typeface="Times New Roman"/>
                </a:rPr>
                <a:t>CONTENT</a:t>
              </a:r>
            </a:p>
          </p:txBody>
        </p:sp>
      </p:grpSp>
      <p:grpSp>
        <p:nvGrpSpPr>
          <p:cNvPr name="Group 5" id="5"/>
          <p:cNvGrpSpPr/>
          <p:nvPr/>
        </p:nvGrpSpPr>
        <p:grpSpPr>
          <a:xfrm rot="0">
            <a:off x="8486775" y="1637016"/>
            <a:ext cx="1314450" cy="68578"/>
            <a:chOff x="0" y="0"/>
            <a:chExt cx="1752600" cy="91438"/>
          </a:xfrm>
        </p:grpSpPr>
        <p:sp>
          <p:nvSpPr>
            <p:cNvPr name="Freeform 6" id="6"/>
            <p:cNvSpPr/>
            <p:nvPr/>
          </p:nvSpPr>
          <p:spPr>
            <a:xfrm flipH="false" flipV="false" rot="0">
              <a:off x="0" y="0"/>
              <a:ext cx="1752600" cy="91440"/>
            </a:xfrm>
            <a:custGeom>
              <a:avLst/>
              <a:gdLst/>
              <a:ahLst/>
              <a:cxnLst/>
              <a:rect r="r" b="b" t="t" l="l"/>
              <a:pathLst>
                <a:path h="91440" w="1752600">
                  <a:moveTo>
                    <a:pt x="0" y="0"/>
                  </a:moveTo>
                  <a:lnTo>
                    <a:pt x="1752600" y="0"/>
                  </a:lnTo>
                  <a:lnTo>
                    <a:pt x="1752600" y="91440"/>
                  </a:lnTo>
                  <a:lnTo>
                    <a:pt x="0" y="91440"/>
                  </a:lnTo>
                  <a:close/>
                </a:path>
              </a:pathLst>
            </a:custGeom>
            <a:solidFill>
              <a:srgbClr val="F7B902"/>
            </a:solidFill>
          </p:spPr>
        </p:sp>
      </p:grpSp>
      <p:grpSp>
        <p:nvGrpSpPr>
          <p:cNvPr name="Group 7" id="7"/>
          <p:cNvGrpSpPr/>
          <p:nvPr/>
        </p:nvGrpSpPr>
        <p:grpSpPr>
          <a:xfrm rot="0">
            <a:off x="642895" y="7390629"/>
            <a:ext cx="2405241" cy="718170"/>
            <a:chOff x="0" y="0"/>
            <a:chExt cx="3206988" cy="957560"/>
          </a:xfrm>
        </p:grpSpPr>
        <p:sp>
          <p:nvSpPr>
            <p:cNvPr name="Freeform 8" id="8"/>
            <p:cNvSpPr/>
            <p:nvPr/>
          </p:nvSpPr>
          <p:spPr>
            <a:xfrm flipH="false" flipV="false" rot="0">
              <a:off x="0" y="0"/>
              <a:ext cx="3206988" cy="957560"/>
            </a:xfrm>
            <a:custGeom>
              <a:avLst/>
              <a:gdLst/>
              <a:ahLst/>
              <a:cxnLst/>
              <a:rect r="r" b="b" t="t" l="l"/>
              <a:pathLst>
                <a:path h="957560" w="3206988">
                  <a:moveTo>
                    <a:pt x="0" y="0"/>
                  </a:moveTo>
                  <a:lnTo>
                    <a:pt x="3206988" y="0"/>
                  </a:lnTo>
                  <a:lnTo>
                    <a:pt x="3206988" y="957560"/>
                  </a:lnTo>
                  <a:lnTo>
                    <a:pt x="0" y="957560"/>
                  </a:lnTo>
                  <a:close/>
                </a:path>
              </a:pathLst>
            </a:custGeom>
            <a:solidFill>
              <a:srgbClr val="000000">
                <a:alpha val="0"/>
              </a:srgbClr>
            </a:solidFill>
          </p:spPr>
        </p:sp>
        <p:sp>
          <p:nvSpPr>
            <p:cNvPr name="TextBox 9" id="9"/>
            <p:cNvSpPr txBox="true"/>
            <p:nvPr/>
          </p:nvSpPr>
          <p:spPr>
            <a:xfrm>
              <a:off x="0" y="-28575"/>
              <a:ext cx="3206988" cy="986135"/>
            </a:xfrm>
            <a:prstGeom prst="rect">
              <a:avLst/>
            </a:prstGeom>
          </p:spPr>
          <p:txBody>
            <a:bodyPr anchor="t" rtlCol="false" tIns="0" lIns="0" bIns="0" rIns="0"/>
            <a:lstStyle/>
            <a:p>
              <a:pPr algn="ctr">
                <a:lnSpc>
                  <a:spcPts val="4320"/>
                </a:lnSpc>
              </a:pPr>
              <a:r>
                <a:rPr lang="en-US" sz="3600">
                  <a:solidFill>
                    <a:srgbClr val="FFFFFF"/>
                  </a:solidFill>
                  <a:latin typeface="Times New Roman"/>
                  <a:ea typeface="Times New Roman"/>
                  <a:cs typeface="Times New Roman"/>
                  <a:sym typeface="Times New Roman"/>
                </a:rPr>
                <a:t>Introduction</a:t>
              </a:r>
            </a:p>
          </p:txBody>
        </p:sp>
      </p:grpSp>
      <p:grpSp>
        <p:nvGrpSpPr>
          <p:cNvPr name="Group 10" id="10"/>
          <p:cNvGrpSpPr/>
          <p:nvPr/>
        </p:nvGrpSpPr>
        <p:grpSpPr>
          <a:xfrm rot="0">
            <a:off x="4179017" y="7156475"/>
            <a:ext cx="2654710" cy="1261095"/>
            <a:chOff x="0" y="0"/>
            <a:chExt cx="3539614" cy="1681460"/>
          </a:xfrm>
        </p:grpSpPr>
        <p:sp>
          <p:nvSpPr>
            <p:cNvPr name="Freeform 11" id="11"/>
            <p:cNvSpPr/>
            <p:nvPr/>
          </p:nvSpPr>
          <p:spPr>
            <a:xfrm flipH="false" flipV="false" rot="0">
              <a:off x="0" y="0"/>
              <a:ext cx="3539614" cy="1681460"/>
            </a:xfrm>
            <a:custGeom>
              <a:avLst/>
              <a:gdLst/>
              <a:ahLst/>
              <a:cxnLst/>
              <a:rect r="r" b="b" t="t" l="l"/>
              <a:pathLst>
                <a:path h="1681460" w="3539614">
                  <a:moveTo>
                    <a:pt x="0" y="0"/>
                  </a:moveTo>
                  <a:lnTo>
                    <a:pt x="3539614" y="0"/>
                  </a:lnTo>
                  <a:lnTo>
                    <a:pt x="3539614" y="1681460"/>
                  </a:lnTo>
                  <a:lnTo>
                    <a:pt x="0" y="1681460"/>
                  </a:lnTo>
                  <a:close/>
                </a:path>
              </a:pathLst>
            </a:custGeom>
            <a:solidFill>
              <a:srgbClr val="000000">
                <a:alpha val="0"/>
              </a:srgbClr>
            </a:solidFill>
          </p:spPr>
        </p:sp>
        <p:sp>
          <p:nvSpPr>
            <p:cNvPr name="TextBox 12" id="12"/>
            <p:cNvSpPr txBox="true"/>
            <p:nvPr/>
          </p:nvSpPr>
          <p:spPr>
            <a:xfrm>
              <a:off x="0" y="-28575"/>
              <a:ext cx="3539614" cy="1710035"/>
            </a:xfrm>
            <a:prstGeom prst="rect">
              <a:avLst/>
            </a:prstGeom>
          </p:spPr>
          <p:txBody>
            <a:bodyPr anchor="t" rtlCol="false" tIns="0" lIns="0" bIns="0" rIns="0"/>
            <a:lstStyle/>
            <a:p>
              <a:pPr algn="ctr">
                <a:lnSpc>
                  <a:spcPts val="4320"/>
                </a:lnSpc>
              </a:pPr>
              <a:r>
                <a:rPr lang="en-US" sz="3600">
                  <a:solidFill>
                    <a:srgbClr val="FFFFFF"/>
                  </a:solidFill>
                  <a:latin typeface="Times New Roman"/>
                  <a:ea typeface="Times New Roman"/>
                  <a:cs typeface="Times New Roman"/>
                  <a:sym typeface="Times New Roman"/>
                </a:rPr>
                <a:t>Problem Setting</a:t>
              </a:r>
            </a:p>
          </p:txBody>
        </p:sp>
      </p:grpSp>
      <p:grpSp>
        <p:nvGrpSpPr>
          <p:cNvPr name="Group 13" id="13"/>
          <p:cNvGrpSpPr/>
          <p:nvPr/>
        </p:nvGrpSpPr>
        <p:grpSpPr>
          <a:xfrm rot="0">
            <a:off x="11175612" y="7130192"/>
            <a:ext cx="3083019" cy="1261095"/>
            <a:chOff x="0" y="0"/>
            <a:chExt cx="4110692" cy="1681460"/>
          </a:xfrm>
        </p:grpSpPr>
        <p:sp>
          <p:nvSpPr>
            <p:cNvPr name="Freeform 14" id="14"/>
            <p:cNvSpPr/>
            <p:nvPr/>
          </p:nvSpPr>
          <p:spPr>
            <a:xfrm flipH="false" flipV="false" rot="0">
              <a:off x="0" y="0"/>
              <a:ext cx="4110692" cy="1681460"/>
            </a:xfrm>
            <a:custGeom>
              <a:avLst/>
              <a:gdLst/>
              <a:ahLst/>
              <a:cxnLst/>
              <a:rect r="r" b="b" t="t" l="l"/>
              <a:pathLst>
                <a:path h="1681460" w="4110692">
                  <a:moveTo>
                    <a:pt x="0" y="0"/>
                  </a:moveTo>
                  <a:lnTo>
                    <a:pt x="4110692" y="0"/>
                  </a:lnTo>
                  <a:lnTo>
                    <a:pt x="4110692" y="1681460"/>
                  </a:lnTo>
                  <a:lnTo>
                    <a:pt x="0" y="1681460"/>
                  </a:lnTo>
                  <a:close/>
                </a:path>
              </a:pathLst>
            </a:custGeom>
            <a:solidFill>
              <a:srgbClr val="000000">
                <a:alpha val="0"/>
              </a:srgbClr>
            </a:solidFill>
          </p:spPr>
        </p:sp>
        <p:sp>
          <p:nvSpPr>
            <p:cNvPr name="TextBox 15" id="15"/>
            <p:cNvSpPr txBox="true"/>
            <p:nvPr/>
          </p:nvSpPr>
          <p:spPr>
            <a:xfrm>
              <a:off x="0" y="-28575"/>
              <a:ext cx="4110692" cy="1710035"/>
            </a:xfrm>
            <a:prstGeom prst="rect">
              <a:avLst/>
            </a:prstGeom>
          </p:spPr>
          <p:txBody>
            <a:bodyPr anchor="t" rtlCol="false" tIns="0" lIns="0" bIns="0" rIns="0"/>
            <a:lstStyle/>
            <a:p>
              <a:pPr algn="ctr">
                <a:lnSpc>
                  <a:spcPts val="4320"/>
                </a:lnSpc>
              </a:pPr>
              <a:r>
                <a:rPr lang="en-US" sz="3600">
                  <a:solidFill>
                    <a:srgbClr val="FFFFFF"/>
                  </a:solidFill>
                  <a:latin typeface="Times New Roman"/>
                  <a:ea typeface="Times New Roman"/>
                  <a:cs typeface="Times New Roman"/>
                  <a:sym typeface="Times New Roman"/>
                </a:rPr>
                <a:t>Experimental Setting </a:t>
              </a:r>
            </a:p>
          </p:txBody>
        </p:sp>
      </p:grpSp>
      <p:grpSp>
        <p:nvGrpSpPr>
          <p:cNvPr name="Group 16" id="16"/>
          <p:cNvGrpSpPr/>
          <p:nvPr/>
        </p:nvGrpSpPr>
        <p:grpSpPr>
          <a:xfrm rot="0">
            <a:off x="518161" y="4281678"/>
            <a:ext cx="2654710" cy="265471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solidFill>
          </p:spPr>
        </p:sp>
        <p:sp>
          <p:nvSpPr>
            <p:cNvPr name="TextBox 18" id="18"/>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grpSp>
        <p:nvGrpSpPr>
          <p:cNvPr name="Group 19" id="19"/>
          <p:cNvGrpSpPr/>
          <p:nvPr/>
        </p:nvGrpSpPr>
        <p:grpSpPr>
          <a:xfrm rot="0">
            <a:off x="4176840" y="4281678"/>
            <a:ext cx="2654710" cy="265471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solidFill>
          </p:spPr>
        </p:sp>
        <p:sp>
          <p:nvSpPr>
            <p:cNvPr name="TextBox 21" id="21"/>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grpSp>
        <p:nvGrpSpPr>
          <p:cNvPr name="Group 22" id="22"/>
          <p:cNvGrpSpPr/>
          <p:nvPr/>
        </p:nvGrpSpPr>
        <p:grpSpPr>
          <a:xfrm rot="0">
            <a:off x="11330146" y="4281678"/>
            <a:ext cx="2654710" cy="265471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solidFill>
          </p:spPr>
        </p:sp>
        <p:sp>
          <p:nvSpPr>
            <p:cNvPr name="TextBox 24" id="24"/>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grpSp>
        <p:nvGrpSpPr>
          <p:cNvPr name="Group 25" id="25"/>
          <p:cNvGrpSpPr/>
          <p:nvPr/>
        </p:nvGrpSpPr>
        <p:grpSpPr>
          <a:xfrm rot="0">
            <a:off x="14970752" y="4281678"/>
            <a:ext cx="2654710" cy="2654710"/>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solidFill>
          </p:spPr>
        </p:sp>
        <p:sp>
          <p:nvSpPr>
            <p:cNvPr name="TextBox 27" id="27"/>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28" id="28"/>
          <p:cNvSpPr/>
          <p:nvPr/>
        </p:nvSpPr>
        <p:spPr>
          <a:xfrm flipH="false" flipV="false" rot="0">
            <a:off x="1125180" y="4888698"/>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2"/>
            <a:stretch>
              <a:fillRect l="0" t="0" r="0" b="0"/>
            </a:stretch>
          </a:blipFill>
        </p:spPr>
      </p:sp>
      <p:sp>
        <p:nvSpPr>
          <p:cNvPr name="Freeform 29" id="29"/>
          <p:cNvSpPr/>
          <p:nvPr/>
        </p:nvSpPr>
        <p:spPr>
          <a:xfrm flipH="false" flipV="false" rot="0">
            <a:off x="4783860" y="4888698"/>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3"/>
            <a:stretch>
              <a:fillRect l="0" t="0" r="0" b="0"/>
            </a:stretch>
          </a:blipFill>
        </p:spPr>
      </p:sp>
      <p:sp>
        <p:nvSpPr>
          <p:cNvPr name="Freeform 30" id="30"/>
          <p:cNvSpPr/>
          <p:nvPr/>
        </p:nvSpPr>
        <p:spPr>
          <a:xfrm flipH="false" flipV="false" rot="0">
            <a:off x="11937166" y="4888698"/>
            <a:ext cx="1440671" cy="1440671"/>
          </a:xfrm>
          <a:custGeom>
            <a:avLst/>
            <a:gdLst/>
            <a:ahLst/>
            <a:cxnLst/>
            <a:rect r="r" b="b" t="t" l="l"/>
            <a:pathLst>
              <a:path h="1440671" w="1440671">
                <a:moveTo>
                  <a:pt x="0" y="0"/>
                </a:moveTo>
                <a:lnTo>
                  <a:pt x="1440670" y="0"/>
                </a:lnTo>
                <a:lnTo>
                  <a:pt x="1440670" y="1440671"/>
                </a:lnTo>
                <a:lnTo>
                  <a:pt x="0" y="1440671"/>
                </a:lnTo>
                <a:lnTo>
                  <a:pt x="0" y="0"/>
                </a:lnTo>
                <a:close/>
              </a:path>
            </a:pathLst>
          </a:custGeom>
          <a:blipFill>
            <a:blip r:embed="rId4"/>
            <a:stretch>
              <a:fillRect l="0" t="0" r="0" b="0"/>
            </a:stretch>
          </a:blipFill>
        </p:spPr>
      </p:sp>
      <p:sp>
        <p:nvSpPr>
          <p:cNvPr name="Freeform 31" id="31"/>
          <p:cNvSpPr/>
          <p:nvPr/>
        </p:nvSpPr>
        <p:spPr>
          <a:xfrm flipH="false" flipV="false" rot="0">
            <a:off x="15582528" y="4888698"/>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5"/>
            <a:stretch>
              <a:fillRect l="0" t="0" r="0" b="0"/>
            </a:stretch>
          </a:blipFill>
        </p:spPr>
      </p:sp>
      <p:grpSp>
        <p:nvGrpSpPr>
          <p:cNvPr name="Group 32" id="32"/>
          <p:cNvGrpSpPr/>
          <p:nvPr/>
        </p:nvGrpSpPr>
        <p:grpSpPr>
          <a:xfrm rot="0">
            <a:off x="15033119" y="7156475"/>
            <a:ext cx="2529977" cy="1261095"/>
            <a:chOff x="0" y="0"/>
            <a:chExt cx="3373302" cy="1681460"/>
          </a:xfrm>
        </p:grpSpPr>
        <p:sp>
          <p:nvSpPr>
            <p:cNvPr name="Freeform 33" id="33"/>
            <p:cNvSpPr/>
            <p:nvPr/>
          </p:nvSpPr>
          <p:spPr>
            <a:xfrm flipH="false" flipV="false" rot="0">
              <a:off x="0" y="0"/>
              <a:ext cx="3373302" cy="1681460"/>
            </a:xfrm>
            <a:custGeom>
              <a:avLst/>
              <a:gdLst/>
              <a:ahLst/>
              <a:cxnLst/>
              <a:rect r="r" b="b" t="t" l="l"/>
              <a:pathLst>
                <a:path h="1681460" w="3373302">
                  <a:moveTo>
                    <a:pt x="0" y="0"/>
                  </a:moveTo>
                  <a:lnTo>
                    <a:pt x="3373302" y="0"/>
                  </a:lnTo>
                  <a:lnTo>
                    <a:pt x="3373302" y="1681460"/>
                  </a:lnTo>
                  <a:lnTo>
                    <a:pt x="0" y="1681460"/>
                  </a:lnTo>
                  <a:close/>
                </a:path>
              </a:pathLst>
            </a:custGeom>
            <a:solidFill>
              <a:srgbClr val="000000">
                <a:alpha val="0"/>
              </a:srgbClr>
            </a:solidFill>
          </p:spPr>
        </p:sp>
        <p:sp>
          <p:nvSpPr>
            <p:cNvPr name="TextBox 34" id="34"/>
            <p:cNvSpPr txBox="true"/>
            <p:nvPr/>
          </p:nvSpPr>
          <p:spPr>
            <a:xfrm>
              <a:off x="0" y="-28575"/>
              <a:ext cx="3373302" cy="1710035"/>
            </a:xfrm>
            <a:prstGeom prst="rect">
              <a:avLst/>
            </a:prstGeom>
          </p:spPr>
          <p:txBody>
            <a:bodyPr anchor="t" rtlCol="false" tIns="0" lIns="0" bIns="0" rIns="0"/>
            <a:lstStyle/>
            <a:p>
              <a:pPr algn="ctr">
                <a:lnSpc>
                  <a:spcPts val="4320"/>
                </a:lnSpc>
              </a:pPr>
              <a:r>
                <a:rPr lang="en-US" sz="3600">
                  <a:solidFill>
                    <a:srgbClr val="FFFFFF"/>
                  </a:solidFill>
                  <a:latin typeface="Times New Roman"/>
                  <a:ea typeface="Times New Roman"/>
                  <a:cs typeface="Times New Roman"/>
                  <a:sym typeface="Times New Roman"/>
                </a:rPr>
                <a:t>Experimental Results </a:t>
              </a:r>
            </a:p>
          </p:txBody>
        </p:sp>
      </p:grpSp>
      <p:sp>
        <p:nvSpPr>
          <p:cNvPr name="Freeform 35" id="35"/>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6" id="36"/>
          <p:cNvGrpSpPr/>
          <p:nvPr/>
        </p:nvGrpSpPr>
        <p:grpSpPr>
          <a:xfrm rot="0">
            <a:off x="17847303" y="9694902"/>
            <a:ext cx="1268668" cy="2170263"/>
            <a:chOff x="0" y="0"/>
            <a:chExt cx="431800" cy="738664"/>
          </a:xfrm>
        </p:grpSpPr>
        <p:sp>
          <p:nvSpPr>
            <p:cNvPr name="Freeform 37" id="37"/>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38" id="38"/>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2</a:t>
              </a:r>
            </a:p>
          </p:txBody>
        </p:sp>
      </p:grpSp>
      <p:grpSp>
        <p:nvGrpSpPr>
          <p:cNvPr name="Group 39" id="39"/>
          <p:cNvGrpSpPr/>
          <p:nvPr/>
        </p:nvGrpSpPr>
        <p:grpSpPr>
          <a:xfrm rot="0">
            <a:off x="7808782" y="7130192"/>
            <a:ext cx="2654710" cy="1261095"/>
            <a:chOff x="0" y="0"/>
            <a:chExt cx="3539614" cy="1681460"/>
          </a:xfrm>
        </p:grpSpPr>
        <p:sp>
          <p:nvSpPr>
            <p:cNvPr name="Freeform 40" id="40"/>
            <p:cNvSpPr/>
            <p:nvPr/>
          </p:nvSpPr>
          <p:spPr>
            <a:xfrm flipH="false" flipV="false" rot="0">
              <a:off x="0" y="0"/>
              <a:ext cx="3539614" cy="1681460"/>
            </a:xfrm>
            <a:custGeom>
              <a:avLst/>
              <a:gdLst/>
              <a:ahLst/>
              <a:cxnLst/>
              <a:rect r="r" b="b" t="t" l="l"/>
              <a:pathLst>
                <a:path h="1681460" w="3539614">
                  <a:moveTo>
                    <a:pt x="0" y="0"/>
                  </a:moveTo>
                  <a:lnTo>
                    <a:pt x="3539614" y="0"/>
                  </a:lnTo>
                  <a:lnTo>
                    <a:pt x="3539614" y="1681460"/>
                  </a:lnTo>
                  <a:lnTo>
                    <a:pt x="0" y="1681460"/>
                  </a:lnTo>
                  <a:close/>
                </a:path>
              </a:pathLst>
            </a:custGeom>
            <a:solidFill>
              <a:srgbClr val="000000">
                <a:alpha val="0"/>
              </a:srgbClr>
            </a:solidFill>
          </p:spPr>
        </p:sp>
        <p:sp>
          <p:nvSpPr>
            <p:cNvPr name="TextBox 41" id="41"/>
            <p:cNvSpPr txBox="true"/>
            <p:nvPr/>
          </p:nvSpPr>
          <p:spPr>
            <a:xfrm>
              <a:off x="0" y="-28575"/>
              <a:ext cx="3539614" cy="1710035"/>
            </a:xfrm>
            <a:prstGeom prst="rect">
              <a:avLst/>
            </a:prstGeom>
          </p:spPr>
          <p:txBody>
            <a:bodyPr anchor="t" rtlCol="false" tIns="0" lIns="0" bIns="0" rIns="0"/>
            <a:lstStyle/>
            <a:p>
              <a:pPr algn="ctr">
                <a:lnSpc>
                  <a:spcPts val="4320"/>
                </a:lnSpc>
              </a:pPr>
              <a:r>
                <a:rPr lang="en-US" sz="3600">
                  <a:solidFill>
                    <a:srgbClr val="FFFFFF"/>
                  </a:solidFill>
                  <a:latin typeface="Times New Roman"/>
                  <a:ea typeface="Times New Roman"/>
                  <a:cs typeface="Times New Roman"/>
                  <a:sym typeface="Times New Roman"/>
                </a:rPr>
                <a:t>Proposed Methods</a:t>
              </a:r>
            </a:p>
          </p:txBody>
        </p:sp>
      </p:grpSp>
      <p:grpSp>
        <p:nvGrpSpPr>
          <p:cNvPr name="Group 42" id="42"/>
          <p:cNvGrpSpPr/>
          <p:nvPr/>
        </p:nvGrpSpPr>
        <p:grpSpPr>
          <a:xfrm rot="0">
            <a:off x="7806605" y="4255395"/>
            <a:ext cx="2654710" cy="2654710"/>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solidFill>
          </p:spPr>
        </p:sp>
        <p:sp>
          <p:nvSpPr>
            <p:cNvPr name="TextBox 44" id="44"/>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45" id="45"/>
          <p:cNvSpPr/>
          <p:nvPr/>
        </p:nvSpPr>
        <p:spPr>
          <a:xfrm flipH="false" flipV="false" rot="0">
            <a:off x="8304091" y="4824315"/>
            <a:ext cx="1659740" cy="1703091"/>
          </a:xfrm>
          <a:custGeom>
            <a:avLst/>
            <a:gdLst/>
            <a:ahLst/>
            <a:cxnLst/>
            <a:rect r="r" b="b" t="t" l="l"/>
            <a:pathLst>
              <a:path h="1703091" w="1659740">
                <a:moveTo>
                  <a:pt x="0" y="0"/>
                </a:moveTo>
                <a:lnTo>
                  <a:pt x="1659740" y="0"/>
                </a:lnTo>
                <a:lnTo>
                  <a:pt x="1659740" y="1703091"/>
                </a:lnTo>
                <a:lnTo>
                  <a:pt x="0" y="17030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46" id="46"/>
          <p:cNvGrpSpPr/>
          <p:nvPr/>
        </p:nvGrpSpPr>
        <p:grpSpPr>
          <a:xfrm rot="0">
            <a:off x="642896" y="8032202"/>
            <a:ext cx="2967992" cy="2203227"/>
            <a:chOff x="0" y="0"/>
            <a:chExt cx="3957323" cy="2937636"/>
          </a:xfrm>
        </p:grpSpPr>
        <p:sp>
          <p:nvSpPr>
            <p:cNvPr name="Freeform 47" id="47"/>
            <p:cNvSpPr/>
            <p:nvPr/>
          </p:nvSpPr>
          <p:spPr>
            <a:xfrm flipH="false" flipV="false" rot="0">
              <a:off x="0" y="0"/>
              <a:ext cx="3957323" cy="2937636"/>
            </a:xfrm>
            <a:custGeom>
              <a:avLst/>
              <a:gdLst/>
              <a:ahLst/>
              <a:cxnLst/>
              <a:rect r="r" b="b" t="t" l="l"/>
              <a:pathLst>
                <a:path h="2937636" w="3957323">
                  <a:moveTo>
                    <a:pt x="0" y="0"/>
                  </a:moveTo>
                  <a:lnTo>
                    <a:pt x="3957323" y="0"/>
                  </a:lnTo>
                  <a:lnTo>
                    <a:pt x="3957323" y="2937636"/>
                  </a:lnTo>
                  <a:lnTo>
                    <a:pt x="0" y="2937636"/>
                  </a:lnTo>
                  <a:close/>
                </a:path>
              </a:pathLst>
            </a:custGeom>
            <a:solidFill>
              <a:srgbClr val="000000">
                <a:alpha val="0"/>
              </a:srgbClr>
            </a:solidFill>
          </p:spPr>
        </p:sp>
        <p:sp>
          <p:nvSpPr>
            <p:cNvPr name="TextBox 48" id="48"/>
            <p:cNvSpPr txBox="true"/>
            <p:nvPr/>
          </p:nvSpPr>
          <p:spPr>
            <a:xfrm>
              <a:off x="0" y="-19050"/>
              <a:ext cx="3957323" cy="2956686"/>
            </a:xfrm>
            <a:prstGeom prst="rect">
              <a:avLst/>
            </a:prstGeom>
          </p:spPr>
          <p:txBody>
            <a:bodyPr anchor="t" rtlCol="false" tIns="0" lIns="0" bIns="0" rIns="0"/>
            <a:lstStyle/>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Background</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Motivation</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Research Aims</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Challenges</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Contribution</a:t>
              </a:r>
            </a:p>
            <a:p>
              <a:pPr algn="l">
                <a:lnSpc>
                  <a:spcPts val="4320"/>
                </a:lnSpc>
              </a:pPr>
            </a:p>
          </p:txBody>
        </p:sp>
      </p:grpSp>
      <p:grpSp>
        <p:nvGrpSpPr>
          <p:cNvPr name="Group 49" id="49"/>
          <p:cNvGrpSpPr/>
          <p:nvPr/>
        </p:nvGrpSpPr>
        <p:grpSpPr>
          <a:xfrm rot="0">
            <a:off x="4176840" y="8391287"/>
            <a:ext cx="2967992" cy="1898427"/>
            <a:chOff x="0" y="0"/>
            <a:chExt cx="3957323" cy="2531236"/>
          </a:xfrm>
        </p:grpSpPr>
        <p:sp>
          <p:nvSpPr>
            <p:cNvPr name="Freeform 50" id="50"/>
            <p:cNvSpPr/>
            <p:nvPr/>
          </p:nvSpPr>
          <p:spPr>
            <a:xfrm flipH="false" flipV="false" rot="0">
              <a:off x="0" y="0"/>
              <a:ext cx="3957323" cy="2531236"/>
            </a:xfrm>
            <a:custGeom>
              <a:avLst/>
              <a:gdLst/>
              <a:ahLst/>
              <a:cxnLst/>
              <a:rect r="r" b="b" t="t" l="l"/>
              <a:pathLst>
                <a:path h="2531236" w="3957323">
                  <a:moveTo>
                    <a:pt x="0" y="0"/>
                  </a:moveTo>
                  <a:lnTo>
                    <a:pt x="3957323" y="0"/>
                  </a:lnTo>
                  <a:lnTo>
                    <a:pt x="3957323" y="2531236"/>
                  </a:lnTo>
                  <a:lnTo>
                    <a:pt x="0" y="2531236"/>
                  </a:lnTo>
                  <a:close/>
                </a:path>
              </a:pathLst>
            </a:custGeom>
            <a:solidFill>
              <a:srgbClr val="000000">
                <a:alpha val="0"/>
              </a:srgbClr>
            </a:solidFill>
          </p:spPr>
        </p:sp>
        <p:sp>
          <p:nvSpPr>
            <p:cNvPr name="TextBox 51" id="51"/>
            <p:cNvSpPr txBox="true"/>
            <p:nvPr/>
          </p:nvSpPr>
          <p:spPr>
            <a:xfrm>
              <a:off x="0" y="-19050"/>
              <a:ext cx="3957323" cy="2550286"/>
            </a:xfrm>
            <a:prstGeom prst="rect">
              <a:avLst/>
            </a:prstGeom>
          </p:spPr>
          <p:txBody>
            <a:bodyPr anchor="t" rtlCol="false" tIns="0" lIns="0" bIns="0" rIns="0"/>
            <a:lstStyle/>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Problem Description</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Evaluation Metrics</a:t>
              </a:r>
            </a:p>
            <a:p>
              <a:pPr algn="l">
                <a:lnSpc>
                  <a:spcPts val="2400"/>
                </a:lnSpc>
              </a:pPr>
            </a:p>
            <a:p>
              <a:pPr algn="l">
                <a:lnSpc>
                  <a:spcPts val="2400"/>
                </a:lnSpc>
              </a:pPr>
            </a:p>
            <a:p>
              <a:pPr algn="l">
                <a:lnSpc>
                  <a:spcPts val="4320"/>
                </a:lnSpc>
              </a:pPr>
            </a:p>
          </p:txBody>
        </p:sp>
      </p:grpSp>
      <p:grpSp>
        <p:nvGrpSpPr>
          <p:cNvPr name="Group 52" id="52"/>
          <p:cNvGrpSpPr/>
          <p:nvPr/>
        </p:nvGrpSpPr>
        <p:grpSpPr>
          <a:xfrm rot="0">
            <a:off x="7806605" y="8417570"/>
            <a:ext cx="4130560" cy="1621359"/>
            <a:chOff x="0" y="0"/>
            <a:chExt cx="5507414" cy="2161811"/>
          </a:xfrm>
        </p:grpSpPr>
        <p:sp>
          <p:nvSpPr>
            <p:cNvPr name="Freeform 53" id="53"/>
            <p:cNvSpPr/>
            <p:nvPr/>
          </p:nvSpPr>
          <p:spPr>
            <a:xfrm flipH="false" flipV="false" rot="0">
              <a:off x="0" y="0"/>
              <a:ext cx="5507414" cy="2161811"/>
            </a:xfrm>
            <a:custGeom>
              <a:avLst/>
              <a:gdLst/>
              <a:ahLst/>
              <a:cxnLst/>
              <a:rect r="r" b="b" t="t" l="l"/>
              <a:pathLst>
                <a:path h="2161811" w="5507414">
                  <a:moveTo>
                    <a:pt x="0" y="0"/>
                  </a:moveTo>
                  <a:lnTo>
                    <a:pt x="5507414" y="0"/>
                  </a:lnTo>
                  <a:lnTo>
                    <a:pt x="5507414" y="2161811"/>
                  </a:lnTo>
                  <a:lnTo>
                    <a:pt x="0" y="2161811"/>
                  </a:lnTo>
                  <a:close/>
                </a:path>
              </a:pathLst>
            </a:custGeom>
            <a:solidFill>
              <a:srgbClr val="000000">
                <a:alpha val="0"/>
              </a:srgbClr>
            </a:solidFill>
          </p:spPr>
        </p:sp>
        <p:sp>
          <p:nvSpPr>
            <p:cNvPr name="TextBox 54" id="54"/>
            <p:cNvSpPr txBox="true"/>
            <p:nvPr/>
          </p:nvSpPr>
          <p:spPr>
            <a:xfrm>
              <a:off x="0" y="-19050"/>
              <a:ext cx="5507414" cy="2180861"/>
            </a:xfrm>
            <a:prstGeom prst="rect">
              <a:avLst/>
            </a:prstGeom>
          </p:spPr>
          <p:txBody>
            <a:bodyPr anchor="t" rtlCol="false" tIns="0" lIns="0" bIns="0" rIns="0"/>
            <a:lstStyle/>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Data Understanding</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Data Preparation</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Data Modeling</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Evaluation</a:t>
              </a:r>
            </a:p>
          </p:txBody>
        </p:sp>
      </p:grpSp>
      <p:grpSp>
        <p:nvGrpSpPr>
          <p:cNvPr name="Group 55" id="55"/>
          <p:cNvGrpSpPr/>
          <p:nvPr/>
        </p:nvGrpSpPr>
        <p:grpSpPr>
          <a:xfrm rot="0">
            <a:off x="11330146" y="8461487"/>
            <a:ext cx="3640606" cy="1898427"/>
            <a:chOff x="0" y="0"/>
            <a:chExt cx="4854141" cy="2531236"/>
          </a:xfrm>
        </p:grpSpPr>
        <p:sp>
          <p:nvSpPr>
            <p:cNvPr name="Freeform 56" id="56"/>
            <p:cNvSpPr/>
            <p:nvPr/>
          </p:nvSpPr>
          <p:spPr>
            <a:xfrm flipH="false" flipV="false" rot="0">
              <a:off x="0" y="0"/>
              <a:ext cx="4854141" cy="2531236"/>
            </a:xfrm>
            <a:custGeom>
              <a:avLst/>
              <a:gdLst/>
              <a:ahLst/>
              <a:cxnLst/>
              <a:rect r="r" b="b" t="t" l="l"/>
              <a:pathLst>
                <a:path h="2531236" w="4854141">
                  <a:moveTo>
                    <a:pt x="0" y="0"/>
                  </a:moveTo>
                  <a:lnTo>
                    <a:pt x="4854141" y="0"/>
                  </a:lnTo>
                  <a:lnTo>
                    <a:pt x="4854141" y="2531236"/>
                  </a:lnTo>
                  <a:lnTo>
                    <a:pt x="0" y="2531236"/>
                  </a:lnTo>
                  <a:close/>
                </a:path>
              </a:pathLst>
            </a:custGeom>
            <a:solidFill>
              <a:srgbClr val="000000">
                <a:alpha val="0"/>
              </a:srgbClr>
            </a:solidFill>
          </p:spPr>
        </p:sp>
        <p:sp>
          <p:nvSpPr>
            <p:cNvPr name="TextBox 57" id="57"/>
            <p:cNvSpPr txBox="true"/>
            <p:nvPr/>
          </p:nvSpPr>
          <p:spPr>
            <a:xfrm>
              <a:off x="0" y="-19050"/>
              <a:ext cx="4854141" cy="2550286"/>
            </a:xfrm>
            <a:prstGeom prst="rect">
              <a:avLst/>
            </a:prstGeom>
          </p:spPr>
          <p:txBody>
            <a:bodyPr anchor="t" rtlCol="false" tIns="0" lIns="0" bIns="0" rIns="0"/>
            <a:lstStyle/>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Data</a:t>
              </a:r>
              <a:r>
                <a:rPr lang="en-US" b="true" sz="2000">
                  <a:solidFill>
                    <a:srgbClr val="FFFFFF"/>
                  </a:solidFill>
                  <a:latin typeface="Times New Roman Bold"/>
                  <a:ea typeface="Times New Roman Bold"/>
                  <a:cs typeface="Times New Roman Bold"/>
                  <a:sym typeface="Times New Roman Bold"/>
                </a:rPr>
                <a:t>sets </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Baseline &amp; SOTA Methods </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Evaluation Strategy</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Environment </a:t>
              </a:r>
            </a:p>
            <a:p>
              <a:pPr algn="l">
                <a:lnSpc>
                  <a:spcPts val="4320"/>
                </a:lnSpc>
              </a:pPr>
            </a:p>
          </p:txBody>
        </p:sp>
      </p:grpSp>
      <p:grpSp>
        <p:nvGrpSpPr>
          <p:cNvPr name="Group 58" id="58"/>
          <p:cNvGrpSpPr/>
          <p:nvPr/>
        </p:nvGrpSpPr>
        <p:grpSpPr>
          <a:xfrm rot="0">
            <a:off x="14970752" y="8391287"/>
            <a:ext cx="4771448" cy="1593627"/>
            <a:chOff x="0" y="0"/>
            <a:chExt cx="6361930" cy="2124836"/>
          </a:xfrm>
        </p:grpSpPr>
        <p:sp>
          <p:nvSpPr>
            <p:cNvPr name="Freeform 59" id="59"/>
            <p:cNvSpPr/>
            <p:nvPr/>
          </p:nvSpPr>
          <p:spPr>
            <a:xfrm flipH="false" flipV="false" rot="0">
              <a:off x="0" y="0"/>
              <a:ext cx="6361930" cy="2124836"/>
            </a:xfrm>
            <a:custGeom>
              <a:avLst/>
              <a:gdLst/>
              <a:ahLst/>
              <a:cxnLst/>
              <a:rect r="r" b="b" t="t" l="l"/>
              <a:pathLst>
                <a:path h="2124836" w="6361930">
                  <a:moveTo>
                    <a:pt x="0" y="0"/>
                  </a:moveTo>
                  <a:lnTo>
                    <a:pt x="6361930" y="0"/>
                  </a:lnTo>
                  <a:lnTo>
                    <a:pt x="6361930" y="2124836"/>
                  </a:lnTo>
                  <a:lnTo>
                    <a:pt x="0" y="2124836"/>
                  </a:lnTo>
                  <a:close/>
                </a:path>
              </a:pathLst>
            </a:custGeom>
            <a:solidFill>
              <a:srgbClr val="000000">
                <a:alpha val="0"/>
              </a:srgbClr>
            </a:solidFill>
          </p:spPr>
        </p:sp>
        <p:sp>
          <p:nvSpPr>
            <p:cNvPr name="TextBox 60" id="60"/>
            <p:cNvSpPr txBox="true"/>
            <p:nvPr/>
          </p:nvSpPr>
          <p:spPr>
            <a:xfrm>
              <a:off x="0" y="-19050"/>
              <a:ext cx="6361930" cy="2143886"/>
            </a:xfrm>
            <a:prstGeom prst="rect">
              <a:avLst/>
            </a:prstGeom>
          </p:spPr>
          <p:txBody>
            <a:bodyPr anchor="t" rtlCol="false" tIns="0" lIns="0" bIns="0" rIns="0"/>
            <a:lstStyle/>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Experimental Results</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Conclusion, Insights &amp; Limitations</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Demo</a:t>
              </a:r>
            </a:p>
            <a:p>
              <a:pPr algn="l">
                <a:lnSpc>
                  <a:spcPts val="4320"/>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6843252" y="575187"/>
            <a:ext cx="4601496" cy="1206475"/>
            <a:chOff x="0" y="0"/>
            <a:chExt cx="6135328" cy="1608634"/>
          </a:xfrm>
        </p:grpSpPr>
        <p:sp>
          <p:nvSpPr>
            <p:cNvPr name="Freeform 3" id="3"/>
            <p:cNvSpPr/>
            <p:nvPr/>
          </p:nvSpPr>
          <p:spPr>
            <a:xfrm flipH="false" flipV="false" rot="0">
              <a:off x="0" y="0"/>
              <a:ext cx="6135328" cy="1608634"/>
            </a:xfrm>
            <a:custGeom>
              <a:avLst/>
              <a:gdLst/>
              <a:ahLst/>
              <a:cxnLst/>
              <a:rect r="r" b="b" t="t" l="l"/>
              <a:pathLst>
                <a:path h="1608634" w="6135328">
                  <a:moveTo>
                    <a:pt x="0" y="0"/>
                  </a:moveTo>
                  <a:lnTo>
                    <a:pt x="6135328" y="0"/>
                  </a:lnTo>
                  <a:lnTo>
                    <a:pt x="6135328" y="1608634"/>
                  </a:lnTo>
                  <a:lnTo>
                    <a:pt x="0" y="1608634"/>
                  </a:lnTo>
                  <a:close/>
                </a:path>
              </a:pathLst>
            </a:custGeom>
            <a:solidFill>
              <a:srgbClr val="000000">
                <a:alpha val="0"/>
              </a:srgbClr>
            </a:solidFill>
          </p:spPr>
        </p:sp>
        <p:sp>
          <p:nvSpPr>
            <p:cNvPr name="TextBox 4" id="4"/>
            <p:cNvSpPr txBox="true"/>
            <p:nvPr/>
          </p:nvSpPr>
          <p:spPr>
            <a:xfrm>
              <a:off x="0" y="-38100"/>
              <a:ext cx="6135328" cy="1646734"/>
            </a:xfrm>
            <a:prstGeom prst="rect">
              <a:avLst/>
            </a:prstGeom>
          </p:spPr>
          <p:txBody>
            <a:bodyPr anchor="t" rtlCol="false" tIns="0" lIns="0" bIns="0" rIns="0"/>
            <a:lstStyle/>
            <a:p>
              <a:pPr algn="ctr">
                <a:lnSpc>
                  <a:spcPts val="7200"/>
                </a:lnSpc>
              </a:pPr>
              <a:r>
                <a:rPr lang="en-US" sz="6000">
                  <a:solidFill>
                    <a:srgbClr val="F7B902"/>
                  </a:solidFill>
                  <a:latin typeface="Times New Roman"/>
                  <a:ea typeface="Times New Roman"/>
                  <a:cs typeface="Times New Roman"/>
                  <a:sym typeface="Times New Roman"/>
                </a:rPr>
                <a:t>CONTENT</a:t>
              </a:r>
            </a:p>
          </p:txBody>
        </p:sp>
      </p:grpSp>
      <p:grpSp>
        <p:nvGrpSpPr>
          <p:cNvPr name="Group 5" id="5"/>
          <p:cNvGrpSpPr/>
          <p:nvPr/>
        </p:nvGrpSpPr>
        <p:grpSpPr>
          <a:xfrm rot="0">
            <a:off x="8486775" y="1637016"/>
            <a:ext cx="1314450" cy="68578"/>
            <a:chOff x="0" y="0"/>
            <a:chExt cx="1752600" cy="91438"/>
          </a:xfrm>
        </p:grpSpPr>
        <p:sp>
          <p:nvSpPr>
            <p:cNvPr name="Freeform 6" id="6"/>
            <p:cNvSpPr/>
            <p:nvPr/>
          </p:nvSpPr>
          <p:spPr>
            <a:xfrm flipH="false" flipV="false" rot="0">
              <a:off x="0" y="0"/>
              <a:ext cx="1752600" cy="91440"/>
            </a:xfrm>
            <a:custGeom>
              <a:avLst/>
              <a:gdLst/>
              <a:ahLst/>
              <a:cxnLst/>
              <a:rect r="r" b="b" t="t" l="l"/>
              <a:pathLst>
                <a:path h="91440" w="1752600">
                  <a:moveTo>
                    <a:pt x="0" y="0"/>
                  </a:moveTo>
                  <a:lnTo>
                    <a:pt x="1752600" y="0"/>
                  </a:lnTo>
                  <a:lnTo>
                    <a:pt x="1752600" y="91440"/>
                  </a:lnTo>
                  <a:lnTo>
                    <a:pt x="0" y="91440"/>
                  </a:lnTo>
                  <a:close/>
                </a:path>
              </a:pathLst>
            </a:custGeom>
            <a:solidFill>
              <a:srgbClr val="F7B902"/>
            </a:solidFill>
          </p:spPr>
        </p:sp>
      </p:grpSp>
      <p:sp>
        <p:nvSpPr>
          <p:cNvPr name="Freeform 7" id="7"/>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7847303" y="9694902"/>
            <a:ext cx="1268668" cy="2170263"/>
            <a:chOff x="0" y="0"/>
            <a:chExt cx="431800" cy="738664"/>
          </a:xfrm>
        </p:grpSpPr>
        <p:sp>
          <p:nvSpPr>
            <p:cNvPr name="Freeform 9" id="9"/>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0" id="10"/>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3</a:t>
              </a:r>
            </a:p>
          </p:txBody>
        </p:sp>
      </p:grpSp>
      <p:grpSp>
        <p:nvGrpSpPr>
          <p:cNvPr name="Group 11" id="11"/>
          <p:cNvGrpSpPr/>
          <p:nvPr/>
        </p:nvGrpSpPr>
        <p:grpSpPr>
          <a:xfrm rot="0">
            <a:off x="642895" y="7390629"/>
            <a:ext cx="2405241" cy="718170"/>
            <a:chOff x="0" y="0"/>
            <a:chExt cx="3206988" cy="957560"/>
          </a:xfrm>
        </p:grpSpPr>
        <p:sp>
          <p:nvSpPr>
            <p:cNvPr name="Freeform 12" id="12"/>
            <p:cNvSpPr/>
            <p:nvPr/>
          </p:nvSpPr>
          <p:spPr>
            <a:xfrm flipH="false" flipV="false" rot="0">
              <a:off x="0" y="0"/>
              <a:ext cx="3206988" cy="957560"/>
            </a:xfrm>
            <a:custGeom>
              <a:avLst/>
              <a:gdLst/>
              <a:ahLst/>
              <a:cxnLst/>
              <a:rect r="r" b="b" t="t" l="l"/>
              <a:pathLst>
                <a:path h="957560" w="3206988">
                  <a:moveTo>
                    <a:pt x="0" y="0"/>
                  </a:moveTo>
                  <a:lnTo>
                    <a:pt x="3206988" y="0"/>
                  </a:lnTo>
                  <a:lnTo>
                    <a:pt x="3206988" y="957560"/>
                  </a:lnTo>
                  <a:lnTo>
                    <a:pt x="0" y="957560"/>
                  </a:lnTo>
                  <a:close/>
                </a:path>
              </a:pathLst>
            </a:custGeom>
            <a:solidFill>
              <a:srgbClr val="000000">
                <a:alpha val="0"/>
              </a:srgbClr>
            </a:solidFill>
          </p:spPr>
        </p:sp>
        <p:sp>
          <p:nvSpPr>
            <p:cNvPr name="TextBox 13" id="13"/>
            <p:cNvSpPr txBox="true"/>
            <p:nvPr/>
          </p:nvSpPr>
          <p:spPr>
            <a:xfrm>
              <a:off x="0" y="-28575"/>
              <a:ext cx="3206988" cy="986135"/>
            </a:xfrm>
            <a:prstGeom prst="rect">
              <a:avLst/>
            </a:prstGeom>
          </p:spPr>
          <p:txBody>
            <a:bodyPr anchor="t" rtlCol="false" tIns="0" lIns="0" bIns="0" rIns="0"/>
            <a:lstStyle/>
            <a:p>
              <a:pPr algn="ctr">
                <a:lnSpc>
                  <a:spcPts val="4320"/>
                </a:lnSpc>
              </a:pPr>
              <a:r>
                <a:rPr lang="en-US" sz="3600">
                  <a:solidFill>
                    <a:srgbClr val="FFFFFF"/>
                  </a:solidFill>
                  <a:latin typeface="Times New Roman"/>
                  <a:ea typeface="Times New Roman"/>
                  <a:cs typeface="Times New Roman"/>
                  <a:sym typeface="Times New Roman"/>
                </a:rPr>
                <a:t>Introduction</a:t>
              </a:r>
            </a:p>
          </p:txBody>
        </p:sp>
      </p:grpSp>
      <p:grpSp>
        <p:nvGrpSpPr>
          <p:cNvPr name="Group 14" id="14"/>
          <p:cNvGrpSpPr/>
          <p:nvPr/>
        </p:nvGrpSpPr>
        <p:grpSpPr>
          <a:xfrm rot="0">
            <a:off x="4179017" y="7156475"/>
            <a:ext cx="2654710" cy="1261095"/>
            <a:chOff x="0" y="0"/>
            <a:chExt cx="3539614" cy="1681460"/>
          </a:xfrm>
        </p:grpSpPr>
        <p:sp>
          <p:nvSpPr>
            <p:cNvPr name="Freeform 15" id="15"/>
            <p:cNvSpPr/>
            <p:nvPr/>
          </p:nvSpPr>
          <p:spPr>
            <a:xfrm flipH="false" flipV="false" rot="0">
              <a:off x="0" y="0"/>
              <a:ext cx="3539614" cy="1681460"/>
            </a:xfrm>
            <a:custGeom>
              <a:avLst/>
              <a:gdLst/>
              <a:ahLst/>
              <a:cxnLst/>
              <a:rect r="r" b="b" t="t" l="l"/>
              <a:pathLst>
                <a:path h="1681460" w="3539614">
                  <a:moveTo>
                    <a:pt x="0" y="0"/>
                  </a:moveTo>
                  <a:lnTo>
                    <a:pt x="3539614" y="0"/>
                  </a:lnTo>
                  <a:lnTo>
                    <a:pt x="3539614" y="1681460"/>
                  </a:lnTo>
                  <a:lnTo>
                    <a:pt x="0" y="1681460"/>
                  </a:lnTo>
                  <a:close/>
                </a:path>
              </a:pathLst>
            </a:custGeom>
            <a:solidFill>
              <a:srgbClr val="000000">
                <a:alpha val="0"/>
              </a:srgbClr>
            </a:solidFill>
          </p:spPr>
        </p:sp>
        <p:sp>
          <p:nvSpPr>
            <p:cNvPr name="TextBox 16" id="16"/>
            <p:cNvSpPr txBox="true"/>
            <p:nvPr/>
          </p:nvSpPr>
          <p:spPr>
            <a:xfrm>
              <a:off x="0" y="-28575"/>
              <a:ext cx="3539614" cy="1710035"/>
            </a:xfrm>
            <a:prstGeom prst="rect">
              <a:avLst/>
            </a:prstGeom>
          </p:spPr>
          <p:txBody>
            <a:bodyPr anchor="t" rtlCol="false" tIns="0" lIns="0" bIns="0" rIns="0"/>
            <a:lstStyle/>
            <a:p>
              <a:pPr algn="ctr">
                <a:lnSpc>
                  <a:spcPts val="4320"/>
                </a:lnSpc>
              </a:pPr>
              <a:r>
                <a:rPr lang="en-US" sz="3600">
                  <a:solidFill>
                    <a:srgbClr val="FFFFFF">
                      <a:alpha val="33725"/>
                    </a:srgbClr>
                  </a:solidFill>
                  <a:latin typeface="Times New Roman"/>
                  <a:ea typeface="Times New Roman"/>
                  <a:cs typeface="Times New Roman"/>
                  <a:sym typeface="Times New Roman"/>
                </a:rPr>
                <a:t>Problem Setting</a:t>
              </a:r>
            </a:p>
          </p:txBody>
        </p:sp>
      </p:grpSp>
      <p:grpSp>
        <p:nvGrpSpPr>
          <p:cNvPr name="Group 17" id="17"/>
          <p:cNvGrpSpPr/>
          <p:nvPr/>
        </p:nvGrpSpPr>
        <p:grpSpPr>
          <a:xfrm rot="0">
            <a:off x="11435042" y="7156475"/>
            <a:ext cx="2763519" cy="1261095"/>
            <a:chOff x="0" y="0"/>
            <a:chExt cx="3684692" cy="1681460"/>
          </a:xfrm>
        </p:grpSpPr>
        <p:sp>
          <p:nvSpPr>
            <p:cNvPr name="Freeform 18" id="18"/>
            <p:cNvSpPr/>
            <p:nvPr/>
          </p:nvSpPr>
          <p:spPr>
            <a:xfrm flipH="false" flipV="false" rot="0">
              <a:off x="0" y="0"/>
              <a:ext cx="3684692" cy="1681460"/>
            </a:xfrm>
            <a:custGeom>
              <a:avLst/>
              <a:gdLst/>
              <a:ahLst/>
              <a:cxnLst/>
              <a:rect r="r" b="b" t="t" l="l"/>
              <a:pathLst>
                <a:path h="1681460" w="3684692">
                  <a:moveTo>
                    <a:pt x="0" y="0"/>
                  </a:moveTo>
                  <a:lnTo>
                    <a:pt x="3684692" y="0"/>
                  </a:lnTo>
                  <a:lnTo>
                    <a:pt x="3684692" y="1681460"/>
                  </a:lnTo>
                  <a:lnTo>
                    <a:pt x="0" y="1681460"/>
                  </a:lnTo>
                  <a:close/>
                </a:path>
              </a:pathLst>
            </a:custGeom>
            <a:solidFill>
              <a:srgbClr val="000000">
                <a:alpha val="0"/>
              </a:srgbClr>
            </a:solidFill>
          </p:spPr>
        </p:sp>
        <p:sp>
          <p:nvSpPr>
            <p:cNvPr name="TextBox 19" id="19"/>
            <p:cNvSpPr txBox="true"/>
            <p:nvPr/>
          </p:nvSpPr>
          <p:spPr>
            <a:xfrm>
              <a:off x="0" y="-28575"/>
              <a:ext cx="3684692" cy="1710035"/>
            </a:xfrm>
            <a:prstGeom prst="rect">
              <a:avLst/>
            </a:prstGeom>
          </p:spPr>
          <p:txBody>
            <a:bodyPr anchor="t" rtlCol="false" tIns="0" lIns="0" bIns="0" rIns="0"/>
            <a:lstStyle/>
            <a:p>
              <a:pPr algn="ctr">
                <a:lnSpc>
                  <a:spcPts val="4320"/>
                </a:lnSpc>
              </a:pPr>
              <a:r>
                <a:rPr lang="en-US" sz="3600">
                  <a:solidFill>
                    <a:srgbClr val="FFFFFF">
                      <a:alpha val="33725"/>
                    </a:srgbClr>
                  </a:solidFill>
                  <a:latin typeface="Times New Roman"/>
                  <a:ea typeface="Times New Roman"/>
                  <a:cs typeface="Times New Roman"/>
                  <a:sym typeface="Times New Roman"/>
                </a:rPr>
                <a:t>Experimental Setting</a:t>
              </a:r>
            </a:p>
          </p:txBody>
        </p:sp>
      </p:grpSp>
      <p:grpSp>
        <p:nvGrpSpPr>
          <p:cNvPr name="Group 20" id="20"/>
          <p:cNvGrpSpPr/>
          <p:nvPr/>
        </p:nvGrpSpPr>
        <p:grpSpPr>
          <a:xfrm rot="0">
            <a:off x="518161" y="4281678"/>
            <a:ext cx="2654710" cy="2654710"/>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solidFill>
          </p:spPr>
        </p:sp>
        <p:sp>
          <p:nvSpPr>
            <p:cNvPr name="TextBox 22" id="22"/>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grpSp>
        <p:nvGrpSpPr>
          <p:cNvPr name="Group 23" id="23"/>
          <p:cNvGrpSpPr/>
          <p:nvPr/>
        </p:nvGrpSpPr>
        <p:grpSpPr>
          <a:xfrm rot="0">
            <a:off x="4176840" y="4281678"/>
            <a:ext cx="2654710" cy="2654710"/>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33725"/>
              </a:srgbClr>
            </a:solidFill>
          </p:spPr>
        </p:sp>
        <p:sp>
          <p:nvSpPr>
            <p:cNvPr name="TextBox 25" id="25"/>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grpSp>
        <p:nvGrpSpPr>
          <p:cNvPr name="Group 26" id="26"/>
          <p:cNvGrpSpPr/>
          <p:nvPr/>
        </p:nvGrpSpPr>
        <p:grpSpPr>
          <a:xfrm rot="0">
            <a:off x="11330146" y="4281678"/>
            <a:ext cx="2654710" cy="2654710"/>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33725"/>
              </a:srgbClr>
            </a:solidFill>
          </p:spPr>
        </p:sp>
        <p:sp>
          <p:nvSpPr>
            <p:cNvPr name="TextBox 28" id="28"/>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grpSp>
        <p:nvGrpSpPr>
          <p:cNvPr name="Group 29" id="29"/>
          <p:cNvGrpSpPr/>
          <p:nvPr/>
        </p:nvGrpSpPr>
        <p:grpSpPr>
          <a:xfrm rot="0">
            <a:off x="14970752" y="4281678"/>
            <a:ext cx="2654710" cy="2654710"/>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33725"/>
              </a:srgbClr>
            </a:solidFill>
          </p:spPr>
        </p:sp>
        <p:sp>
          <p:nvSpPr>
            <p:cNvPr name="TextBox 31" id="31"/>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32" id="32"/>
          <p:cNvSpPr/>
          <p:nvPr/>
        </p:nvSpPr>
        <p:spPr>
          <a:xfrm flipH="false" flipV="false" rot="0">
            <a:off x="1125180" y="4888698"/>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4"/>
            <a:stretch>
              <a:fillRect l="0" t="0" r="0" b="0"/>
            </a:stretch>
          </a:blipFill>
        </p:spPr>
      </p:sp>
      <p:sp>
        <p:nvSpPr>
          <p:cNvPr name="Freeform 33" id="33"/>
          <p:cNvSpPr/>
          <p:nvPr/>
        </p:nvSpPr>
        <p:spPr>
          <a:xfrm flipH="false" flipV="false" rot="0">
            <a:off x="4783860" y="4888698"/>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5">
              <a:alphaModFix amt="34000"/>
            </a:blip>
            <a:stretch>
              <a:fillRect l="0" t="0" r="0" b="0"/>
            </a:stretch>
          </a:blipFill>
        </p:spPr>
      </p:sp>
      <p:sp>
        <p:nvSpPr>
          <p:cNvPr name="Freeform 34" id="34"/>
          <p:cNvSpPr/>
          <p:nvPr/>
        </p:nvSpPr>
        <p:spPr>
          <a:xfrm flipH="false" flipV="false" rot="0">
            <a:off x="11937166" y="4888698"/>
            <a:ext cx="1440671" cy="1440671"/>
          </a:xfrm>
          <a:custGeom>
            <a:avLst/>
            <a:gdLst/>
            <a:ahLst/>
            <a:cxnLst/>
            <a:rect r="r" b="b" t="t" l="l"/>
            <a:pathLst>
              <a:path h="1440671" w="1440671">
                <a:moveTo>
                  <a:pt x="0" y="0"/>
                </a:moveTo>
                <a:lnTo>
                  <a:pt x="1440670" y="0"/>
                </a:lnTo>
                <a:lnTo>
                  <a:pt x="1440670" y="1440671"/>
                </a:lnTo>
                <a:lnTo>
                  <a:pt x="0" y="1440671"/>
                </a:lnTo>
                <a:lnTo>
                  <a:pt x="0" y="0"/>
                </a:lnTo>
                <a:close/>
              </a:path>
            </a:pathLst>
          </a:custGeom>
          <a:blipFill>
            <a:blip r:embed="rId6">
              <a:alphaModFix amt="34000"/>
            </a:blip>
            <a:stretch>
              <a:fillRect l="0" t="0" r="0" b="0"/>
            </a:stretch>
          </a:blipFill>
        </p:spPr>
      </p:sp>
      <p:sp>
        <p:nvSpPr>
          <p:cNvPr name="Freeform 35" id="35"/>
          <p:cNvSpPr/>
          <p:nvPr/>
        </p:nvSpPr>
        <p:spPr>
          <a:xfrm flipH="false" flipV="false" rot="0">
            <a:off x="15582528" y="4888698"/>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7">
              <a:alphaModFix amt="34000"/>
            </a:blip>
            <a:stretch>
              <a:fillRect l="0" t="0" r="0" b="0"/>
            </a:stretch>
          </a:blipFill>
        </p:spPr>
      </p:sp>
      <p:grpSp>
        <p:nvGrpSpPr>
          <p:cNvPr name="Group 36" id="36"/>
          <p:cNvGrpSpPr/>
          <p:nvPr/>
        </p:nvGrpSpPr>
        <p:grpSpPr>
          <a:xfrm rot="0">
            <a:off x="15033119" y="7156475"/>
            <a:ext cx="2529977" cy="1261095"/>
            <a:chOff x="0" y="0"/>
            <a:chExt cx="3373302" cy="1681460"/>
          </a:xfrm>
        </p:grpSpPr>
        <p:sp>
          <p:nvSpPr>
            <p:cNvPr name="Freeform 37" id="37"/>
            <p:cNvSpPr/>
            <p:nvPr/>
          </p:nvSpPr>
          <p:spPr>
            <a:xfrm flipH="false" flipV="false" rot="0">
              <a:off x="0" y="0"/>
              <a:ext cx="3373302" cy="1681460"/>
            </a:xfrm>
            <a:custGeom>
              <a:avLst/>
              <a:gdLst/>
              <a:ahLst/>
              <a:cxnLst/>
              <a:rect r="r" b="b" t="t" l="l"/>
              <a:pathLst>
                <a:path h="1681460" w="3373302">
                  <a:moveTo>
                    <a:pt x="0" y="0"/>
                  </a:moveTo>
                  <a:lnTo>
                    <a:pt x="3373302" y="0"/>
                  </a:lnTo>
                  <a:lnTo>
                    <a:pt x="3373302" y="1681460"/>
                  </a:lnTo>
                  <a:lnTo>
                    <a:pt x="0" y="1681460"/>
                  </a:lnTo>
                  <a:close/>
                </a:path>
              </a:pathLst>
            </a:custGeom>
            <a:solidFill>
              <a:srgbClr val="000000">
                <a:alpha val="0"/>
              </a:srgbClr>
            </a:solidFill>
          </p:spPr>
        </p:sp>
        <p:sp>
          <p:nvSpPr>
            <p:cNvPr name="TextBox 38" id="38"/>
            <p:cNvSpPr txBox="true"/>
            <p:nvPr/>
          </p:nvSpPr>
          <p:spPr>
            <a:xfrm>
              <a:off x="0" y="-28575"/>
              <a:ext cx="3373302" cy="1710035"/>
            </a:xfrm>
            <a:prstGeom prst="rect">
              <a:avLst/>
            </a:prstGeom>
          </p:spPr>
          <p:txBody>
            <a:bodyPr anchor="t" rtlCol="false" tIns="0" lIns="0" bIns="0" rIns="0"/>
            <a:lstStyle/>
            <a:p>
              <a:pPr algn="ctr">
                <a:lnSpc>
                  <a:spcPts val="4320"/>
                </a:lnSpc>
              </a:pPr>
              <a:r>
                <a:rPr lang="en-US" sz="3600">
                  <a:solidFill>
                    <a:srgbClr val="FFFFFF">
                      <a:alpha val="33725"/>
                    </a:srgbClr>
                  </a:solidFill>
                  <a:latin typeface="Times New Roman"/>
                  <a:ea typeface="Times New Roman"/>
                  <a:cs typeface="Times New Roman"/>
                  <a:sym typeface="Times New Roman"/>
                </a:rPr>
                <a:t>Experimental Results </a:t>
              </a:r>
            </a:p>
          </p:txBody>
        </p:sp>
      </p:grpSp>
      <p:grpSp>
        <p:nvGrpSpPr>
          <p:cNvPr name="Group 39" id="39"/>
          <p:cNvGrpSpPr/>
          <p:nvPr/>
        </p:nvGrpSpPr>
        <p:grpSpPr>
          <a:xfrm rot="0">
            <a:off x="7808782" y="7130192"/>
            <a:ext cx="2654710" cy="1261095"/>
            <a:chOff x="0" y="0"/>
            <a:chExt cx="3539614" cy="1681460"/>
          </a:xfrm>
        </p:grpSpPr>
        <p:sp>
          <p:nvSpPr>
            <p:cNvPr name="Freeform 40" id="40"/>
            <p:cNvSpPr/>
            <p:nvPr/>
          </p:nvSpPr>
          <p:spPr>
            <a:xfrm flipH="false" flipV="false" rot="0">
              <a:off x="0" y="0"/>
              <a:ext cx="3539614" cy="1681460"/>
            </a:xfrm>
            <a:custGeom>
              <a:avLst/>
              <a:gdLst/>
              <a:ahLst/>
              <a:cxnLst/>
              <a:rect r="r" b="b" t="t" l="l"/>
              <a:pathLst>
                <a:path h="1681460" w="3539614">
                  <a:moveTo>
                    <a:pt x="0" y="0"/>
                  </a:moveTo>
                  <a:lnTo>
                    <a:pt x="3539614" y="0"/>
                  </a:lnTo>
                  <a:lnTo>
                    <a:pt x="3539614" y="1681460"/>
                  </a:lnTo>
                  <a:lnTo>
                    <a:pt x="0" y="1681460"/>
                  </a:lnTo>
                  <a:close/>
                </a:path>
              </a:pathLst>
            </a:custGeom>
            <a:solidFill>
              <a:srgbClr val="000000">
                <a:alpha val="0"/>
              </a:srgbClr>
            </a:solidFill>
          </p:spPr>
        </p:sp>
        <p:sp>
          <p:nvSpPr>
            <p:cNvPr name="TextBox 41" id="41"/>
            <p:cNvSpPr txBox="true"/>
            <p:nvPr/>
          </p:nvSpPr>
          <p:spPr>
            <a:xfrm>
              <a:off x="0" y="-28575"/>
              <a:ext cx="3539614" cy="1710035"/>
            </a:xfrm>
            <a:prstGeom prst="rect">
              <a:avLst/>
            </a:prstGeom>
          </p:spPr>
          <p:txBody>
            <a:bodyPr anchor="t" rtlCol="false" tIns="0" lIns="0" bIns="0" rIns="0"/>
            <a:lstStyle/>
            <a:p>
              <a:pPr algn="ctr">
                <a:lnSpc>
                  <a:spcPts val="4320"/>
                </a:lnSpc>
              </a:pPr>
              <a:r>
                <a:rPr lang="en-US" sz="3600">
                  <a:solidFill>
                    <a:srgbClr val="FFFFFF">
                      <a:alpha val="33725"/>
                    </a:srgbClr>
                  </a:solidFill>
                  <a:latin typeface="Times New Roman"/>
                  <a:ea typeface="Times New Roman"/>
                  <a:cs typeface="Times New Roman"/>
                  <a:sym typeface="Times New Roman"/>
                </a:rPr>
                <a:t>Proposed Methods</a:t>
              </a:r>
            </a:p>
          </p:txBody>
        </p:sp>
      </p:grpSp>
      <p:grpSp>
        <p:nvGrpSpPr>
          <p:cNvPr name="Group 42" id="42"/>
          <p:cNvGrpSpPr/>
          <p:nvPr/>
        </p:nvGrpSpPr>
        <p:grpSpPr>
          <a:xfrm rot="0">
            <a:off x="7806605" y="4255395"/>
            <a:ext cx="2654710" cy="2654710"/>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33725"/>
              </a:srgbClr>
            </a:solidFill>
          </p:spPr>
        </p:sp>
        <p:sp>
          <p:nvSpPr>
            <p:cNvPr name="TextBox 44" id="44"/>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45" id="45"/>
          <p:cNvSpPr/>
          <p:nvPr/>
        </p:nvSpPr>
        <p:spPr>
          <a:xfrm flipH="false" flipV="false" rot="0">
            <a:off x="8304091" y="4824315"/>
            <a:ext cx="1659740" cy="1703091"/>
          </a:xfrm>
          <a:custGeom>
            <a:avLst/>
            <a:gdLst/>
            <a:ahLst/>
            <a:cxnLst/>
            <a:rect r="r" b="b" t="t" l="l"/>
            <a:pathLst>
              <a:path h="1703091" w="1659740">
                <a:moveTo>
                  <a:pt x="0" y="0"/>
                </a:moveTo>
                <a:lnTo>
                  <a:pt x="1659740" y="0"/>
                </a:lnTo>
                <a:lnTo>
                  <a:pt x="1659740" y="1703091"/>
                </a:lnTo>
                <a:lnTo>
                  <a:pt x="0" y="1703091"/>
                </a:lnTo>
                <a:lnTo>
                  <a:pt x="0" y="0"/>
                </a:lnTo>
                <a:close/>
              </a:path>
            </a:pathLst>
          </a:custGeom>
          <a:blipFill>
            <a:blip r:embed="rId8">
              <a:alphaModFix amt="34000"/>
              <a:extLst>
                <a:ext uri="{96DAC541-7B7A-43D3-8B79-37D633B846F1}">
                  <asvg:svgBlip xmlns:asvg="http://schemas.microsoft.com/office/drawing/2016/SVG/main" r:embed="rId9"/>
                </a:ext>
              </a:extLst>
            </a:blip>
            <a:stretch>
              <a:fillRect l="0" t="0" r="0" b="0"/>
            </a:stretch>
          </a:blipFill>
        </p:spPr>
      </p:sp>
      <p:grpSp>
        <p:nvGrpSpPr>
          <p:cNvPr name="Group 46" id="46"/>
          <p:cNvGrpSpPr/>
          <p:nvPr/>
        </p:nvGrpSpPr>
        <p:grpSpPr>
          <a:xfrm rot="0">
            <a:off x="642896" y="8032202"/>
            <a:ext cx="2967992" cy="2203227"/>
            <a:chOff x="0" y="0"/>
            <a:chExt cx="3957323" cy="2937636"/>
          </a:xfrm>
        </p:grpSpPr>
        <p:sp>
          <p:nvSpPr>
            <p:cNvPr name="Freeform 47" id="47"/>
            <p:cNvSpPr/>
            <p:nvPr/>
          </p:nvSpPr>
          <p:spPr>
            <a:xfrm flipH="false" flipV="false" rot="0">
              <a:off x="0" y="0"/>
              <a:ext cx="3957323" cy="2937636"/>
            </a:xfrm>
            <a:custGeom>
              <a:avLst/>
              <a:gdLst/>
              <a:ahLst/>
              <a:cxnLst/>
              <a:rect r="r" b="b" t="t" l="l"/>
              <a:pathLst>
                <a:path h="2937636" w="3957323">
                  <a:moveTo>
                    <a:pt x="0" y="0"/>
                  </a:moveTo>
                  <a:lnTo>
                    <a:pt x="3957323" y="0"/>
                  </a:lnTo>
                  <a:lnTo>
                    <a:pt x="3957323" y="2937636"/>
                  </a:lnTo>
                  <a:lnTo>
                    <a:pt x="0" y="2937636"/>
                  </a:lnTo>
                  <a:close/>
                </a:path>
              </a:pathLst>
            </a:custGeom>
            <a:solidFill>
              <a:srgbClr val="000000">
                <a:alpha val="0"/>
              </a:srgbClr>
            </a:solidFill>
          </p:spPr>
        </p:sp>
        <p:sp>
          <p:nvSpPr>
            <p:cNvPr name="TextBox 48" id="48"/>
            <p:cNvSpPr txBox="true"/>
            <p:nvPr/>
          </p:nvSpPr>
          <p:spPr>
            <a:xfrm>
              <a:off x="0" y="-19050"/>
              <a:ext cx="3957323" cy="2956686"/>
            </a:xfrm>
            <a:prstGeom prst="rect">
              <a:avLst/>
            </a:prstGeom>
          </p:spPr>
          <p:txBody>
            <a:bodyPr anchor="t" rtlCol="false" tIns="0" lIns="0" bIns="0" rIns="0"/>
            <a:lstStyle/>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Background</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Motivation</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Research Aims</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Challenges</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Contribution</a:t>
              </a:r>
            </a:p>
            <a:p>
              <a:pPr algn="l">
                <a:lnSpc>
                  <a:spcPts val="4320"/>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1231581" y="542925"/>
            <a:ext cx="3809295" cy="950830"/>
            <a:chOff x="0" y="0"/>
            <a:chExt cx="3275984" cy="817711"/>
          </a:xfrm>
        </p:grpSpPr>
        <p:sp>
          <p:nvSpPr>
            <p:cNvPr name="Freeform 3" id="3"/>
            <p:cNvSpPr/>
            <p:nvPr/>
          </p:nvSpPr>
          <p:spPr>
            <a:xfrm flipH="false" flipV="false" rot="0">
              <a:off x="0" y="0"/>
              <a:ext cx="3275984" cy="817711"/>
            </a:xfrm>
            <a:custGeom>
              <a:avLst/>
              <a:gdLst/>
              <a:ahLst/>
              <a:cxnLst/>
              <a:rect r="r" b="b" t="t" l="l"/>
              <a:pathLst>
                <a:path h="817711" w="3275984">
                  <a:moveTo>
                    <a:pt x="0" y="0"/>
                  </a:moveTo>
                  <a:lnTo>
                    <a:pt x="3275984" y="0"/>
                  </a:lnTo>
                  <a:lnTo>
                    <a:pt x="3275984" y="817711"/>
                  </a:lnTo>
                  <a:lnTo>
                    <a:pt x="0" y="817711"/>
                  </a:lnTo>
                  <a:close/>
                </a:path>
              </a:pathLst>
            </a:custGeom>
            <a:solidFill>
              <a:srgbClr val="000000">
                <a:alpha val="0"/>
              </a:srgbClr>
            </a:solidFill>
          </p:spPr>
        </p:sp>
        <p:sp>
          <p:nvSpPr>
            <p:cNvPr name="TextBox 4" id="4"/>
            <p:cNvSpPr txBox="true"/>
            <p:nvPr/>
          </p:nvSpPr>
          <p:spPr>
            <a:xfrm>
              <a:off x="0" y="-19050"/>
              <a:ext cx="3275984"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Background</a:t>
              </a:r>
            </a:p>
          </p:txBody>
        </p:sp>
      </p:grpSp>
      <p:grpSp>
        <p:nvGrpSpPr>
          <p:cNvPr name="Group 5" id="5"/>
          <p:cNvGrpSpPr/>
          <p:nvPr/>
        </p:nvGrpSpPr>
        <p:grpSpPr>
          <a:xfrm rot="0">
            <a:off x="0" y="619125"/>
            <a:ext cx="68578" cy="807913"/>
            <a:chOff x="0" y="0"/>
            <a:chExt cx="91438" cy="1077218"/>
          </a:xfrm>
        </p:grpSpPr>
        <p:sp>
          <p:nvSpPr>
            <p:cNvPr name="Freeform 6" id="6"/>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7" id="7"/>
          <p:cNvGrpSpPr/>
          <p:nvPr/>
        </p:nvGrpSpPr>
        <p:grpSpPr>
          <a:xfrm rot="0">
            <a:off x="171448" y="619125"/>
            <a:ext cx="928688" cy="807913"/>
            <a:chOff x="0" y="0"/>
            <a:chExt cx="1238250" cy="1077218"/>
          </a:xfrm>
        </p:grpSpPr>
        <p:sp>
          <p:nvSpPr>
            <p:cNvPr name="Freeform 8" id="8"/>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9" id="9"/>
          <p:cNvGrpSpPr/>
          <p:nvPr/>
        </p:nvGrpSpPr>
        <p:grpSpPr>
          <a:xfrm rot="0">
            <a:off x="1028700" y="2224935"/>
            <a:ext cx="17041200" cy="6832800"/>
            <a:chOff x="0" y="0"/>
            <a:chExt cx="22721600" cy="9110400"/>
          </a:xfrm>
        </p:grpSpPr>
        <p:sp>
          <p:nvSpPr>
            <p:cNvPr name="Freeform 10" id="10"/>
            <p:cNvSpPr/>
            <p:nvPr/>
          </p:nvSpPr>
          <p:spPr>
            <a:xfrm flipH="false" flipV="false" rot="0">
              <a:off x="0" y="0"/>
              <a:ext cx="22721601" cy="9110400"/>
            </a:xfrm>
            <a:custGeom>
              <a:avLst/>
              <a:gdLst/>
              <a:ahLst/>
              <a:cxnLst/>
              <a:rect r="r" b="b" t="t" l="l"/>
              <a:pathLst>
                <a:path h="9110400" w="22721601">
                  <a:moveTo>
                    <a:pt x="0" y="0"/>
                  </a:moveTo>
                  <a:lnTo>
                    <a:pt x="22721601" y="0"/>
                  </a:lnTo>
                  <a:lnTo>
                    <a:pt x="22721601" y="9110400"/>
                  </a:lnTo>
                  <a:lnTo>
                    <a:pt x="0" y="9110400"/>
                  </a:lnTo>
                  <a:close/>
                </a:path>
              </a:pathLst>
            </a:custGeom>
            <a:solidFill>
              <a:srgbClr val="000000">
                <a:alpha val="0"/>
              </a:srgbClr>
            </a:solidFill>
          </p:spPr>
        </p:sp>
        <p:sp>
          <p:nvSpPr>
            <p:cNvPr name="TextBox 11" id="11"/>
            <p:cNvSpPr txBox="true"/>
            <p:nvPr/>
          </p:nvSpPr>
          <p:spPr>
            <a:xfrm>
              <a:off x="0" y="-200025"/>
              <a:ext cx="22721600" cy="9310425"/>
            </a:xfrm>
            <a:prstGeom prst="rect">
              <a:avLst/>
            </a:prstGeom>
          </p:spPr>
          <p:txBody>
            <a:bodyPr anchor="t" rtlCol="false" tIns="0" lIns="0" bIns="0" rIns="0"/>
            <a:lstStyle/>
            <a:p>
              <a:pPr algn="l" marL="647702" indent="-323851" lvl="1">
                <a:lnSpc>
                  <a:spcPts val="5400"/>
                </a:lnSpc>
                <a:buFont typeface="Arial"/>
                <a:buChar char="•"/>
              </a:pPr>
              <a:r>
                <a:rPr lang="en-US" sz="3000">
                  <a:solidFill>
                    <a:srgbClr val="FFA3A3"/>
                  </a:solidFill>
                  <a:latin typeface="Times New Roman"/>
                  <a:ea typeface="Times New Roman"/>
                  <a:cs typeface="Times New Roman"/>
                  <a:sym typeface="Times New Roman"/>
                </a:rPr>
                <a:t>Metastasis matters. </a:t>
              </a:r>
              <a:r>
                <a:rPr lang="en-US" sz="3000">
                  <a:solidFill>
                    <a:srgbClr val="FFFFFF"/>
                  </a:solidFill>
                  <a:latin typeface="Times New Roman"/>
                  <a:ea typeface="Times New Roman"/>
                  <a:cs typeface="Times New Roman"/>
                  <a:sym typeface="Times New Roman"/>
                </a:rPr>
                <a:t>Lymph-node metastasis is a key prognostic factor and drives treatment decisions in many cancers (e.g., breast cancer).</a:t>
              </a:r>
            </a:p>
            <a:p>
              <a:pPr algn="l" marL="647702" indent="-323851" lvl="1">
                <a:lnSpc>
                  <a:spcPts val="5400"/>
                </a:lnSpc>
                <a:buFont typeface="Arial"/>
                <a:buChar char="•"/>
              </a:pPr>
              <a:r>
                <a:rPr lang="en-US" sz="3000">
                  <a:solidFill>
                    <a:srgbClr val="FFA3A3"/>
                  </a:solidFill>
                  <a:latin typeface="Times New Roman"/>
                  <a:ea typeface="Times New Roman"/>
                  <a:cs typeface="Times New Roman"/>
                  <a:sym typeface="Times New Roman"/>
                </a:rPr>
                <a:t>Histop</a:t>
              </a:r>
              <a:r>
                <a:rPr lang="en-US" sz="3000">
                  <a:solidFill>
                    <a:srgbClr val="FFA3A3"/>
                  </a:solidFill>
                  <a:latin typeface="Times New Roman"/>
                  <a:ea typeface="Times New Roman"/>
                  <a:cs typeface="Times New Roman"/>
                  <a:sym typeface="Times New Roman"/>
                </a:rPr>
                <a:t>athology is the gold standard. </a:t>
              </a:r>
              <a:r>
                <a:rPr lang="en-US" sz="3000">
                  <a:solidFill>
                    <a:srgbClr val="FFFFFF"/>
                  </a:solidFill>
                  <a:latin typeface="Times New Roman"/>
                  <a:ea typeface="Times New Roman"/>
                  <a:cs typeface="Times New Roman"/>
                  <a:sym typeface="Times New Roman"/>
                </a:rPr>
                <a:t>Pathologists read H&amp;E slides, but WSI are huge; manual screening is time-consuming and subject to fatigue/variability.</a:t>
              </a:r>
            </a:p>
            <a:p>
              <a:pPr algn="l" marL="647702" indent="-323851" lvl="1">
                <a:lnSpc>
                  <a:spcPts val="5400"/>
                </a:lnSpc>
                <a:buFont typeface="Arial"/>
                <a:buChar char="•"/>
              </a:pPr>
              <a:r>
                <a:rPr lang="en-US" sz="3000">
                  <a:solidFill>
                    <a:srgbClr val="FFA3A3"/>
                  </a:solidFill>
                  <a:latin typeface="Times New Roman"/>
                  <a:ea typeface="Times New Roman"/>
                  <a:cs typeface="Times New Roman"/>
                  <a:sym typeface="Times New Roman"/>
                </a:rPr>
                <a:t>Ou</a:t>
              </a:r>
              <a:r>
                <a:rPr lang="en-US" sz="3000">
                  <a:solidFill>
                    <a:srgbClr val="FFA3A3"/>
                  </a:solidFill>
                  <a:latin typeface="Times New Roman"/>
                  <a:ea typeface="Times New Roman"/>
                  <a:cs typeface="Times New Roman"/>
                  <a:sym typeface="Times New Roman"/>
                </a:rPr>
                <a:t>r dataset &amp; task. </a:t>
              </a:r>
              <a:r>
                <a:rPr lang="en-US" sz="3000">
                  <a:solidFill>
                    <a:srgbClr val="FFFFFF"/>
                  </a:solidFill>
                  <a:latin typeface="Times New Roman"/>
                  <a:ea typeface="Times New Roman"/>
                  <a:cs typeface="Times New Roman"/>
                  <a:sym typeface="Times New Roman"/>
                </a:rPr>
                <a:t>We use</a:t>
              </a:r>
              <a:r>
                <a:rPr lang="en-US" sz="3000">
                  <a:solidFill>
                    <a:srgbClr val="FFA3A3"/>
                  </a:solidFill>
                  <a:latin typeface="Times New Roman"/>
                  <a:ea typeface="Times New Roman"/>
                  <a:cs typeface="Times New Roman"/>
                  <a:sym typeface="Times New Roman"/>
                </a:rPr>
                <a:t> Kaggle – Histopathologic Cancer Detection (HCD)</a:t>
              </a:r>
              <a:r>
                <a:rPr lang="en-US" sz="3000">
                  <a:solidFill>
                    <a:srgbClr val="FFFFFF"/>
                  </a:solidFill>
                  <a:latin typeface="Times New Roman"/>
                  <a:ea typeface="Times New Roman"/>
                  <a:cs typeface="Times New Roman"/>
                  <a:sym typeface="Times New Roman"/>
                </a:rPr>
                <a:t>: 96×96 H&amp;E patches; </a:t>
              </a:r>
              <a:r>
                <a:rPr lang="en-US" sz="3000">
                  <a:solidFill>
                    <a:srgbClr val="FFA3A3"/>
                  </a:solidFill>
                  <a:latin typeface="Times New Roman"/>
                  <a:ea typeface="Times New Roman"/>
                  <a:cs typeface="Times New Roman"/>
                  <a:sym typeface="Times New Roman"/>
                </a:rPr>
                <a:t>binary label </a:t>
              </a:r>
              <a:r>
                <a:rPr lang="en-US" sz="3000">
                  <a:solidFill>
                    <a:srgbClr val="FFFFFF"/>
                  </a:solidFill>
                  <a:latin typeface="Times New Roman"/>
                  <a:ea typeface="Times New Roman"/>
                  <a:cs typeface="Times New Roman"/>
                  <a:sym typeface="Times New Roman"/>
                </a:rPr>
                <a:t>indicates whether the</a:t>
              </a:r>
              <a:r>
                <a:rPr lang="en-US" sz="3000">
                  <a:solidFill>
                    <a:srgbClr val="FFA3A3"/>
                  </a:solidFill>
                  <a:latin typeface="Times New Roman"/>
                  <a:ea typeface="Times New Roman"/>
                  <a:cs typeface="Times New Roman"/>
                  <a:sym typeface="Times New Roman"/>
                </a:rPr>
                <a:t> central region </a:t>
              </a:r>
              <a:r>
                <a:rPr lang="en-US" sz="3000">
                  <a:solidFill>
                    <a:srgbClr val="FFFFFF"/>
                  </a:solidFill>
                  <a:latin typeface="Times New Roman"/>
                  <a:ea typeface="Times New Roman"/>
                  <a:cs typeface="Times New Roman"/>
                  <a:sym typeface="Times New Roman"/>
                </a:rPr>
                <a:t>contains metastatic tumor cells (1/0).</a:t>
              </a:r>
            </a:p>
            <a:p>
              <a:pPr algn="l" marL="2452551" indent="-817517" lvl="2">
                <a:lnSpc>
                  <a:spcPts val="4320"/>
                </a:lnSpc>
              </a:pPr>
            </a:p>
          </p:txBody>
        </p:sp>
      </p:grpSp>
      <p:grpSp>
        <p:nvGrpSpPr>
          <p:cNvPr name="Group 12" id="12"/>
          <p:cNvGrpSpPr/>
          <p:nvPr/>
        </p:nvGrpSpPr>
        <p:grpSpPr>
          <a:xfrm rot="0">
            <a:off x="12307500" y="4286125"/>
            <a:ext cx="584852" cy="1355210"/>
            <a:chOff x="0" y="0"/>
            <a:chExt cx="779803" cy="1806947"/>
          </a:xfrm>
        </p:grpSpPr>
        <p:sp>
          <p:nvSpPr>
            <p:cNvPr name="Freeform 13" id="13"/>
            <p:cNvSpPr/>
            <p:nvPr/>
          </p:nvSpPr>
          <p:spPr>
            <a:xfrm flipH="false" flipV="false" rot="0">
              <a:off x="0" y="0"/>
              <a:ext cx="779803" cy="1806947"/>
            </a:xfrm>
            <a:custGeom>
              <a:avLst/>
              <a:gdLst/>
              <a:ahLst/>
              <a:cxnLst/>
              <a:rect r="r" b="b" t="t" l="l"/>
              <a:pathLst>
                <a:path h="1806947" w="779803">
                  <a:moveTo>
                    <a:pt x="0" y="0"/>
                  </a:moveTo>
                  <a:lnTo>
                    <a:pt x="779803" y="0"/>
                  </a:lnTo>
                  <a:lnTo>
                    <a:pt x="779803" y="1806947"/>
                  </a:lnTo>
                  <a:lnTo>
                    <a:pt x="0" y="1806947"/>
                  </a:lnTo>
                  <a:close/>
                </a:path>
              </a:pathLst>
            </a:custGeom>
            <a:solidFill>
              <a:srgbClr val="000000">
                <a:alpha val="0"/>
              </a:srgbClr>
            </a:solidFill>
          </p:spPr>
        </p:sp>
        <p:sp>
          <p:nvSpPr>
            <p:cNvPr name="TextBox 14" id="14"/>
            <p:cNvSpPr txBox="true"/>
            <p:nvPr/>
          </p:nvSpPr>
          <p:spPr>
            <a:xfrm>
              <a:off x="0" y="-19050"/>
              <a:ext cx="779803" cy="1825997"/>
            </a:xfrm>
            <a:prstGeom prst="rect">
              <a:avLst/>
            </a:prstGeom>
          </p:spPr>
          <p:txBody>
            <a:bodyPr anchor="t" rtlCol="false" tIns="0" lIns="0" bIns="0" rIns="0"/>
            <a:lstStyle/>
            <a:p>
              <a:pPr algn="l">
                <a:lnSpc>
                  <a:spcPts val="1439"/>
                </a:lnSpc>
              </a:pPr>
            </a:p>
          </p:txBody>
        </p:sp>
      </p:grpSp>
      <p:grpSp>
        <p:nvGrpSpPr>
          <p:cNvPr name="Group 15" id="15"/>
          <p:cNvGrpSpPr/>
          <p:nvPr/>
        </p:nvGrpSpPr>
        <p:grpSpPr>
          <a:xfrm rot="0">
            <a:off x="12309079" y="4533735"/>
            <a:ext cx="4516800" cy="553800"/>
            <a:chOff x="0" y="0"/>
            <a:chExt cx="6022400" cy="738400"/>
          </a:xfrm>
        </p:grpSpPr>
        <p:sp>
          <p:nvSpPr>
            <p:cNvPr name="Freeform 16" id="16"/>
            <p:cNvSpPr/>
            <p:nvPr/>
          </p:nvSpPr>
          <p:spPr>
            <a:xfrm flipH="false" flipV="false" rot="0">
              <a:off x="0" y="0"/>
              <a:ext cx="6022400" cy="738400"/>
            </a:xfrm>
            <a:custGeom>
              <a:avLst/>
              <a:gdLst/>
              <a:ahLst/>
              <a:cxnLst/>
              <a:rect r="r" b="b" t="t" l="l"/>
              <a:pathLst>
                <a:path h="738400" w="6022400">
                  <a:moveTo>
                    <a:pt x="0" y="0"/>
                  </a:moveTo>
                  <a:lnTo>
                    <a:pt x="6022400" y="0"/>
                  </a:lnTo>
                  <a:lnTo>
                    <a:pt x="6022400" y="738400"/>
                  </a:lnTo>
                  <a:lnTo>
                    <a:pt x="0" y="738400"/>
                  </a:lnTo>
                  <a:close/>
                </a:path>
              </a:pathLst>
            </a:custGeom>
            <a:solidFill>
              <a:srgbClr val="000000">
                <a:alpha val="0"/>
              </a:srgbClr>
            </a:solidFill>
          </p:spPr>
        </p:sp>
        <p:sp>
          <p:nvSpPr>
            <p:cNvPr name="TextBox 17" id="17"/>
            <p:cNvSpPr txBox="true"/>
            <p:nvPr/>
          </p:nvSpPr>
          <p:spPr>
            <a:xfrm>
              <a:off x="0" y="-19050"/>
              <a:ext cx="6022400" cy="757450"/>
            </a:xfrm>
            <a:prstGeom prst="rect">
              <a:avLst/>
            </a:prstGeom>
          </p:spPr>
          <p:txBody>
            <a:bodyPr anchor="t" rtlCol="false" tIns="0" lIns="0" bIns="0" rIns="0"/>
            <a:lstStyle/>
            <a:p>
              <a:pPr algn="ctr">
                <a:lnSpc>
                  <a:spcPts val="1439"/>
                </a:lnSpc>
              </a:pPr>
            </a:p>
          </p:txBody>
        </p:sp>
      </p:grpSp>
      <p:sp>
        <p:nvSpPr>
          <p:cNvPr name="Freeform 18" id="18"/>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7847303" y="9694902"/>
            <a:ext cx="1268668" cy="2170263"/>
            <a:chOff x="0" y="0"/>
            <a:chExt cx="431800" cy="738664"/>
          </a:xfrm>
        </p:grpSpPr>
        <p:sp>
          <p:nvSpPr>
            <p:cNvPr name="Freeform 20" id="20"/>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21" id="21"/>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4</a:t>
              </a:r>
            </a:p>
          </p:txBody>
        </p:sp>
      </p:grpSp>
      <p:sp>
        <p:nvSpPr>
          <p:cNvPr name="Freeform 22" id="22"/>
          <p:cNvSpPr/>
          <p:nvPr/>
        </p:nvSpPr>
        <p:spPr>
          <a:xfrm flipH="false" flipV="false" rot="0">
            <a:off x="4115809" y="6386815"/>
            <a:ext cx="3984272" cy="2871485"/>
          </a:xfrm>
          <a:custGeom>
            <a:avLst/>
            <a:gdLst/>
            <a:ahLst/>
            <a:cxnLst/>
            <a:rect r="r" b="b" t="t" l="l"/>
            <a:pathLst>
              <a:path h="2871485" w="3984272">
                <a:moveTo>
                  <a:pt x="0" y="0"/>
                </a:moveTo>
                <a:lnTo>
                  <a:pt x="3984272" y="0"/>
                </a:lnTo>
                <a:lnTo>
                  <a:pt x="3984272" y="2871485"/>
                </a:lnTo>
                <a:lnTo>
                  <a:pt x="0" y="2871485"/>
                </a:lnTo>
                <a:lnTo>
                  <a:pt x="0" y="0"/>
                </a:lnTo>
                <a:close/>
              </a:path>
            </a:pathLst>
          </a:custGeom>
          <a:blipFill>
            <a:blip r:embed="rId5"/>
            <a:stretch>
              <a:fillRect l="0" t="-9335" r="-7305" b="-9335"/>
            </a:stretch>
          </a:blipFill>
        </p:spPr>
      </p:sp>
      <p:sp>
        <p:nvSpPr>
          <p:cNvPr name="Freeform 23" id="23"/>
          <p:cNvSpPr/>
          <p:nvPr/>
        </p:nvSpPr>
        <p:spPr>
          <a:xfrm flipH="false" flipV="false" rot="0">
            <a:off x="12599926" y="6587380"/>
            <a:ext cx="2670920" cy="2670920"/>
          </a:xfrm>
          <a:custGeom>
            <a:avLst/>
            <a:gdLst/>
            <a:ahLst/>
            <a:cxnLst/>
            <a:rect r="r" b="b" t="t" l="l"/>
            <a:pathLst>
              <a:path h="2670920" w="2670920">
                <a:moveTo>
                  <a:pt x="0" y="0"/>
                </a:moveTo>
                <a:lnTo>
                  <a:pt x="2670920" y="0"/>
                </a:lnTo>
                <a:lnTo>
                  <a:pt x="2670920" y="2670920"/>
                </a:lnTo>
                <a:lnTo>
                  <a:pt x="0" y="2670920"/>
                </a:lnTo>
                <a:lnTo>
                  <a:pt x="0" y="0"/>
                </a:lnTo>
                <a:close/>
              </a:path>
            </a:pathLst>
          </a:custGeom>
          <a:blipFill>
            <a:blip r:embed="rId6"/>
            <a:stretch>
              <a:fillRect l="0" t="0" r="0" b="0"/>
            </a:stretch>
          </a:blipFill>
        </p:spPr>
      </p:sp>
      <p:sp>
        <p:nvSpPr>
          <p:cNvPr name="Freeform 24" id="24"/>
          <p:cNvSpPr/>
          <p:nvPr/>
        </p:nvSpPr>
        <p:spPr>
          <a:xfrm flipH="false" flipV="false" rot="0">
            <a:off x="15270846" y="6587380"/>
            <a:ext cx="2763021" cy="2670920"/>
          </a:xfrm>
          <a:custGeom>
            <a:avLst/>
            <a:gdLst/>
            <a:ahLst/>
            <a:cxnLst/>
            <a:rect r="r" b="b" t="t" l="l"/>
            <a:pathLst>
              <a:path h="2670920" w="2763021">
                <a:moveTo>
                  <a:pt x="0" y="0"/>
                </a:moveTo>
                <a:lnTo>
                  <a:pt x="2763021" y="0"/>
                </a:lnTo>
                <a:lnTo>
                  <a:pt x="2763021" y="2670920"/>
                </a:lnTo>
                <a:lnTo>
                  <a:pt x="0" y="2670920"/>
                </a:lnTo>
                <a:lnTo>
                  <a:pt x="0" y="0"/>
                </a:lnTo>
                <a:close/>
              </a:path>
            </a:pathLst>
          </a:custGeom>
          <a:blipFill>
            <a:blip r:embed="rId7"/>
            <a:stretch>
              <a:fillRect l="0" t="0" r="0" b="0"/>
            </a:stretch>
          </a:blipFill>
        </p:spPr>
      </p:sp>
      <p:sp>
        <p:nvSpPr>
          <p:cNvPr name="TextBox 25" id="25"/>
          <p:cNvSpPr txBox="true"/>
          <p:nvPr/>
        </p:nvSpPr>
        <p:spPr>
          <a:xfrm rot="0">
            <a:off x="495221" y="7717401"/>
            <a:ext cx="4115809" cy="428625"/>
          </a:xfrm>
          <a:prstGeom prst="rect">
            <a:avLst/>
          </a:prstGeom>
        </p:spPr>
        <p:txBody>
          <a:bodyPr anchor="t" rtlCol="false" tIns="0" lIns="0" bIns="0" rIns="0">
            <a:spAutoFit/>
          </a:bodyPr>
          <a:lstStyle/>
          <a:p>
            <a:pPr algn="ctr">
              <a:lnSpc>
                <a:spcPts val="3240"/>
              </a:lnSpc>
              <a:spcBef>
                <a:spcPct val="0"/>
              </a:spcBef>
            </a:pPr>
            <a:r>
              <a:rPr lang="en-US" b="true" sz="2700">
                <a:solidFill>
                  <a:srgbClr val="FFFFFF"/>
                </a:solidFill>
                <a:latin typeface="Times New Roman Bold"/>
                <a:ea typeface="Times New Roman Bold"/>
                <a:cs typeface="Times New Roman Bold"/>
                <a:sym typeface="Times New Roman Bold"/>
              </a:rPr>
              <a:t>a.Metastasis</a:t>
            </a:r>
          </a:p>
        </p:txBody>
      </p:sp>
      <p:sp>
        <p:nvSpPr>
          <p:cNvPr name="TextBox 26" id="26"/>
          <p:cNvSpPr txBox="true"/>
          <p:nvPr/>
        </p:nvSpPr>
        <p:spPr>
          <a:xfrm rot="0">
            <a:off x="-659722" y="9486137"/>
            <a:ext cx="10209022" cy="320657"/>
          </a:xfrm>
          <a:prstGeom prst="rect">
            <a:avLst/>
          </a:prstGeom>
        </p:spPr>
        <p:txBody>
          <a:bodyPr anchor="t" rtlCol="false" tIns="0" lIns="0" bIns="0" rIns="0">
            <a:spAutoFit/>
          </a:bodyPr>
          <a:lstStyle/>
          <a:p>
            <a:pPr algn="ctr">
              <a:lnSpc>
                <a:spcPts val="2461"/>
              </a:lnSpc>
              <a:spcBef>
                <a:spcPct val="0"/>
              </a:spcBef>
            </a:pPr>
            <a:r>
              <a:rPr lang="en-US" sz="2051">
                <a:solidFill>
                  <a:srgbClr val="FFFFFF"/>
                </a:solidFill>
                <a:latin typeface="Times New Roman"/>
                <a:ea typeface="Times New Roman"/>
                <a:cs typeface="Times New Roman"/>
                <a:sym typeface="Times New Roman"/>
              </a:rPr>
              <a:t>ref:</a:t>
            </a:r>
            <a:r>
              <a:rPr lang="en-US" b="true" sz="2051" u="sng">
                <a:solidFill>
                  <a:srgbClr val="004AAD"/>
                </a:solidFill>
                <a:latin typeface="Times New Roman Bold"/>
                <a:ea typeface="Times New Roman Bold"/>
                <a:cs typeface="Times New Roman Bold"/>
                <a:sym typeface="Times New Roman Bold"/>
                <a:hlinkClick r:id="rId8" tooltip="https://visualsonline.cancer.gov/details.cfm?imageid=9803&amp;utm_source=chatgpt.com"/>
              </a:rPr>
              <a:t>https://visualsonline.cancer.gov/details.cfm?</a:t>
            </a:r>
            <a:r>
              <a:rPr lang="en-US" b="true" sz="2051">
                <a:solidFill>
                  <a:srgbClr val="004AAD"/>
                </a:solidFill>
                <a:latin typeface="Times New Roman Bold"/>
                <a:ea typeface="Times New Roman Bold"/>
                <a:cs typeface="Times New Roman Bold"/>
                <a:sym typeface="Times New Roman Bold"/>
              </a:rPr>
              <a:t>imageid=9803&amp;utm_source=chatgpt.com</a:t>
            </a:r>
          </a:p>
        </p:txBody>
      </p:sp>
      <p:sp>
        <p:nvSpPr>
          <p:cNvPr name="TextBox 27" id="27"/>
          <p:cNvSpPr txBox="true"/>
          <p:nvPr/>
        </p:nvSpPr>
        <p:spPr>
          <a:xfrm rot="0">
            <a:off x="8484118" y="7717401"/>
            <a:ext cx="4115809" cy="838200"/>
          </a:xfrm>
          <a:prstGeom prst="rect">
            <a:avLst/>
          </a:prstGeom>
        </p:spPr>
        <p:txBody>
          <a:bodyPr anchor="t" rtlCol="false" tIns="0" lIns="0" bIns="0" rIns="0">
            <a:spAutoFit/>
          </a:bodyPr>
          <a:lstStyle/>
          <a:p>
            <a:pPr algn="ctr">
              <a:lnSpc>
                <a:spcPts val="3240"/>
              </a:lnSpc>
            </a:pPr>
            <a:r>
              <a:rPr lang="en-US" sz="2700" b="true">
                <a:solidFill>
                  <a:srgbClr val="FFFFFF"/>
                </a:solidFill>
                <a:latin typeface="Times New Roman Bold"/>
                <a:ea typeface="Times New Roman Bold"/>
                <a:cs typeface="Times New Roman Bold"/>
                <a:sym typeface="Times New Roman Bold"/>
              </a:rPr>
              <a:t>b.H&amp;E patch examples</a:t>
            </a:r>
          </a:p>
          <a:p>
            <a:pPr algn="ctr">
              <a:lnSpc>
                <a:spcPts val="3240"/>
              </a:lnSpc>
              <a:spcBef>
                <a:spcPct val="0"/>
              </a:spcBef>
            </a:pPr>
            <a:r>
              <a:rPr lang="en-US" b="true" sz="2700">
                <a:solidFill>
                  <a:srgbClr val="FFFFFF"/>
                </a:solidFill>
                <a:latin typeface="Times New Roman Bold"/>
                <a:ea typeface="Times New Roman Bold"/>
                <a:cs typeface="Times New Roman Bold"/>
                <a:sym typeface="Times New Roman Bold"/>
              </a:rPr>
              <a:t>(pos/neg)</a:t>
            </a:r>
          </a:p>
        </p:txBody>
      </p:sp>
      <p:sp>
        <p:nvSpPr>
          <p:cNvPr name="TextBox 28" id="28"/>
          <p:cNvSpPr txBox="true"/>
          <p:nvPr/>
        </p:nvSpPr>
        <p:spPr>
          <a:xfrm rot="0">
            <a:off x="8719640" y="9492468"/>
            <a:ext cx="9127662" cy="314325"/>
          </a:xfrm>
          <a:prstGeom prst="rect">
            <a:avLst/>
          </a:prstGeom>
        </p:spPr>
        <p:txBody>
          <a:bodyPr anchor="t" rtlCol="false" tIns="0" lIns="0" bIns="0" rIns="0">
            <a:spAutoFit/>
          </a:bodyPr>
          <a:lstStyle/>
          <a:p>
            <a:pPr algn="ctr">
              <a:lnSpc>
                <a:spcPts val="2459"/>
              </a:lnSpc>
              <a:spcBef>
                <a:spcPct val="0"/>
              </a:spcBef>
            </a:pPr>
            <a:r>
              <a:rPr lang="en-US" b="true" sz="2049">
                <a:solidFill>
                  <a:srgbClr val="FFFFFF"/>
                </a:solidFill>
                <a:latin typeface="Times New Roman Bold"/>
                <a:ea typeface="Times New Roman Bold"/>
                <a:cs typeface="Times New Roman Bold"/>
                <a:sym typeface="Times New Roman Bold"/>
              </a:rPr>
              <a:t>ref:</a:t>
            </a:r>
            <a:r>
              <a:rPr lang="en-US" b="true" sz="2049" u="sng">
                <a:solidFill>
                  <a:srgbClr val="004AAD"/>
                </a:solidFill>
                <a:latin typeface="Times New Roman Bold"/>
                <a:ea typeface="Times New Roman Bold"/>
                <a:cs typeface="Times New Roman Bold"/>
                <a:sym typeface="Times New Roman Bold"/>
                <a:hlinkClick r:id="rId9" tooltip="https://www.kaggle.com/competitions/histopathologic-cancer-detection"/>
              </a:rPr>
              <a:t>https://www.kaggle.com/competitions/histopathologic-cancer-detection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8" cy="807913"/>
            <a:chOff x="0" y="0"/>
            <a:chExt cx="91438" cy="1077218"/>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3"/>
            <a:chOff x="0" y="0"/>
            <a:chExt cx="1238250" cy="1077218"/>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6" id="6"/>
          <p:cNvGrpSpPr/>
          <p:nvPr/>
        </p:nvGrpSpPr>
        <p:grpSpPr>
          <a:xfrm rot="0">
            <a:off x="7871002" y="2552700"/>
            <a:ext cx="10416998" cy="5829300"/>
            <a:chOff x="0" y="0"/>
            <a:chExt cx="13889330" cy="7772400"/>
          </a:xfrm>
        </p:grpSpPr>
        <p:sp>
          <p:nvSpPr>
            <p:cNvPr name="Freeform 7" id="7"/>
            <p:cNvSpPr/>
            <p:nvPr/>
          </p:nvSpPr>
          <p:spPr>
            <a:xfrm flipH="false" flipV="false" rot="0">
              <a:off x="0" y="0"/>
              <a:ext cx="13889331" cy="7772400"/>
            </a:xfrm>
            <a:custGeom>
              <a:avLst/>
              <a:gdLst/>
              <a:ahLst/>
              <a:cxnLst/>
              <a:rect r="r" b="b" t="t" l="l"/>
              <a:pathLst>
                <a:path h="7772400" w="13889331">
                  <a:moveTo>
                    <a:pt x="0" y="0"/>
                  </a:moveTo>
                  <a:lnTo>
                    <a:pt x="13889331" y="0"/>
                  </a:lnTo>
                  <a:lnTo>
                    <a:pt x="13889331" y="7772400"/>
                  </a:lnTo>
                  <a:lnTo>
                    <a:pt x="0" y="7772400"/>
                  </a:lnTo>
                  <a:close/>
                </a:path>
              </a:pathLst>
            </a:custGeom>
            <a:solidFill>
              <a:srgbClr val="F7B902"/>
            </a:solidFill>
          </p:spPr>
        </p:sp>
      </p:grpSp>
      <p:grpSp>
        <p:nvGrpSpPr>
          <p:cNvPr name="Group 8" id="8"/>
          <p:cNvGrpSpPr/>
          <p:nvPr/>
        </p:nvGrpSpPr>
        <p:grpSpPr>
          <a:xfrm rot="0">
            <a:off x="10271627" y="3245837"/>
            <a:ext cx="6236493" cy="1107996"/>
            <a:chOff x="0" y="0"/>
            <a:chExt cx="8315324" cy="1477328"/>
          </a:xfrm>
        </p:grpSpPr>
        <p:sp>
          <p:nvSpPr>
            <p:cNvPr name="Freeform 9" id="9"/>
            <p:cNvSpPr/>
            <p:nvPr/>
          </p:nvSpPr>
          <p:spPr>
            <a:xfrm flipH="false" flipV="false" rot="0">
              <a:off x="0" y="0"/>
              <a:ext cx="8315324" cy="1477328"/>
            </a:xfrm>
            <a:custGeom>
              <a:avLst/>
              <a:gdLst/>
              <a:ahLst/>
              <a:cxnLst/>
              <a:rect r="r" b="b" t="t" l="l"/>
              <a:pathLst>
                <a:path h="1477328" w="8315324">
                  <a:moveTo>
                    <a:pt x="0" y="0"/>
                  </a:moveTo>
                  <a:lnTo>
                    <a:pt x="8315324" y="0"/>
                  </a:lnTo>
                  <a:lnTo>
                    <a:pt x="8315324" y="1477328"/>
                  </a:lnTo>
                  <a:lnTo>
                    <a:pt x="0" y="1477328"/>
                  </a:lnTo>
                  <a:close/>
                </a:path>
              </a:pathLst>
            </a:custGeom>
            <a:solidFill>
              <a:srgbClr val="000000">
                <a:alpha val="0"/>
              </a:srgbClr>
            </a:solidFill>
          </p:spPr>
        </p:sp>
        <p:sp>
          <p:nvSpPr>
            <p:cNvPr name="TextBox 10" id="10"/>
            <p:cNvSpPr txBox="true"/>
            <p:nvPr/>
          </p:nvSpPr>
          <p:spPr>
            <a:xfrm>
              <a:off x="0" y="0"/>
              <a:ext cx="8315324" cy="1477328"/>
            </a:xfrm>
            <a:prstGeom prst="rect">
              <a:avLst/>
            </a:prstGeom>
          </p:spPr>
          <p:txBody>
            <a:bodyPr anchor="ctr" rtlCol="false" tIns="0" lIns="0" bIns="0" rIns="0"/>
            <a:lstStyle/>
            <a:p>
              <a:pPr algn="l">
                <a:lnSpc>
                  <a:spcPts val="2879"/>
                </a:lnSpc>
              </a:pPr>
              <a:r>
                <a:rPr lang="en-US" sz="2399" u="sng" b="true">
                  <a:solidFill>
                    <a:srgbClr val="FFFFFF"/>
                  </a:solidFill>
                  <a:latin typeface="Century Gothic Paneuropean Bold"/>
                  <a:ea typeface="Century Gothic Paneuropean Bold"/>
                  <a:cs typeface="Century Gothic Paneuropean Bold"/>
                  <a:sym typeface="Century Gothic Paneuropean Bold"/>
                </a:rPr>
                <a:t>Early detection of lymph-node metastasis</a:t>
              </a:r>
            </a:p>
          </p:txBody>
        </p:sp>
      </p:grpSp>
      <p:grpSp>
        <p:nvGrpSpPr>
          <p:cNvPr name="Group 11" id="11"/>
          <p:cNvGrpSpPr/>
          <p:nvPr/>
        </p:nvGrpSpPr>
        <p:grpSpPr>
          <a:xfrm rot="0">
            <a:off x="10271627" y="4966933"/>
            <a:ext cx="7928101" cy="1107996"/>
            <a:chOff x="0" y="0"/>
            <a:chExt cx="10570802" cy="1477328"/>
          </a:xfrm>
        </p:grpSpPr>
        <p:sp>
          <p:nvSpPr>
            <p:cNvPr name="Freeform 12" id="12"/>
            <p:cNvSpPr/>
            <p:nvPr/>
          </p:nvSpPr>
          <p:spPr>
            <a:xfrm flipH="false" flipV="false" rot="0">
              <a:off x="0" y="0"/>
              <a:ext cx="10570802" cy="1477328"/>
            </a:xfrm>
            <a:custGeom>
              <a:avLst/>
              <a:gdLst/>
              <a:ahLst/>
              <a:cxnLst/>
              <a:rect r="r" b="b" t="t" l="l"/>
              <a:pathLst>
                <a:path h="1477328" w="10570802">
                  <a:moveTo>
                    <a:pt x="0" y="0"/>
                  </a:moveTo>
                  <a:lnTo>
                    <a:pt x="10570802" y="0"/>
                  </a:lnTo>
                  <a:lnTo>
                    <a:pt x="10570802" y="1477328"/>
                  </a:lnTo>
                  <a:lnTo>
                    <a:pt x="0" y="1477328"/>
                  </a:lnTo>
                  <a:close/>
                </a:path>
              </a:pathLst>
            </a:custGeom>
            <a:solidFill>
              <a:srgbClr val="000000">
                <a:alpha val="0"/>
              </a:srgbClr>
            </a:solidFill>
          </p:spPr>
        </p:sp>
        <p:sp>
          <p:nvSpPr>
            <p:cNvPr name="TextBox 13" id="13"/>
            <p:cNvSpPr txBox="true"/>
            <p:nvPr/>
          </p:nvSpPr>
          <p:spPr>
            <a:xfrm>
              <a:off x="0" y="0"/>
              <a:ext cx="10570802" cy="1477328"/>
            </a:xfrm>
            <a:prstGeom prst="rect">
              <a:avLst/>
            </a:prstGeom>
          </p:spPr>
          <p:txBody>
            <a:bodyPr anchor="ctr" rtlCol="false" tIns="0" lIns="0" bIns="0" rIns="0"/>
            <a:lstStyle/>
            <a:p>
              <a:pPr algn="l">
                <a:lnSpc>
                  <a:spcPts val="2879"/>
                </a:lnSpc>
              </a:pPr>
              <a:r>
                <a:rPr lang="en-US" b="true" sz="2399" u="sng">
                  <a:solidFill>
                    <a:srgbClr val="FFFFFF"/>
                  </a:solidFill>
                  <a:latin typeface="Century Gothic Paneuropean Bold"/>
                  <a:ea typeface="Century Gothic Paneuropean Bold"/>
                  <a:cs typeface="Century Gothic Paneuropean Bold"/>
                  <a:sym typeface="Century Gothic Paneuropean Bold"/>
                </a:rPr>
                <a:t>M</a:t>
              </a:r>
              <a:r>
                <a:rPr lang="en-US" b="true" sz="2399" u="sng">
                  <a:solidFill>
                    <a:srgbClr val="FFFFFF"/>
                  </a:solidFill>
                  <a:latin typeface="Century Gothic Paneuropean Bold"/>
                  <a:ea typeface="Century Gothic Paneuropean Bold"/>
                  <a:cs typeface="Century Gothic Paneuropean Bold"/>
                  <a:sym typeface="Century Gothic Paneuropean Bold"/>
                </a:rPr>
                <a:t>ore challenging than standard cancer classification</a:t>
              </a:r>
            </a:p>
          </p:txBody>
        </p:sp>
      </p:grpSp>
      <p:grpSp>
        <p:nvGrpSpPr>
          <p:cNvPr name="Group 14" id="14"/>
          <p:cNvGrpSpPr/>
          <p:nvPr/>
        </p:nvGrpSpPr>
        <p:grpSpPr>
          <a:xfrm rot="0">
            <a:off x="10271627" y="6688029"/>
            <a:ext cx="6236493" cy="1107996"/>
            <a:chOff x="0" y="0"/>
            <a:chExt cx="8315324" cy="1477328"/>
          </a:xfrm>
        </p:grpSpPr>
        <p:sp>
          <p:nvSpPr>
            <p:cNvPr name="Freeform 15" id="15"/>
            <p:cNvSpPr/>
            <p:nvPr/>
          </p:nvSpPr>
          <p:spPr>
            <a:xfrm flipH="false" flipV="false" rot="0">
              <a:off x="0" y="0"/>
              <a:ext cx="8315324" cy="1477328"/>
            </a:xfrm>
            <a:custGeom>
              <a:avLst/>
              <a:gdLst/>
              <a:ahLst/>
              <a:cxnLst/>
              <a:rect r="r" b="b" t="t" l="l"/>
              <a:pathLst>
                <a:path h="1477328" w="8315324">
                  <a:moveTo>
                    <a:pt x="0" y="0"/>
                  </a:moveTo>
                  <a:lnTo>
                    <a:pt x="8315324" y="0"/>
                  </a:lnTo>
                  <a:lnTo>
                    <a:pt x="8315324" y="1477328"/>
                  </a:lnTo>
                  <a:lnTo>
                    <a:pt x="0" y="1477328"/>
                  </a:lnTo>
                  <a:close/>
                </a:path>
              </a:pathLst>
            </a:custGeom>
            <a:solidFill>
              <a:srgbClr val="000000">
                <a:alpha val="0"/>
              </a:srgbClr>
            </a:solidFill>
          </p:spPr>
        </p:sp>
        <p:sp>
          <p:nvSpPr>
            <p:cNvPr name="TextBox 16" id="16"/>
            <p:cNvSpPr txBox="true"/>
            <p:nvPr/>
          </p:nvSpPr>
          <p:spPr>
            <a:xfrm>
              <a:off x="0" y="0"/>
              <a:ext cx="8315324" cy="1477328"/>
            </a:xfrm>
            <a:prstGeom prst="rect">
              <a:avLst/>
            </a:prstGeom>
          </p:spPr>
          <p:txBody>
            <a:bodyPr anchor="ctr" rtlCol="false" tIns="0" lIns="0" bIns="0" rIns="0"/>
            <a:lstStyle/>
            <a:p>
              <a:pPr algn="l">
                <a:lnSpc>
                  <a:spcPts val="2879"/>
                </a:lnSpc>
              </a:pPr>
              <a:r>
                <a:rPr lang="en-US" b="true" sz="2399" u="sng">
                  <a:solidFill>
                    <a:srgbClr val="FFFFFF"/>
                  </a:solidFill>
                  <a:latin typeface="Century Gothic Paneuropean Bold"/>
                  <a:ea typeface="Century Gothic Paneuropean Bold"/>
                  <a:cs typeface="Century Gothic Paneuropean Bold"/>
                  <a:sym typeface="Century Gothic Paneuropean Bold"/>
                </a:rPr>
                <a:t> Reliabl</a:t>
              </a:r>
              <a:r>
                <a:rPr lang="en-US" b="true" sz="2399" u="sng">
                  <a:solidFill>
                    <a:srgbClr val="FFFFFF"/>
                  </a:solidFill>
                  <a:latin typeface="Century Gothic Paneuropean Bold"/>
                  <a:ea typeface="Century Gothic Paneuropean Bold"/>
                  <a:cs typeface="Century Gothic Paneuropean Bold"/>
                  <a:sym typeface="Century Gothic Paneuropean Bold"/>
                </a:rPr>
                <a:t>e and scalable AI assistance</a:t>
              </a:r>
            </a:p>
          </p:txBody>
        </p:sp>
      </p:grpSp>
      <p:sp>
        <p:nvSpPr>
          <p:cNvPr name="Freeform 17" id="17"/>
          <p:cNvSpPr/>
          <p:nvPr/>
        </p:nvSpPr>
        <p:spPr>
          <a:xfrm flipH="false" flipV="false" rot="0">
            <a:off x="0" y="2552700"/>
            <a:ext cx="7871002" cy="5829300"/>
          </a:xfrm>
          <a:custGeom>
            <a:avLst/>
            <a:gdLst/>
            <a:ahLst/>
            <a:cxnLst/>
            <a:rect r="r" b="b" t="t" l="l"/>
            <a:pathLst>
              <a:path h="5829300" w="7871002">
                <a:moveTo>
                  <a:pt x="0" y="0"/>
                </a:moveTo>
                <a:lnTo>
                  <a:pt x="7871002" y="0"/>
                </a:lnTo>
                <a:lnTo>
                  <a:pt x="7871002" y="5829300"/>
                </a:lnTo>
                <a:lnTo>
                  <a:pt x="0" y="5829300"/>
                </a:lnTo>
                <a:lnTo>
                  <a:pt x="0" y="0"/>
                </a:lnTo>
                <a:close/>
              </a:path>
            </a:pathLst>
          </a:custGeom>
          <a:blipFill>
            <a:blip r:embed="rId3"/>
            <a:stretch>
              <a:fillRect l="0" t="-261" r="-6354" b="-261"/>
            </a:stretch>
          </a:blipFill>
        </p:spPr>
      </p:sp>
      <p:grpSp>
        <p:nvGrpSpPr>
          <p:cNvPr name="Group 18" id="18"/>
          <p:cNvGrpSpPr/>
          <p:nvPr/>
        </p:nvGrpSpPr>
        <p:grpSpPr>
          <a:xfrm rot="0">
            <a:off x="1231581" y="542925"/>
            <a:ext cx="3809295" cy="950830"/>
            <a:chOff x="0" y="0"/>
            <a:chExt cx="3275984" cy="817711"/>
          </a:xfrm>
        </p:grpSpPr>
        <p:sp>
          <p:nvSpPr>
            <p:cNvPr name="Freeform 19" id="19"/>
            <p:cNvSpPr/>
            <p:nvPr/>
          </p:nvSpPr>
          <p:spPr>
            <a:xfrm flipH="false" flipV="false" rot="0">
              <a:off x="0" y="0"/>
              <a:ext cx="3275984" cy="817711"/>
            </a:xfrm>
            <a:custGeom>
              <a:avLst/>
              <a:gdLst/>
              <a:ahLst/>
              <a:cxnLst/>
              <a:rect r="r" b="b" t="t" l="l"/>
              <a:pathLst>
                <a:path h="817711" w="3275984">
                  <a:moveTo>
                    <a:pt x="0" y="0"/>
                  </a:moveTo>
                  <a:lnTo>
                    <a:pt x="3275984" y="0"/>
                  </a:lnTo>
                  <a:lnTo>
                    <a:pt x="3275984" y="817711"/>
                  </a:lnTo>
                  <a:lnTo>
                    <a:pt x="0" y="817711"/>
                  </a:lnTo>
                  <a:close/>
                </a:path>
              </a:pathLst>
            </a:custGeom>
            <a:solidFill>
              <a:srgbClr val="000000">
                <a:alpha val="0"/>
              </a:srgbClr>
            </a:solidFill>
          </p:spPr>
        </p:sp>
        <p:sp>
          <p:nvSpPr>
            <p:cNvPr name="TextBox 20" id="20"/>
            <p:cNvSpPr txBox="true"/>
            <p:nvPr/>
          </p:nvSpPr>
          <p:spPr>
            <a:xfrm>
              <a:off x="0" y="-19050"/>
              <a:ext cx="3275984"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Motivation</a:t>
              </a:r>
            </a:p>
          </p:txBody>
        </p:sp>
      </p:grpSp>
      <p:sp>
        <p:nvSpPr>
          <p:cNvPr name="Freeform 21" id="21"/>
          <p:cNvSpPr/>
          <p:nvPr/>
        </p:nvSpPr>
        <p:spPr>
          <a:xfrm flipH="false" flipV="false" rot="0">
            <a:off x="8496198" y="3333098"/>
            <a:ext cx="933473" cy="933473"/>
          </a:xfrm>
          <a:custGeom>
            <a:avLst/>
            <a:gdLst/>
            <a:ahLst/>
            <a:cxnLst/>
            <a:rect r="r" b="b" t="t" l="l"/>
            <a:pathLst>
              <a:path h="933473" w="933473">
                <a:moveTo>
                  <a:pt x="0" y="0"/>
                </a:moveTo>
                <a:lnTo>
                  <a:pt x="933472" y="0"/>
                </a:lnTo>
                <a:lnTo>
                  <a:pt x="933472" y="933473"/>
                </a:lnTo>
                <a:lnTo>
                  <a:pt x="0" y="933473"/>
                </a:lnTo>
                <a:lnTo>
                  <a:pt x="0" y="0"/>
                </a:lnTo>
                <a:close/>
              </a:path>
            </a:pathLst>
          </a:custGeom>
          <a:blipFill>
            <a:blip r:embed="rId4"/>
            <a:stretch>
              <a:fillRect l="0" t="0" r="0" b="0"/>
            </a:stretch>
          </a:blipFill>
        </p:spPr>
      </p:sp>
      <p:sp>
        <p:nvSpPr>
          <p:cNvPr name="Freeform 22" id="22"/>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3" id="23"/>
          <p:cNvGrpSpPr/>
          <p:nvPr/>
        </p:nvGrpSpPr>
        <p:grpSpPr>
          <a:xfrm rot="0">
            <a:off x="17847303" y="9694902"/>
            <a:ext cx="1268668" cy="2170263"/>
            <a:chOff x="0" y="0"/>
            <a:chExt cx="431800" cy="738664"/>
          </a:xfrm>
        </p:grpSpPr>
        <p:sp>
          <p:nvSpPr>
            <p:cNvPr name="Freeform 24" id="24"/>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25" id="25"/>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5</a:t>
              </a:r>
            </a:p>
          </p:txBody>
        </p:sp>
      </p:grpSp>
      <p:sp>
        <p:nvSpPr>
          <p:cNvPr name="Freeform 26" id="26"/>
          <p:cNvSpPr/>
          <p:nvPr/>
        </p:nvSpPr>
        <p:spPr>
          <a:xfrm flipH="false" flipV="false" rot="0">
            <a:off x="8480343" y="4929429"/>
            <a:ext cx="1177388" cy="1263996"/>
          </a:xfrm>
          <a:custGeom>
            <a:avLst/>
            <a:gdLst/>
            <a:ahLst/>
            <a:cxnLst/>
            <a:rect r="r" b="b" t="t" l="l"/>
            <a:pathLst>
              <a:path h="1263996" w="1177388">
                <a:moveTo>
                  <a:pt x="0" y="0"/>
                </a:moveTo>
                <a:lnTo>
                  <a:pt x="1177387" y="0"/>
                </a:lnTo>
                <a:lnTo>
                  <a:pt x="1177387" y="1263996"/>
                </a:lnTo>
                <a:lnTo>
                  <a:pt x="0" y="12639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7" id="27"/>
          <p:cNvSpPr/>
          <p:nvPr/>
        </p:nvSpPr>
        <p:spPr>
          <a:xfrm flipH="false" flipV="false" rot="0">
            <a:off x="8534836" y="6615554"/>
            <a:ext cx="1068401" cy="1180471"/>
          </a:xfrm>
          <a:custGeom>
            <a:avLst/>
            <a:gdLst/>
            <a:ahLst/>
            <a:cxnLst/>
            <a:rect r="r" b="b" t="t" l="l"/>
            <a:pathLst>
              <a:path h="1180471" w="1068401">
                <a:moveTo>
                  <a:pt x="0" y="0"/>
                </a:moveTo>
                <a:lnTo>
                  <a:pt x="1068401" y="0"/>
                </a:lnTo>
                <a:lnTo>
                  <a:pt x="1068401" y="1180471"/>
                </a:lnTo>
                <a:lnTo>
                  <a:pt x="0" y="118047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8" cy="807913"/>
            <a:chOff x="0" y="0"/>
            <a:chExt cx="91438" cy="1077218"/>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3"/>
            <a:chOff x="0" y="0"/>
            <a:chExt cx="1238250" cy="1077218"/>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6" id="6"/>
          <p:cNvGrpSpPr/>
          <p:nvPr/>
        </p:nvGrpSpPr>
        <p:grpSpPr>
          <a:xfrm rot="0">
            <a:off x="1231581" y="542925"/>
            <a:ext cx="6881790" cy="950830"/>
            <a:chOff x="0" y="0"/>
            <a:chExt cx="5918322" cy="817711"/>
          </a:xfrm>
        </p:grpSpPr>
        <p:sp>
          <p:nvSpPr>
            <p:cNvPr name="Freeform 7" id="7"/>
            <p:cNvSpPr/>
            <p:nvPr/>
          </p:nvSpPr>
          <p:spPr>
            <a:xfrm flipH="false" flipV="false" rot="0">
              <a:off x="0" y="0"/>
              <a:ext cx="5918322" cy="817711"/>
            </a:xfrm>
            <a:custGeom>
              <a:avLst/>
              <a:gdLst/>
              <a:ahLst/>
              <a:cxnLst/>
              <a:rect r="r" b="b" t="t" l="l"/>
              <a:pathLst>
                <a:path h="817711" w="5918322">
                  <a:moveTo>
                    <a:pt x="0" y="0"/>
                  </a:moveTo>
                  <a:lnTo>
                    <a:pt x="5918322" y="0"/>
                  </a:lnTo>
                  <a:lnTo>
                    <a:pt x="5918322" y="817711"/>
                  </a:lnTo>
                  <a:lnTo>
                    <a:pt x="0" y="817711"/>
                  </a:lnTo>
                  <a:close/>
                </a:path>
              </a:pathLst>
            </a:custGeom>
            <a:solidFill>
              <a:srgbClr val="000000">
                <a:alpha val="0"/>
              </a:srgbClr>
            </a:solidFill>
          </p:spPr>
        </p:sp>
        <p:sp>
          <p:nvSpPr>
            <p:cNvPr name="TextBox 8" id="8"/>
            <p:cNvSpPr txBox="true"/>
            <p:nvPr/>
          </p:nvSpPr>
          <p:spPr>
            <a:xfrm>
              <a:off x="0" y="-19050"/>
              <a:ext cx="5918322"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Research Aims</a:t>
              </a:r>
            </a:p>
          </p:txBody>
        </p:sp>
      </p:grpSp>
      <p:grpSp>
        <p:nvGrpSpPr>
          <p:cNvPr name="Group 9" id="9"/>
          <p:cNvGrpSpPr/>
          <p:nvPr/>
        </p:nvGrpSpPr>
        <p:grpSpPr>
          <a:xfrm rot="0">
            <a:off x="6704829" y="5054031"/>
            <a:ext cx="1775935" cy="2421730"/>
            <a:chOff x="0" y="0"/>
            <a:chExt cx="2367914" cy="3228974"/>
          </a:xfrm>
        </p:grpSpPr>
        <p:sp>
          <p:nvSpPr>
            <p:cNvPr name="Freeform 10" id="10"/>
            <p:cNvSpPr/>
            <p:nvPr/>
          </p:nvSpPr>
          <p:spPr>
            <a:xfrm flipH="false" flipV="false" rot="0">
              <a:off x="0" y="0"/>
              <a:ext cx="2367788" cy="3228975"/>
            </a:xfrm>
            <a:custGeom>
              <a:avLst/>
              <a:gdLst/>
              <a:ahLst/>
              <a:cxnLst/>
              <a:rect r="r" b="b" t="t" l="l"/>
              <a:pathLst>
                <a:path h="3228975" w="2367788">
                  <a:moveTo>
                    <a:pt x="0" y="3228975"/>
                  </a:moveTo>
                  <a:lnTo>
                    <a:pt x="1183894" y="0"/>
                  </a:lnTo>
                  <a:lnTo>
                    <a:pt x="2367788" y="3228975"/>
                  </a:lnTo>
                  <a:close/>
                </a:path>
              </a:pathLst>
            </a:custGeom>
            <a:solidFill>
              <a:srgbClr val="F2F2F2"/>
            </a:solidFill>
          </p:spPr>
        </p:sp>
      </p:grpSp>
      <p:grpSp>
        <p:nvGrpSpPr>
          <p:cNvPr name="Group 11" id="11"/>
          <p:cNvGrpSpPr/>
          <p:nvPr/>
        </p:nvGrpSpPr>
        <p:grpSpPr>
          <a:xfrm rot="0">
            <a:off x="7294904" y="2653733"/>
            <a:ext cx="3536155" cy="4822030"/>
            <a:chOff x="0" y="0"/>
            <a:chExt cx="4714874" cy="6429374"/>
          </a:xfrm>
        </p:grpSpPr>
        <p:sp>
          <p:nvSpPr>
            <p:cNvPr name="Freeform 12" id="12"/>
            <p:cNvSpPr/>
            <p:nvPr/>
          </p:nvSpPr>
          <p:spPr>
            <a:xfrm flipH="false" flipV="false" rot="0">
              <a:off x="0" y="0"/>
              <a:ext cx="4714875" cy="6429375"/>
            </a:xfrm>
            <a:custGeom>
              <a:avLst/>
              <a:gdLst/>
              <a:ahLst/>
              <a:cxnLst/>
              <a:rect r="r" b="b" t="t" l="l"/>
              <a:pathLst>
                <a:path h="6429375" w="4714875">
                  <a:moveTo>
                    <a:pt x="0" y="6429375"/>
                  </a:moveTo>
                  <a:lnTo>
                    <a:pt x="2357374" y="0"/>
                  </a:lnTo>
                  <a:lnTo>
                    <a:pt x="4714875" y="6429375"/>
                  </a:lnTo>
                  <a:close/>
                </a:path>
              </a:pathLst>
            </a:custGeom>
            <a:solidFill>
              <a:srgbClr val="F7B902"/>
            </a:solidFill>
          </p:spPr>
        </p:sp>
      </p:grpSp>
      <p:grpSp>
        <p:nvGrpSpPr>
          <p:cNvPr name="Group 13" id="13"/>
          <p:cNvGrpSpPr/>
          <p:nvPr/>
        </p:nvGrpSpPr>
        <p:grpSpPr>
          <a:xfrm rot="0">
            <a:off x="9373734" y="3998055"/>
            <a:ext cx="2550320" cy="3477708"/>
            <a:chOff x="0" y="0"/>
            <a:chExt cx="3400426" cy="4636944"/>
          </a:xfrm>
        </p:grpSpPr>
        <p:sp>
          <p:nvSpPr>
            <p:cNvPr name="Freeform 14" id="14"/>
            <p:cNvSpPr/>
            <p:nvPr/>
          </p:nvSpPr>
          <p:spPr>
            <a:xfrm flipH="false" flipV="false" rot="0">
              <a:off x="0" y="0"/>
              <a:ext cx="3400425" cy="4636897"/>
            </a:xfrm>
            <a:custGeom>
              <a:avLst/>
              <a:gdLst/>
              <a:ahLst/>
              <a:cxnLst/>
              <a:rect r="r" b="b" t="t" l="l"/>
              <a:pathLst>
                <a:path h="4636897" w="3400425">
                  <a:moveTo>
                    <a:pt x="0" y="4636897"/>
                  </a:moveTo>
                  <a:lnTo>
                    <a:pt x="1700276" y="0"/>
                  </a:lnTo>
                  <a:lnTo>
                    <a:pt x="3400425" y="4636897"/>
                  </a:lnTo>
                  <a:close/>
                </a:path>
              </a:pathLst>
            </a:custGeom>
            <a:solidFill>
              <a:srgbClr val="F2F2F2"/>
            </a:solidFill>
          </p:spPr>
        </p:sp>
      </p:grpSp>
      <p:sp>
        <p:nvSpPr>
          <p:cNvPr name="Freeform 15" id="15"/>
          <p:cNvSpPr/>
          <p:nvPr/>
        </p:nvSpPr>
        <p:spPr>
          <a:xfrm flipH="false" flipV="false" rot="0">
            <a:off x="8326463" y="6275827"/>
            <a:ext cx="1179772" cy="2084678"/>
          </a:xfrm>
          <a:custGeom>
            <a:avLst/>
            <a:gdLst/>
            <a:ahLst/>
            <a:cxnLst/>
            <a:rect r="r" b="b" t="t" l="l"/>
            <a:pathLst>
              <a:path h="2084678" w="1179772">
                <a:moveTo>
                  <a:pt x="0" y="0"/>
                </a:moveTo>
                <a:lnTo>
                  <a:pt x="1179772" y="0"/>
                </a:lnTo>
                <a:lnTo>
                  <a:pt x="1179772" y="2084678"/>
                </a:lnTo>
                <a:lnTo>
                  <a:pt x="0" y="20846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2403174" y="3679841"/>
            <a:ext cx="6513175" cy="579319"/>
            <a:chOff x="0" y="0"/>
            <a:chExt cx="8684233" cy="772426"/>
          </a:xfrm>
        </p:grpSpPr>
        <p:sp>
          <p:nvSpPr>
            <p:cNvPr name="Freeform 17" id="17"/>
            <p:cNvSpPr/>
            <p:nvPr/>
          </p:nvSpPr>
          <p:spPr>
            <a:xfrm flipH="false" flipV="false" rot="0">
              <a:off x="0" y="0"/>
              <a:ext cx="8684233" cy="772426"/>
            </a:xfrm>
            <a:custGeom>
              <a:avLst/>
              <a:gdLst/>
              <a:ahLst/>
              <a:cxnLst/>
              <a:rect r="r" b="b" t="t" l="l"/>
              <a:pathLst>
                <a:path h="772426" w="8684233">
                  <a:moveTo>
                    <a:pt x="0" y="0"/>
                  </a:moveTo>
                  <a:lnTo>
                    <a:pt x="8684233" y="0"/>
                  </a:lnTo>
                  <a:lnTo>
                    <a:pt x="8684233" y="772426"/>
                  </a:lnTo>
                  <a:lnTo>
                    <a:pt x="0" y="772426"/>
                  </a:lnTo>
                  <a:close/>
                </a:path>
              </a:pathLst>
            </a:custGeom>
            <a:solidFill>
              <a:srgbClr val="000000">
                <a:alpha val="0"/>
              </a:srgbClr>
            </a:solidFill>
          </p:spPr>
        </p:sp>
        <p:sp>
          <p:nvSpPr>
            <p:cNvPr name="TextBox 18" id="18"/>
            <p:cNvSpPr txBox="true"/>
            <p:nvPr/>
          </p:nvSpPr>
          <p:spPr>
            <a:xfrm>
              <a:off x="0" y="-19050"/>
              <a:ext cx="8684233" cy="791476"/>
            </a:xfrm>
            <a:prstGeom prst="rect">
              <a:avLst/>
            </a:prstGeom>
          </p:spPr>
          <p:txBody>
            <a:bodyPr anchor="t" rtlCol="false" tIns="0" lIns="0" bIns="0" rIns="0"/>
            <a:lstStyle/>
            <a:p>
              <a:pPr algn="l">
                <a:lnSpc>
                  <a:spcPts val="3479"/>
                </a:lnSpc>
              </a:pPr>
              <a:r>
                <a:rPr lang="en-US" sz="2899" b="true">
                  <a:solidFill>
                    <a:srgbClr val="FFFFFF"/>
                  </a:solidFill>
                  <a:latin typeface="Times New Roman Bold"/>
                  <a:ea typeface="Times New Roman Bold"/>
                  <a:cs typeface="Times New Roman Bold"/>
                  <a:sym typeface="Times New Roman Bold"/>
                </a:rPr>
                <a:t>Systematic C</a:t>
              </a:r>
              <a:r>
                <a:rPr lang="en-US" sz="2899" b="true">
                  <a:solidFill>
                    <a:srgbClr val="FFFFFF"/>
                  </a:solidFill>
                  <a:latin typeface="Times New Roman Bold"/>
                  <a:ea typeface="Times New Roman Bold"/>
                  <a:cs typeface="Times New Roman Bold"/>
                  <a:sym typeface="Times New Roman Bold"/>
                </a:rPr>
                <a:t>omparative Analysis</a:t>
              </a:r>
            </a:p>
          </p:txBody>
        </p:sp>
      </p:grpSp>
      <p:sp>
        <p:nvSpPr>
          <p:cNvPr name="Freeform 19" id="19"/>
          <p:cNvSpPr/>
          <p:nvPr/>
        </p:nvSpPr>
        <p:spPr>
          <a:xfrm flipH="false" flipV="false" rot="0">
            <a:off x="10627461" y="4558299"/>
            <a:ext cx="2233120" cy="1178610"/>
          </a:xfrm>
          <a:custGeom>
            <a:avLst/>
            <a:gdLst/>
            <a:ahLst/>
            <a:cxnLst/>
            <a:rect r="r" b="b" t="t" l="l"/>
            <a:pathLst>
              <a:path h="1178610" w="2233120">
                <a:moveTo>
                  <a:pt x="0" y="0"/>
                </a:moveTo>
                <a:lnTo>
                  <a:pt x="2233120" y="0"/>
                </a:lnTo>
                <a:lnTo>
                  <a:pt x="2233120" y="1178610"/>
                </a:lnTo>
                <a:lnTo>
                  <a:pt x="0" y="1178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0" id="20"/>
          <p:cNvGrpSpPr/>
          <p:nvPr/>
        </p:nvGrpSpPr>
        <p:grpSpPr>
          <a:xfrm rot="0">
            <a:off x="12992529" y="4282509"/>
            <a:ext cx="4854774" cy="553998"/>
            <a:chOff x="0" y="0"/>
            <a:chExt cx="6473032" cy="738664"/>
          </a:xfrm>
        </p:grpSpPr>
        <p:sp>
          <p:nvSpPr>
            <p:cNvPr name="Freeform 21" id="21"/>
            <p:cNvSpPr/>
            <p:nvPr/>
          </p:nvSpPr>
          <p:spPr>
            <a:xfrm flipH="false" flipV="false" rot="0">
              <a:off x="0" y="0"/>
              <a:ext cx="6473032" cy="738664"/>
            </a:xfrm>
            <a:custGeom>
              <a:avLst/>
              <a:gdLst/>
              <a:ahLst/>
              <a:cxnLst/>
              <a:rect r="r" b="b" t="t" l="l"/>
              <a:pathLst>
                <a:path h="738664" w="6473032">
                  <a:moveTo>
                    <a:pt x="0" y="0"/>
                  </a:moveTo>
                  <a:lnTo>
                    <a:pt x="6473032" y="0"/>
                  </a:lnTo>
                  <a:lnTo>
                    <a:pt x="6473032" y="738664"/>
                  </a:lnTo>
                  <a:lnTo>
                    <a:pt x="0" y="738664"/>
                  </a:lnTo>
                  <a:close/>
                </a:path>
              </a:pathLst>
            </a:custGeom>
            <a:solidFill>
              <a:srgbClr val="000000">
                <a:alpha val="0"/>
              </a:srgbClr>
            </a:solidFill>
          </p:spPr>
        </p:sp>
        <p:sp>
          <p:nvSpPr>
            <p:cNvPr name="TextBox 22" id="22"/>
            <p:cNvSpPr txBox="true"/>
            <p:nvPr/>
          </p:nvSpPr>
          <p:spPr>
            <a:xfrm>
              <a:off x="0" y="-19050"/>
              <a:ext cx="6473032"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Perf</a:t>
              </a:r>
              <a:r>
                <a:rPr lang="en-US" sz="2700" b="true">
                  <a:solidFill>
                    <a:srgbClr val="FFFFFF"/>
                  </a:solidFill>
                  <a:latin typeface="Times New Roman Bold"/>
                  <a:ea typeface="Times New Roman Bold"/>
                  <a:cs typeface="Times New Roman Bold"/>
                  <a:sym typeface="Times New Roman Bold"/>
                </a:rPr>
                <a:t>ormance Benchmarking</a:t>
              </a:r>
            </a:p>
          </p:txBody>
        </p:sp>
      </p:grpSp>
      <p:grpSp>
        <p:nvGrpSpPr>
          <p:cNvPr name="Group 23" id="23"/>
          <p:cNvGrpSpPr/>
          <p:nvPr/>
        </p:nvGrpSpPr>
        <p:grpSpPr>
          <a:xfrm rot="0">
            <a:off x="7438494" y="5810727"/>
            <a:ext cx="154302" cy="154302"/>
            <a:chOff x="0" y="0"/>
            <a:chExt cx="205736" cy="205736"/>
          </a:xfrm>
        </p:grpSpPr>
        <p:sp>
          <p:nvSpPr>
            <p:cNvPr name="Freeform 24" id="24"/>
            <p:cNvSpPr/>
            <p:nvPr/>
          </p:nvSpPr>
          <p:spPr>
            <a:xfrm flipH="false" flipV="false" rot="0">
              <a:off x="0" y="0"/>
              <a:ext cx="205740" cy="205740"/>
            </a:xfrm>
            <a:custGeom>
              <a:avLst/>
              <a:gdLst/>
              <a:ahLst/>
              <a:cxnLst/>
              <a:rect r="r" b="b" t="t" l="l"/>
              <a:pathLst>
                <a:path h="205740" w="205740">
                  <a:moveTo>
                    <a:pt x="0" y="102870"/>
                  </a:moveTo>
                  <a:cubicBezTo>
                    <a:pt x="0" y="46101"/>
                    <a:pt x="46101" y="0"/>
                    <a:pt x="102870" y="0"/>
                  </a:cubicBezTo>
                  <a:cubicBezTo>
                    <a:pt x="159639" y="0"/>
                    <a:pt x="205740" y="46101"/>
                    <a:pt x="205740" y="102870"/>
                  </a:cubicBezTo>
                  <a:cubicBezTo>
                    <a:pt x="205740" y="159639"/>
                    <a:pt x="159639" y="205740"/>
                    <a:pt x="102870" y="205740"/>
                  </a:cubicBezTo>
                  <a:cubicBezTo>
                    <a:pt x="46101" y="205740"/>
                    <a:pt x="0" y="159639"/>
                    <a:pt x="0" y="102870"/>
                  </a:cubicBezTo>
                  <a:close/>
                </a:path>
              </a:pathLst>
            </a:custGeom>
            <a:solidFill>
              <a:srgbClr val="F7B902"/>
            </a:solidFill>
          </p:spPr>
        </p:sp>
      </p:grpSp>
      <p:sp>
        <p:nvSpPr>
          <p:cNvPr name="AutoShape 25" id="25"/>
          <p:cNvSpPr/>
          <p:nvPr/>
        </p:nvSpPr>
        <p:spPr>
          <a:xfrm flipV="true">
            <a:off x="7506120" y="4268871"/>
            <a:ext cx="19050" cy="1556144"/>
          </a:xfrm>
          <a:prstGeom prst="line">
            <a:avLst/>
          </a:prstGeom>
          <a:ln cap="rnd" w="47625">
            <a:solidFill>
              <a:srgbClr val="F7B902"/>
            </a:solidFill>
            <a:prstDash val="solid"/>
            <a:headEnd type="none" len="sm" w="sm"/>
            <a:tailEnd type="none" len="sm" w="sm"/>
          </a:ln>
        </p:spPr>
      </p:sp>
      <p:grpSp>
        <p:nvGrpSpPr>
          <p:cNvPr name="Group 26" id="26"/>
          <p:cNvGrpSpPr/>
          <p:nvPr/>
        </p:nvGrpSpPr>
        <p:grpSpPr>
          <a:xfrm rot="0">
            <a:off x="9649047" y="8083506"/>
            <a:ext cx="3653987" cy="553998"/>
            <a:chOff x="0" y="0"/>
            <a:chExt cx="4871983" cy="738664"/>
          </a:xfrm>
        </p:grpSpPr>
        <p:sp>
          <p:nvSpPr>
            <p:cNvPr name="Freeform 27" id="27"/>
            <p:cNvSpPr/>
            <p:nvPr/>
          </p:nvSpPr>
          <p:spPr>
            <a:xfrm flipH="false" flipV="false" rot="0">
              <a:off x="0" y="0"/>
              <a:ext cx="4871983" cy="738664"/>
            </a:xfrm>
            <a:custGeom>
              <a:avLst/>
              <a:gdLst/>
              <a:ahLst/>
              <a:cxnLst/>
              <a:rect r="r" b="b" t="t" l="l"/>
              <a:pathLst>
                <a:path h="738664" w="4871983">
                  <a:moveTo>
                    <a:pt x="0" y="0"/>
                  </a:moveTo>
                  <a:lnTo>
                    <a:pt x="4871983" y="0"/>
                  </a:lnTo>
                  <a:lnTo>
                    <a:pt x="4871983" y="738664"/>
                  </a:lnTo>
                  <a:lnTo>
                    <a:pt x="0" y="738664"/>
                  </a:lnTo>
                  <a:close/>
                </a:path>
              </a:pathLst>
            </a:custGeom>
            <a:solidFill>
              <a:srgbClr val="000000">
                <a:alpha val="0"/>
              </a:srgbClr>
            </a:solidFill>
          </p:spPr>
        </p:sp>
        <p:sp>
          <p:nvSpPr>
            <p:cNvPr name="TextBox 28" id="28"/>
            <p:cNvSpPr txBox="true"/>
            <p:nvPr/>
          </p:nvSpPr>
          <p:spPr>
            <a:xfrm>
              <a:off x="0" y="-19050"/>
              <a:ext cx="4871983"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Model Implementation</a:t>
              </a:r>
            </a:p>
          </p:txBody>
        </p:sp>
      </p:grpSp>
      <p:sp>
        <p:nvSpPr>
          <p:cNvPr name="Freeform 29" id="29"/>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30" id="30"/>
          <p:cNvGrpSpPr/>
          <p:nvPr/>
        </p:nvGrpSpPr>
        <p:grpSpPr>
          <a:xfrm rot="0">
            <a:off x="17847303" y="9694902"/>
            <a:ext cx="1268668" cy="2170263"/>
            <a:chOff x="0" y="0"/>
            <a:chExt cx="431800" cy="738664"/>
          </a:xfrm>
        </p:grpSpPr>
        <p:sp>
          <p:nvSpPr>
            <p:cNvPr name="Freeform 31" id="31"/>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32" id="32"/>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1" y="4764882"/>
            <a:ext cx="18288000" cy="1512093"/>
            <a:chOff x="0" y="0"/>
            <a:chExt cx="24384000" cy="2016124"/>
          </a:xfrm>
        </p:grpSpPr>
        <p:sp>
          <p:nvSpPr>
            <p:cNvPr name="Freeform 3" id="3"/>
            <p:cNvSpPr/>
            <p:nvPr/>
          </p:nvSpPr>
          <p:spPr>
            <a:xfrm flipH="false" flipV="false" rot="0">
              <a:off x="0" y="0"/>
              <a:ext cx="24384000" cy="2016125"/>
            </a:xfrm>
            <a:custGeom>
              <a:avLst/>
              <a:gdLst/>
              <a:ahLst/>
              <a:cxnLst/>
              <a:rect r="r" b="b" t="t" l="l"/>
              <a:pathLst>
                <a:path h="2016125" w="24384000">
                  <a:moveTo>
                    <a:pt x="0" y="0"/>
                  </a:moveTo>
                  <a:lnTo>
                    <a:pt x="24384000" y="0"/>
                  </a:lnTo>
                  <a:lnTo>
                    <a:pt x="24384000" y="2016125"/>
                  </a:lnTo>
                  <a:lnTo>
                    <a:pt x="0" y="2016125"/>
                  </a:lnTo>
                  <a:close/>
                </a:path>
              </a:pathLst>
            </a:custGeom>
            <a:solidFill>
              <a:srgbClr val="F7B902"/>
            </a:solidFill>
          </p:spPr>
        </p:sp>
      </p:grpSp>
      <p:grpSp>
        <p:nvGrpSpPr>
          <p:cNvPr name="Group 4" id="4"/>
          <p:cNvGrpSpPr/>
          <p:nvPr/>
        </p:nvGrpSpPr>
        <p:grpSpPr>
          <a:xfrm rot="0">
            <a:off x="2264229" y="6640285"/>
            <a:ext cx="3604103" cy="555852"/>
            <a:chOff x="0" y="0"/>
            <a:chExt cx="4805470" cy="741136"/>
          </a:xfrm>
        </p:grpSpPr>
        <p:sp>
          <p:nvSpPr>
            <p:cNvPr name="Freeform 5" id="5"/>
            <p:cNvSpPr/>
            <p:nvPr/>
          </p:nvSpPr>
          <p:spPr>
            <a:xfrm flipH="false" flipV="false" rot="0">
              <a:off x="0" y="0"/>
              <a:ext cx="4805470" cy="741136"/>
            </a:xfrm>
            <a:custGeom>
              <a:avLst/>
              <a:gdLst/>
              <a:ahLst/>
              <a:cxnLst/>
              <a:rect r="r" b="b" t="t" l="l"/>
              <a:pathLst>
                <a:path h="741136" w="4805470">
                  <a:moveTo>
                    <a:pt x="0" y="0"/>
                  </a:moveTo>
                  <a:lnTo>
                    <a:pt x="4805470" y="0"/>
                  </a:lnTo>
                  <a:lnTo>
                    <a:pt x="4805470" y="741136"/>
                  </a:lnTo>
                  <a:lnTo>
                    <a:pt x="0" y="741136"/>
                  </a:lnTo>
                  <a:close/>
                </a:path>
              </a:pathLst>
            </a:custGeom>
            <a:solidFill>
              <a:srgbClr val="000000">
                <a:alpha val="0"/>
              </a:srgbClr>
            </a:solidFill>
          </p:spPr>
        </p:sp>
        <p:sp>
          <p:nvSpPr>
            <p:cNvPr name="TextBox 6" id="6"/>
            <p:cNvSpPr txBox="true"/>
            <p:nvPr/>
          </p:nvSpPr>
          <p:spPr>
            <a:xfrm>
              <a:off x="0" y="-19050"/>
              <a:ext cx="4805470" cy="760186"/>
            </a:xfrm>
            <a:prstGeom prst="rect">
              <a:avLst/>
            </a:prstGeom>
          </p:spPr>
          <p:txBody>
            <a:bodyPr anchor="t" rtlCol="false" tIns="0" lIns="0" bIns="0" rIns="0"/>
            <a:lstStyle/>
            <a:p>
              <a:pPr algn="ctr">
                <a:lnSpc>
                  <a:spcPts val="3240"/>
                </a:lnSpc>
              </a:pPr>
              <a:r>
                <a:rPr lang="en-US" sz="2700">
                  <a:solidFill>
                    <a:srgbClr val="FFFFFF"/>
                  </a:solidFill>
                  <a:latin typeface="Times New Roman"/>
                  <a:ea typeface="Times New Roman"/>
                  <a:cs typeface="Times New Roman"/>
                  <a:sym typeface="Times New Roman"/>
                </a:rPr>
                <a:t>Stain &amp; Color Variability</a:t>
              </a:r>
            </a:p>
          </p:txBody>
        </p:sp>
      </p:grpSp>
      <p:grpSp>
        <p:nvGrpSpPr>
          <p:cNvPr name="Group 7" id="7"/>
          <p:cNvGrpSpPr/>
          <p:nvPr/>
        </p:nvGrpSpPr>
        <p:grpSpPr>
          <a:xfrm rot="0">
            <a:off x="2264229" y="7574757"/>
            <a:ext cx="3293268" cy="2077492"/>
            <a:chOff x="0" y="0"/>
            <a:chExt cx="4391024" cy="2769990"/>
          </a:xfrm>
        </p:grpSpPr>
        <p:sp>
          <p:nvSpPr>
            <p:cNvPr name="Freeform 8" id="8"/>
            <p:cNvSpPr/>
            <p:nvPr/>
          </p:nvSpPr>
          <p:spPr>
            <a:xfrm flipH="false" flipV="false" rot="0">
              <a:off x="0" y="0"/>
              <a:ext cx="4391024" cy="2769990"/>
            </a:xfrm>
            <a:custGeom>
              <a:avLst/>
              <a:gdLst/>
              <a:ahLst/>
              <a:cxnLst/>
              <a:rect r="r" b="b" t="t" l="l"/>
              <a:pathLst>
                <a:path h="2769990" w="4391024">
                  <a:moveTo>
                    <a:pt x="0" y="0"/>
                  </a:moveTo>
                  <a:lnTo>
                    <a:pt x="4391024" y="0"/>
                  </a:lnTo>
                  <a:lnTo>
                    <a:pt x="4391024" y="2769990"/>
                  </a:lnTo>
                  <a:lnTo>
                    <a:pt x="0" y="2769990"/>
                  </a:lnTo>
                  <a:close/>
                </a:path>
              </a:pathLst>
            </a:custGeom>
            <a:solidFill>
              <a:srgbClr val="000000">
                <a:alpha val="0"/>
              </a:srgbClr>
            </a:solidFill>
          </p:spPr>
        </p:sp>
        <p:sp>
          <p:nvSpPr>
            <p:cNvPr name="TextBox 9" id="9"/>
            <p:cNvSpPr txBox="true"/>
            <p:nvPr/>
          </p:nvSpPr>
          <p:spPr>
            <a:xfrm>
              <a:off x="0" y="-19050"/>
              <a:ext cx="4391024" cy="2789040"/>
            </a:xfrm>
            <a:prstGeom prst="rect">
              <a:avLst/>
            </a:prstGeom>
          </p:spPr>
          <p:txBody>
            <a:bodyPr anchor="t" rtlCol="false" tIns="0" lIns="0" bIns="0" rIns="0"/>
            <a:lstStyle/>
            <a:p>
              <a:pPr algn="ctr">
                <a:lnSpc>
                  <a:spcPts val="2160"/>
                </a:lnSpc>
              </a:pPr>
              <a:r>
                <a:rPr lang="en-US" sz="1800">
                  <a:solidFill>
                    <a:srgbClr val="FFFFFF"/>
                  </a:solidFill>
                  <a:latin typeface="Times New Roman"/>
                  <a:ea typeface="Times New Roman"/>
                  <a:cs typeface="Times New Roman"/>
                  <a:sym typeface="Times New Roman"/>
                </a:rPr>
                <a:t>How should we handle stain and color differences in H&amp;E lymph-node patches?</a:t>
              </a:r>
            </a:p>
          </p:txBody>
        </p:sp>
      </p:grpSp>
      <p:grpSp>
        <p:nvGrpSpPr>
          <p:cNvPr name="Group 10" id="10"/>
          <p:cNvGrpSpPr/>
          <p:nvPr/>
        </p:nvGrpSpPr>
        <p:grpSpPr>
          <a:xfrm rot="0">
            <a:off x="6379023" y="6640285"/>
            <a:ext cx="5579282" cy="555852"/>
            <a:chOff x="0" y="0"/>
            <a:chExt cx="7439043" cy="741136"/>
          </a:xfrm>
        </p:grpSpPr>
        <p:sp>
          <p:nvSpPr>
            <p:cNvPr name="Freeform 11" id="11"/>
            <p:cNvSpPr/>
            <p:nvPr/>
          </p:nvSpPr>
          <p:spPr>
            <a:xfrm flipH="false" flipV="false" rot="0">
              <a:off x="0" y="0"/>
              <a:ext cx="7439044" cy="741136"/>
            </a:xfrm>
            <a:custGeom>
              <a:avLst/>
              <a:gdLst/>
              <a:ahLst/>
              <a:cxnLst/>
              <a:rect r="r" b="b" t="t" l="l"/>
              <a:pathLst>
                <a:path h="741136" w="7439044">
                  <a:moveTo>
                    <a:pt x="0" y="0"/>
                  </a:moveTo>
                  <a:lnTo>
                    <a:pt x="7439044" y="0"/>
                  </a:lnTo>
                  <a:lnTo>
                    <a:pt x="7439044" y="741136"/>
                  </a:lnTo>
                  <a:lnTo>
                    <a:pt x="0" y="741136"/>
                  </a:lnTo>
                  <a:close/>
                </a:path>
              </a:pathLst>
            </a:custGeom>
            <a:solidFill>
              <a:srgbClr val="000000">
                <a:alpha val="0"/>
              </a:srgbClr>
            </a:solidFill>
          </p:spPr>
        </p:sp>
        <p:sp>
          <p:nvSpPr>
            <p:cNvPr name="TextBox 12" id="12"/>
            <p:cNvSpPr txBox="true"/>
            <p:nvPr/>
          </p:nvSpPr>
          <p:spPr>
            <a:xfrm>
              <a:off x="0" y="-19050"/>
              <a:ext cx="7439043" cy="760186"/>
            </a:xfrm>
            <a:prstGeom prst="rect">
              <a:avLst/>
            </a:prstGeom>
          </p:spPr>
          <p:txBody>
            <a:bodyPr anchor="t" rtlCol="false" tIns="0" lIns="0" bIns="0" rIns="0"/>
            <a:lstStyle/>
            <a:p>
              <a:pPr algn="ctr">
                <a:lnSpc>
                  <a:spcPts val="3240"/>
                </a:lnSpc>
              </a:pPr>
              <a:r>
                <a:rPr lang="en-US" sz="2700">
                  <a:solidFill>
                    <a:srgbClr val="FFFFFF"/>
                  </a:solidFill>
                  <a:latin typeface="Times New Roman"/>
                  <a:ea typeface="Times New Roman"/>
                  <a:cs typeface="Times New Roman"/>
                  <a:sym typeface="Times New Roman"/>
                </a:rPr>
                <a:t>Model Performance vs.  SOTA</a:t>
              </a:r>
            </a:p>
          </p:txBody>
        </p:sp>
      </p:grpSp>
      <p:grpSp>
        <p:nvGrpSpPr>
          <p:cNvPr name="Group 13" id="13"/>
          <p:cNvGrpSpPr/>
          <p:nvPr/>
        </p:nvGrpSpPr>
        <p:grpSpPr>
          <a:xfrm rot="0">
            <a:off x="7522031" y="7574757"/>
            <a:ext cx="3293268" cy="2077492"/>
            <a:chOff x="0" y="0"/>
            <a:chExt cx="4391024" cy="2769990"/>
          </a:xfrm>
        </p:grpSpPr>
        <p:sp>
          <p:nvSpPr>
            <p:cNvPr name="Freeform 14" id="14"/>
            <p:cNvSpPr/>
            <p:nvPr/>
          </p:nvSpPr>
          <p:spPr>
            <a:xfrm flipH="false" flipV="false" rot="0">
              <a:off x="0" y="0"/>
              <a:ext cx="4391024" cy="2769990"/>
            </a:xfrm>
            <a:custGeom>
              <a:avLst/>
              <a:gdLst/>
              <a:ahLst/>
              <a:cxnLst/>
              <a:rect r="r" b="b" t="t" l="l"/>
              <a:pathLst>
                <a:path h="2769990" w="4391024">
                  <a:moveTo>
                    <a:pt x="0" y="0"/>
                  </a:moveTo>
                  <a:lnTo>
                    <a:pt x="4391024" y="0"/>
                  </a:lnTo>
                  <a:lnTo>
                    <a:pt x="4391024" y="2769990"/>
                  </a:lnTo>
                  <a:lnTo>
                    <a:pt x="0" y="2769990"/>
                  </a:lnTo>
                  <a:close/>
                </a:path>
              </a:pathLst>
            </a:custGeom>
            <a:solidFill>
              <a:srgbClr val="000000">
                <a:alpha val="0"/>
              </a:srgbClr>
            </a:solidFill>
          </p:spPr>
        </p:sp>
        <p:sp>
          <p:nvSpPr>
            <p:cNvPr name="TextBox 15" id="15"/>
            <p:cNvSpPr txBox="true"/>
            <p:nvPr/>
          </p:nvSpPr>
          <p:spPr>
            <a:xfrm>
              <a:off x="0" y="-19050"/>
              <a:ext cx="4391024" cy="2789040"/>
            </a:xfrm>
            <a:prstGeom prst="rect">
              <a:avLst/>
            </a:prstGeom>
          </p:spPr>
          <p:txBody>
            <a:bodyPr anchor="t" rtlCol="false" tIns="0" lIns="0" bIns="0" rIns="0"/>
            <a:lstStyle/>
            <a:p>
              <a:pPr algn="ctr">
                <a:lnSpc>
                  <a:spcPts val="2160"/>
                </a:lnSpc>
              </a:pPr>
              <a:r>
                <a:rPr lang="en-US" sz="1800">
                  <a:solidFill>
                    <a:srgbClr val="FFFFFF"/>
                  </a:solidFill>
                  <a:latin typeface="Times New Roman"/>
                  <a:ea typeface="Times New Roman"/>
                  <a:cs typeface="Times New Roman"/>
                  <a:sym typeface="Times New Roman"/>
                </a:rPr>
                <a:t>Can a modern backbone beat ResNet34 under realistic training cost?</a:t>
              </a:r>
            </a:p>
          </p:txBody>
        </p:sp>
      </p:grpSp>
      <p:grpSp>
        <p:nvGrpSpPr>
          <p:cNvPr name="Group 16" id="16"/>
          <p:cNvGrpSpPr/>
          <p:nvPr/>
        </p:nvGrpSpPr>
        <p:grpSpPr>
          <a:xfrm rot="0">
            <a:off x="11427087" y="6640285"/>
            <a:ext cx="5785363" cy="555852"/>
            <a:chOff x="0" y="0"/>
            <a:chExt cx="7713818" cy="741136"/>
          </a:xfrm>
        </p:grpSpPr>
        <p:sp>
          <p:nvSpPr>
            <p:cNvPr name="Freeform 17" id="17"/>
            <p:cNvSpPr/>
            <p:nvPr/>
          </p:nvSpPr>
          <p:spPr>
            <a:xfrm flipH="false" flipV="false" rot="0">
              <a:off x="0" y="0"/>
              <a:ext cx="7713818" cy="741136"/>
            </a:xfrm>
            <a:custGeom>
              <a:avLst/>
              <a:gdLst/>
              <a:ahLst/>
              <a:cxnLst/>
              <a:rect r="r" b="b" t="t" l="l"/>
              <a:pathLst>
                <a:path h="741136" w="7713818">
                  <a:moveTo>
                    <a:pt x="0" y="0"/>
                  </a:moveTo>
                  <a:lnTo>
                    <a:pt x="7713818" y="0"/>
                  </a:lnTo>
                  <a:lnTo>
                    <a:pt x="7713818" y="741136"/>
                  </a:lnTo>
                  <a:lnTo>
                    <a:pt x="0" y="741136"/>
                  </a:lnTo>
                  <a:close/>
                </a:path>
              </a:pathLst>
            </a:custGeom>
            <a:solidFill>
              <a:srgbClr val="000000">
                <a:alpha val="0"/>
              </a:srgbClr>
            </a:solidFill>
          </p:spPr>
        </p:sp>
        <p:sp>
          <p:nvSpPr>
            <p:cNvPr name="TextBox 18" id="18"/>
            <p:cNvSpPr txBox="true"/>
            <p:nvPr/>
          </p:nvSpPr>
          <p:spPr>
            <a:xfrm>
              <a:off x="0" y="-19050"/>
              <a:ext cx="7713818" cy="760186"/>
            </a:xfrm>
            <a:prstGeom prst="rect">
              <a:avLst/>
            </a:prstGeom>
          </p:spPr>
          <p:txBody>
            <a:bodyPr anchor="t" rtlCol="false" tIns="0" lIns="0" bIns="0" rIns="0"/>
            <a:lstStyle/>
            <a:p>
              <a:pPr algn="ctr">
                <a:lnSpc>
                  <a:spcPts val="3240"/>
                </a:lnSpc>
              </a:pPr>
              <a:r>
                <a:rPr lang="en-US" sz="2700">
                  <a:solidFill>
                    <a:srgbClr val="FFFFFF"/>
                  </a:solidFill>
                  <a:latin typeface="Times New Roman"/>
                  <a:ea typeface="Times New Roman"/>
                  <a:cs typeface="Times New Roman"/>
                  <a:sym typeface="Times New Roman"/>
                </a:rPr>
                <a:t>Towards Clinically Useful AI Assistance</a:t>
              </a:r>
            </a:p>
          </p:txBody>
        </p:sp>
      </p:grpSp>
      <p:grpSp>
        <p:nvGrpSpPr>
          <p:cNvPr name="Group 19" id="19"/>
          <p:cNvGrpSpPr/>
          <p:nvPr/>
        </p:nvGrpSpPr>
        <p:grpSpPr>
          <a:xfrm rot="0">
            <a:off x="12061939" y="7574757"/>
            <a:ext cx="4515659" cy="2077492"/>
            <a:chOff x="0" y="0"/>
            <a:chExt cx="6020878" cy="2769990"/>
          </a:xfrm>
        </p:grpSpPr>
        <p:sp>
          <p:nvSpPr>
            <p:cNvPr name="Freeform 20" id="20"/>
            <p:cNvSpPr/>
            <p:nvPr/>
          </p:nvSpPr>
          <p:spPr>
            <a:xfrm flipH="false" flipV="false" rot="0">
              <a:off x="0" y="0"/>
              <a:ext cx="6020878" cy="2769990"/>
            </a:xfrm>
            <a:custGeom>
              <a:avLst/>
              <a:gdLst/>
              <a:ahLst/>
              <a:cxnLst/>
              <a:rect r="r" b="b" t="t" l="l"/>
              <a:pathLst>
                <a:path h="2769990" w="6020878">
                  <a:moveTo>
                    <a:pt x="0" y="0"/>
                  </a:moveTo>
                  <a:lnTo>
                    <a:pt x="6020878" y="0"/>
                  </a:lnTo>
                  <a:lnTo>
                    <a:pt x="6020878" y="2769990"/>
                  </a:lnTo>
                  <a:lnTo>
                    <a:pt x="0" y="2769990"/>
                  </a:lnTo>
                  <a:close/>
                </a:path>
              </a:pathLst>
            </a:custGeom>
            <a:solidFill>
              <a:srgbClr val="000000">
                <a:alpha val="0"/>
              </a:srgbClr>
            </a:solidFill>
          </p:spPr>
        </p:sp>
        <p:sp>
          <p:nvSpPr>
            <p:cNvPr name="TextBox 21" id="21"/>
            <p:cNvSpPr txBox="true"/>
            <p:nvPr/>
          </p:nvSpPr>
          <p:spPr>
            <a:xfrm>
              <a:off x="0" y="-19050"/>
              <a:ext cx="6020878" cy="2789040"/>
            </a:xfrm>
            <a:prstGeom prst="rect">
              <a:avLst/>
            </a:prstGeom>
          </p:spPr>
          <p:txBody>
            <a:bodyPr anchor="t" rtlCol="false" tIns="0" lIns="0" bIns="0" rIns="0"/>
            <a:lstStyle/>
            <a:p>
              <a:pPr algn="ctr">
                <a:lnSpc>
                  <a:spcPts val="2160"/>
                </a:lnSpc>
              </a:pPr>
              <a:r>
                <a:rPr lang="en-US" sz="1800">
                  <a:solidFill>
                    <a:srgbClr val="FFFFFF"/>
                  </a:solidFill>
                  <a:latin typeface="Times New Roman"/>
                  <a:ea typeface="Times New Roman"/>
                  <a:cs typeface="Times New Roman"/>
                  <a:sym typeface="Times New Roman"/>
                </a:rPr>
                <a:t>How can we build a robust and interpretable system that truly assists pathologists in lymph-node screening?</a:t>
              </a:r>
            </a:p>
          </p:txBody>
        </p:sp>
      </p:grpSp>
      <p:grpSp>
        <p:nvGrpSpPr>
          <p:cNvPr name="Group 22" id="22"/>
          <p:cNvGrpSpPr/>
          <p:nvPr/>
        </p:nvGrpSpPr>
        <p:grpSpPr>
          <a:xfrm rot="0">
            <a:off x="0" y="619125"/>
            <a:ext cx="68578" cy="807913"/>
            <a:chOff x="0" y="0"/>
            <a:chExt cx="91438" cy="1077218"/>
          </a:xfrm>
        </p:grpSpPr>
        <p:sp>
          <p:nvSpPr>
            <p:cNvPr name="Freeform 23" id="2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24" id="24"/>
          <p:cNvGrpSpPr/>
          <p:nvPr/>
        </p:nvGrpSpPr>
        <p:grpSpPr>
          <a:xfrm rot="0">
            <a:off x="171448" y="619125"/>
            <a:ext cx="928688" cy="807913"/>
            <a:chOff x="0" y="0"/>
            <a:chExt cx="1238250" cy="1077218"/>
          </a:xfrm>
        </p:grpSpPr>
        <p:sp>
          <p:nvSpPr>
            <p:cNvPr name="Freeform 25" id="2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26" id="26"/>
          <p:cNvGrpSpPr/>
          <p:nvPr/>
        </p:nvGrpSpPr>
        <p:grpSpPr>
          <a:xfrm rot="0">
            <a:off x="3137892" y="7196137"/>
            <a:ext cx="1496616" cy="68578"/>
            <a:chOff x="0" y="0"/>
            <a:chExt cx="1995488" cy="91438"/>
          </a:xfrm>
        </p:grpSpPr>
        <p:sp>
          <p:nvSpPr>
            <p:cNvPr name="Freeform 27" id="27"/>
            <p:cNvSpPr/>
            <p:nvPr/>
          </p:nvSpPr>
          <p:spPr>
            <a:xfrm flipH="false" flipV="false" rot="0">
              <a:off x="0" y="0"/>
              <a:ext cx="1995551" cy="91440"/>
            </a:xfrm>
            <a:custGeom>
              <a:avLst/>
              <a:gdLst/>
              <a:ahLst/>
              <a:cxnLst/>
              <a:rect r="r" b="b" t="t" l="l"/>
              <a:pathLst>
                <a:path h="91440" w="1995551">
                  <a:moveTo>
                    <a:pt x="0" y="0"/>
                  </a:moveTo>
                  <a:lnTo>
                    <a:pt x="1995551" y="0"/>
                  </a:lnTo>
                  <a:lnTo>
                    <a:pt x="1995551" y="91440"/>
                  </a:lnTo>
                  <a:lnTo>
                    <a:pt x="0" y="91440"/>
                  </a:lnTo>
                  <a:close/>
                </a:path>
              </a:pathLst>
            </a:custGeom>
            <a:solidFill>
              <a:srgbClr val="F7B902"/>
            </a:solidFill>
          </p:spPr>
        </p:sp>
      </p:grpSp>
      <p:grpSp>
        <p:nvGrpSpPr>
          <p:cNvPr name="Group 28" id="28"/>
          <p:cNvGrpSpPr/>
          <p:nvPr/>
        </p:nvGrpSpPr>
        <p:grpSpPr>
          <a:xfrm rot="0">
            <a:off x="8395692" y="7196137"/>
            <a:ext cx="1496616" cy="68578"/>
            <a:chOff x="0" y="0"/>
            <a:chExt cx="1995488" cy="91438"/>
          </a:xfrm>
        </p:grpSpPr>
        <p:sp>
          <p:nvSpPr>
            <p:cNvPr name="Freeform 29" id="29"/>
            <p:cNvSpPr/>
            <p:nvPr/>
          </p:nvSpPr>
          <p:spPr>
            <a:xfrm flipH="false" flipV="false" rot="0">
              <a:off x="0" y="0"/>
              <a:ext cx="1995551" cy="91440"/>
            </a:xfrm>
            <a:custGeom>
              <a:avLst/>
              <a:gdLst/>
              <a:ahLst/>
              <a:cxnLst/>
              <a:rect r="r" b="b" t="t" l="l"/>
              <a:pathLst>
                <a:path h="91440" w="1995551">
                  <a:moveTo>
                    <a:pt x="0" y="0"/>
                  </a:moveTo>
                  <a:lnTo>
                    <a:pt x="1995551" y="0"/>
                  </a:lnTo>
                  <a:lnTo>
                    <a:pt x="1995551" y="91440"/>
                  </a:lnTo>
                  <a:lnTo>
                    <a:pt x="0" y="91440"/>
                  </a:lnTo>
                  <a:close/>
                </a:path>
              </a:pathLst>
            </a:custGeom>
            <a:solidFill>
              <a:srgbClr val="F7B902"/>
            </a:solidFill>
          </p:spPr>
        </p:sp>
      </p:grpSp>
      <p:grpSp>
        <p:nvGrpSpPr>
          <p:cNvPr name="Group 30" id="30"/>
          <p:cNvGrpSpPr/>
          <p:nvPr/>
        </p:nvGrpSpPr>
        <p:grpSpPr>
          <a:xfrm rot="0">
            <a:off x="13571461" y="7230427"/>
            <a:ext cx="1496616" cy="68578"/>
            <a:chOff x="0" y="0"/>
            <a:chExt cx="1995488" cy="91438"/>
          </a:xfrm>
        </p:grpSpPr>
        <p:sp>
          <p:nvSpPr>
            <p:cNvPr name="Freeform 31" id="31"/>
            <p:cNvSpPr/>
            <p:nvPr/>
          </p:nvSpPr>
          <p:spPr>
            <a:xfrm flipH="false" flipV="false" rot="0">
              <a:off x="0" y="0"/>
              <a:ext cx="1995551" cy="91440"/>
            </a:xfrm>
            <a:custGeom>
              <a:avLst/>
              <a:gdLst/>
              <a:ahLst/>
              <a:cxnLst/>
              <a:rect r="r" b="b" t="t" l="l"/>
              <a:pathLst>
                <a:path h="91440" w="1995551">
                  <a:moveTo>
                    <a:pt x="0" y="0"/>
                  </a:moveTo>
                  <a:lnTo>
                    <a:pt x="1995551" y="0"/>
                  </a:lnTo>
                  <a:lnTo>
                    <a:pt x="1995551" y="91440"/>
                  </a:lnTo>
                  <a:lnTo>
                    <a:pt x="0" y="91440"/>
                  </a:lnTo>
                  <a:close/>
                </a:path>
              </a:pathLst>
            </a:custGeom>
            <a:solidFill>
              <a:srgbClr val="F7B902"/>
            </a:solidFill>
          </p:spPr>
        </p:sp>
      </p:grpSp>
      <p:grpSp>
        <p:nvGrpSpPr>
          <p:cNvPr name="Group 32" id="32"/>
          <p:cNvGrpSpPr/>
          <p:nvPr/>
        </p:nvGrpSpPr>
        <p:grpSpPr>
          <a:xfrm rot="0">
            <a:off x="1231581" y="542925"/>
            <a:ext cx="3809295" cy="950830"/>
            <a:chOff x="0" y="0"/>
            <a:chExt cx="3275984" cy="817711"/>
          </a:xfrm>
        </p:grpSpPr>
        <p:sp>
          <p:nvSpPr>
            <p:cNvPr name="Freeform 33" id="33"/>
            <p:cNvSpPr/>
            <p:nvPr/>
          </p:nvSpPr>
          <p:spPr>
            <a:xfrm flipH="false" flipV="false" rot="0">
              <a:off x="0" y="0"/>
              <a:ext cx="3275984" cy="817711"/>
            </a:xfrm>
            <a:custGeom>
              <a:avLst/>
              <a:gdLst/>
              <a:ahLst/>
              <a:cxnLst/>
              <a:rect r="r" b="b" t="t" l="l"/>
              <a:pathLst>
                <a:path h="817711" w="3275984">
                  <a:moveTo>
                    <a:pt x="0" y="0"/>
                  </a:moveTo>
                  <a:lnTo>
                    <a:pt x="3275984" y="0"/>
                  </a:lnTo>
                  <a:lnTo>
                    <a:pt x="3275984" y="817711"/>
                  </a:lnTo>
                  <a:lnTo>
                    <a:pt x="0" y="817711"/>
                  </a:lnTo>
                  <a:close/>
                </a:path>
              </a:pathLst>
            </a:custGeom>
            <a:solidFill>
              <a:srgbClr val="000000">
                <a:alpha val="0"/>
              </a:srgbClr>
            </a:solidFill>
          </p:spPr>
        </p:sp>
        <p:sp>
          <p:nvSpPr>
            <p:cNvPr name="TextBox 34" id="34"/>
            <p:cNvSpPr txBox="true"/>
            <p:nvPr/>
          </p:nvSpPr>
          <p:spPr>
            <a:xfrm>
              <a:off x="0" y="-19050"/>
              <a:ext cx="3275984"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Challenges</a:t>
              </a:r>
            </a:p>
          </p:txBody>
        </p:sp>
      </p:grpSp>
      <p:sp>
        <p:nvSpPr>
          <p:cNvPr name="Freeform 35" id="35"/>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6" id="36"/>
          <p:cNvGrpSpPr/>
          <p:nvPr/>
        </p:nvGrpSpPr>
        <p:grpSpPr>
          <a:xfrm rot="0">
            <a:off x="17847303" y="9694902"/>
            <a:ext cx="1268668" cy="2170263"/>
            <a:chOff x="0" y="0"/>
            <a:chExt cx="431800" cy="738664"/>
          </a:xfrm>
        </p:grpSpPr>
        <p:sp>
          <p:nvSpPr>
            <p:cNvPr name="Freeform 37" id="37"/>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38" id="38"/>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7</a:t>
              </a:r>
            </a:p>
          </p:txBody>
        </p:sp>
      </p:grpSp>
      <p:sp>
        <p:nvSpPr>
          <p:cNvPr name="Freeform 39" id="39"/>
          <p:cNvSpPr/>
          <p:nvPr/>
        </p:nvSpPr>
        <p:spPr>
          <a:xfrm flipH="false" flipV="false" rot="0">
            <a:off x="1553577" y="2894093"/>
            <a:ext cx="4714572" cy="3007391"/>
          </a:xfrm>
          <a:custGeom>
            <a:avLst/>
            <a:gdLst/>
            <a:ahLst/>
            <a:cxnLst/>
            <a:rect r="r" b="b" t="t" l="l"/>
            <a:pathLst>
              <a:path h="3007391" w="4714572">
                <a:moveTo>
                  <a:pt x="0" y="0"/>
                </a:moveTo>
                <a:lnTo>
                  <a:pt x="4714572" y="0"/>
                </a:lnTo>
                <a:lnTo>
                  <a:pt x="4714572" y="3007390"/>
                </a:lnTo>
                <a:lnTo>
                  <a:pt x="0" y="3007390"/>
                </a:lnTo>
                <a:lnTo>
                  <a:pt x="0" y="0"/>
                </a:lnTo>
                <a:close/>
              </a:path>
            </a:pathLst>
          </a:custGeom>
          <a:blipFill>
            <a:blip r:embed="rId5"/>
            <a:stretch>
              <a:fillRect l="-2945" t="0" r="-5332" b="0"/>
            </a:stretch>
          </a:blipFill>
        </p:spPr>
      </p:sp>
      <p:sp>
        <p:nvSpPr>
          <p:cNvPr name="Freeform 40" id="40"/>
          <p:cNvSpPr/>
          <p:nvPr/>
        </p:nvSpPr>
        <p:spPr>
          <a:xfrm flipH="false" flipV="false" rot="0">
            <a:off x="12061939" y="2853192"/>
            <a:ext cx="4515659" cy="2977236"/>
          </a:xfrm>
          <a:custGeom>
            <a:avLst/>
            <a:gdLst/>
            <a:ahLst/>
            <a:cxnLst/>
            <a:rect r="r" b="b" t="t" l="l"/>
            <a:pathLst>
              <a:path h="2977236" w="4515659">
                <a:moveTo>
                  <a:pt x="0" y="0"/>
                </a:moveTo>
                <a:lnTo>
                  <a:pt x="4515659" y="0"/>
                </a:lnTo>
                <a:lnTo>
                  <a:pt x="4515659" y="2977236"/>
                </a:lnTo>
                <a:lnTo>
                  <a:pt x="0" y="2977236"/>
                </a:lnTo>
                <a:lnTo>
                  <a:pt x="0" y="0"/>
                </a:lnTo>
                <a:close/>
              </a:path>
            </a:pathLst>
          </a:custGeom>
          <a:blipFill>
            <a:blip r:embed="rId6"/>
            <a:stretch>
              <a:fillRect l="0" t="0" r="-4880" b="0"/>
            </a:stretch>
          </a:blipFill>
        </p:spPr>
      </p:sp>
      <p:sp>
        <p:nvSpPr>
          <p:cNvPr name="Freeform 41" id="41"/>
          <p:cNvSpPr/>
          <p:nvPr/>
        </p:nvSpPr>
        <p:spPr>
          <a:xfrm flipH="false" flipV="false" rot="0">
            <a:off x="7084668" y="2894093"/>
            <a:ext cx="4342419" cy="2977236"/>
          </a:xfrm>
          <a:custGeom>
            <a:avLst/>
            <a:gdLst/>
            <a:ahLst/>
            <a:cxnLst/>
            <a:rect r="r" b="b" t="t" l="l"/>
            <a:pathLst>
              <a:path h="2977236" w="4342419">
                <a:moveTo>
                  <a:pt x="0" y="0"/>
                </a:moveTo>
                <a:lnTo>
                  <a:pt x="4342419" y="0"/>
                </a:lnTo>
                <a:lnTo>
                  <a:pt x="4342419" y="2977236"/>
                </a:lnTo>
                <a:lnTo>
                  <a:pt x="0" y="2977236"/>
                </a:lnTo>
                <a:lnTo>
                  <a:pt x="0" y="0"/>
                </a:lnTo>
                <a:close/>
              </a:path>
            </a:pathLst>
          </a:custGeom>
          <a:blipFill>
            <a:blip r:embed="rId7"/>
            <a:stretch>
              <a:fillRect l="0" t="-2416" r="0" b="-2416"/>
            </a:stretch>
          </a:blipFill>
        </p:spPr>
      </p:sp>
      <p:sp>
        <p:nvSpPr>
          <p:cNvPr name="Freeform 42" id="42"/>
          <p:cNvSpPr/>
          <p:nvPr/>
        </p:nvSpPr>
        <p:spPr>
          <a:xfrm flipH="false" flipV="false" rot="0">
            <a:off x="12061939" y="2829752"/>
            <a:ext cx="4515659" cy="3041577"/>
          </a:xfrm>
          <a:custGeom>
            <a:avLst/>
            <a:gdLst/>
            <a:ahLst/>
            <a:cxnLst/>
            <a:rect r="r" b="b" t="t" l="l"/>
            <a:pathLst>
              <a:path h="3041577" w="4515659">
                <a:moveTo>
                  <a:pt x="0" y="0"/>
                </a:moveTo>
                <a:lnTo>
                  <a:pt x="4515659" y="0"/>
                </a:lnTo>
                <a:lnTo>
                  <a:pt x="4515659" y="3041577"/>
                </a:lnTo>
                <a:lnTo>
                  <a:pt x="0" y="3041577"/>
                </a:lnTo>
                <a:lnTo>
                  <a:pt x="0" y="0"/>
                </a:lnTo>
                <a:close/>
              </a:path>
            </a:pathLst>
          </a:custGeom>
          <a:blipFill>
            <a:blip r:embed="rId8"/>
            <a:stretch>
              <a:fillRect l="0" t="-3539" r="0" b="-3539"/>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8" cy="807913"/>
            <a:chOff x="0" y="0"/>
            <a:chExt cx="91438" cy="1077218"/>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3"/>
            <a:chOff x="0" y="0"/>
            <a:chExt cx="1238250" cy="1077218"/>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6" id="6"/>
          <p:cNvGrpSpPr/>
          <p:nvPr/>
        </p:nvGrpSpPr>
        <p:grpSpPr>
          <a:xfrm rot="0">
            <a:off x="0" y="2552700"/>
            <a:ext cx="10416998" cy="5829300"/>
            <a:chOff x="0" y="0"/>
            <a:chExt cx="13889330" cy="7772400"/>
          </a:xfrm>
        </p:grpSpPr>
        <p:sp>
          <p:nvSpPr>
            <p:cNvPr name="Freeform 7" id="7"/>
            <p:cNvSpPr/>
            <p:nvPr/>
          </p:nvSpPr>
          <p:spPr>
            <a:xfrm flipH="false" flipV="false" rot="0">
              <a:off x="0" y="0"/>
              <a:ext cx="13889331" cy="7772400"/>
            </a:xfrm>
            <a:custGeom>
              <a:avLst/>
              <a:gdLst/>
              <a:ahLst/>
              <a:cxnLst/>
              <a:rect r="r" b="b" t="t" l="l"/>
              <a:pathLst>
                <a:path h="7772400" w="13889331">
                  <a:moveTo>
                    <a:pt x="0" y="0"/>
                  </a:moveTo>
                  <a:lnTo>
                    <a:pt x="13889331" y="0"/>
                  </a:lnTo>
                  <a:lnTo>
                    <a:pt x="13889331" y="7772400"/>
                  </a:lnTo>
                  <a:lnTo>
                    <a:pt x="0" y="7772400"/>
                  </a:lnTo>
                  <a:close/>
                </a:path>
              </a:pathLst>
            </a:custGeom>
            <a:solidFill>
              <a:srgbClr val="F7B902"/>
            </a:solidFill>
          </p:spPr>
        </p:sp>
      </p:grpSp>
      <p:grpSp>
        <p:nvGrpSpPr>
          <p:cNvPr name="Group 8" id="8"/>
          <p:cNvGrpSpPr/>
          <p:nvPr/>
        </p:nvGrpSpPr>
        <p:grpSpPr>
          <a:xfrm rot="0">
            <a:off x="2400624" y="3245837"/>
            <a:ext cx="7600832" cy="1107996"/>
            <a:chOff x="0" y="0"/>
            <a:chExt cx="10134442" cy="1477328"/>
          </a:xfrm>
        </p:grpSpPr>
        <p:sp>
          <p:nvSpPr>
            <p:cNvPr name="Freeform 9" id="9"/>
            <p:cNvSpPr/>
            <p:nvPr/>
          </p:nvSpPr>
          <p:spPr>
            <a:xfrm flipH="false" flipV="false" rot="0">
              <a:off x="0" y="0"/>
              <a:ext cx="10134443" cy="1477328"/>
            </a:xfrm>
            <a:custGeom>
              <a:avLst/>
              <a:gdLst/>
              <a:ahLst/>
              <a:cxnLst/>
              <a:rect r="r" b="b" t="t" l="l"/>
              <a:pathLst>
                <a:path h="1477328" w="10134443">
                  <a:moveTo>
                    <a:pt x="0" y="0"/>
                  </a:moveTo>
                  <a:lnTo>
                    <a:pt x="10134443" y="0"/>
                  </a:lnTo>
                  <a:lnTo>
                    <a:pt x="10134443" y="1477328"/>
                  </a:lnTo>
                  <a:lnTo>
                    <a:pt x="0" y="1477328"/>
                  </a:lnTo>
                  <a:close/>
                </a:path>
              </a:pathLst>
            </a:custGeom>
            <a:solidFill>
              <a:srgbClr val="000000">
                <a:alpha val="0"/>
              </a:srgbClr>
            </a:solidFill>
          </p:spPr>
        </p:sp>
        <p:sp>
          <p:nvSpPr>
            <p:cNvPr name="TextBox 10" id="10"/>
            <p:cNvSpPr txBox="true"/>
            <p:nvPr/>
          </p:nvSpPr>
          <p:spPr>
            <a:xfrm>
              <a:off x="0" y="0"/>
              <a:ext cx="10134442" cy="1477328"/>
            </a:xfrm>
            <a:prstGeom prst="rect">
              <a:avLst/>
            </a:prstGeom>
          </p:spPr>
          <p:txBody>
            <a:bodyPr anchor="ctr" rtlCol="false" tIns="0" lIns="0" bIns="0" rIns="0"/>
            <a:lstStyle/>
            <a:p>
              <a:pPr algn="l">
                <a:lnSpc>
                  <a:spcPts val="2879"/>
                </a:lnSpc>
              </a:pPr>
              <a:r>
                <a:rPr lang="en-US" sz="2399" u="sng" b="true">
                  <a:solidFill>
                    <a:srgbClr val="FFFFFF"/>
                  </a:solidFill>
                  <a:latin typeface="Century Gothic Paneuropean Bold"/>
                  <a:ea typeface="Century Gothic Paneuropean Bold"/>
                  <a:cs typeface="Century Gothic Paneuropean Bold"/>
                  <a:sym typeface="Century Gothic Paneuropean Bold"/>
                </a:rPr>
                <a:t>Stain-Robust Classifier for Lymph-Node Metastasis</a:t>
              </a:r>
            </a:p>
          </p:txBody>
        </p:sp>
      </p:grpSp>
      <p:grpSp>
        <p:nvGrpSpPr>
          <p:cNvPr name="Group 11" id="11"/>
          <p:cNvGrpSpPr/>
          <p:nvPr/>
        </p:nvGrpSpPr>
        <p:grpSpPr>
          <a:xfrm rot="0">
            <a:off x="2400624" y="4966933"/>
            <a:ext cx="7834706" cy="1107996"/>
            <a:chOff x="0" y="0"/>
            <a:chExt cx="10446274" cy="1477328"/>
          </a:xfrm>
        </p:grpSpPr>
        <p:sp>
          <p:nvSpPr>
            <p:cNvPr name="Freeform 12" id="12"/>
            <p:cNvSpPr/>
            <p:nvPr/>
          </p:nvSpPr>
          <p:spPr>
            <a:xfrm flipH="false" flipV="false" rot="0">
              <a:off x="0" y="0"/>
              <a:ext cx="10446275" cy="1477328"/>
            </a:xfrm>
            <a:custGeom>
              <a:avLst/>
              <a:gdLst/>
              <a:ahLst/>
              <a:cxnLst/>
              <a:rect r="r" b="b" t="t" l="l"/>
              <a:pathLst>
                <a:path h="1477328" w="10446275">
                  <a:moveTo>
                    <a:pt x="0" y="0"/>
                  </a:moveTo>
                  <a:lnTo>
                    <a:pt x="10446275" y="0"/>
                  </a:lnTo>
                  <a:lnTo>
                    <a:pt x="10446275" y="1477328"/>
                  </a:lnTo>
                  <a:lnTo>
                    <a:pt x="0" y="1477328"/>
                  </a:lnTo>
                  <a:close/>
                </a:path>
              </a:pathLst>
            </a:custGeom>
            <a:solidFill>
              <a:srgbClr val="000000">
                <a:alpha val="0"/>
              </a:srgbClr>
            </a:solidFill>
          </p:spPr>
        </p:sp>
        <p:sp>
          <p:nvSpPr>
            <p:cNvPr name="TextBox 13" id="13"/>
            <p:cNvSpPr txBox="true"/>
            <p:nvPr/>
          </p:nvSpPr>
          <p:spPr>
            <a:xfrm>
              <a:off x="0" y="0"/>
              <a:ext cx="10446274" cy="1477328"/>
            </a:xfrm>
            <a:prstGeom prst="rect">
              <a:avLst/>
            </a:prstGeom>
          </p:spPr>
          <p:txBody>
            <a:bodyPr anchor="ctr" rtlCol="false" tIns="0" lIns="0" bIns="0" rIns="0"/>
            <a:lstStyle/>
            <a:p>
              <a:pPr algn="l">
                <a:lnSpc>
                  <a:spcPts val="2879"/>
                </a:lnSpc>
              </a:pPr>
              <a:r>
                <a:rPr lang="en-US" b="true" sz="2399" u="sng">
                  <a:solidFill>
                    <a:srgbClr val="FFFFFF"/>
                  </a:solidFill>
                  <a:latin typeface="Century Gothic Paneuropean Bold"/>
                  <a:ea typeface="Century Gothic Paneuropean Bold"/>
                  <a:cs typeface="Century Gothic Paneuropean Bold"/>
                  <a:sym typeface="Century Gothic Paneuropean Bold"/>
                </a:rPr>
                <a:t>Systematic Evaluat</a:t>
              </a:r>
              <a:r>
                <a:rPr lang="en-US" b="true" sz="2399" u="sng">
                  <a:solidFill>
                    <a:srgbClr val="FFFFFF"/>
                  </a:solidFill>
                  <a:latin typeface="Century Gothic Paneuropean Bold"/>
                  <a:ea typeface="Century Gothic Paneuropean Bold"/>
                  <a:cs typeface="Century Gothic Paneuropean Bold"/>
                  <a:sym typeface="Century Gothic Paneuropean Bold"/>
                </a:rPr>
                <a:t>ion of Stain/Color Pipelines and CNN Baselines</a:t>
              </a:r>
            </a:p>
          </p:txBody>
        </p:sp>
      </p:grpSp>
      <p:grpSp>
        <p:nvGrpSpPr>
          <p:cNvPr name="Group 14" id="14"/>
          <p:cNvGrpSpPr/>
          <p:nvPr/>
        </p:nvGrpSpPr>
        <p:grpSpPr>
          <a:xfrm rot="0">
            <a:off x="2400624" y="6688029"/>
            <a:ext cx="6236493" cy="1014216"/>
            <a:chOff x="0" y="0"/>
            <a:chExt cx="8315324" cy="1352289"/>
          </a:xfrm>
        </p:grpSpPr>
        <p:sp>
          <p:nvSpPr>
            <p:cNvPr name="Freeform 15" id="15"/>
            <p:cNvSpPr/>
            <p:nvPr/>
          </p:nvSpPr>
          <p:spPr>
            <a:xfrm flipH="false" flipV="false" rot="0">
              <a:off x="0" y="0"/>
              <a:ext cx="8315324" cy="1352289"/>
            </a:xfrm>
            <a:custGeom>
              <a:avLst/>
              <a:gdLst/>
              <a:ahLst/>
              <a:cxnLst/>
              <a:rect r="r" b="b" t="t" l="l"/>
              <a:pathLst>
                <a:path h="1352289" w="8315324">
                  <a:moveTo>
                    <a:pt x="0" y="0"/>
                  </a:moveTo>
                  <a:lnTo>
                    <a:pt x="8315324" y="0"/>
                  </a:lnTo>
                  <a:lnTo>
                    <a:pt x="8315324" y="1352289"/>
                  </a:lnTo>
                  <a:lnTo>
                    <a:pt x="0" y="1352289"/>
                  </a:lnTo>
                  <a:close/>
                </a:path>
              </a:pathLst>
            </a:custGeom>
            <a:solidFill>
              <a:srgbClr val="000000">
                <a:alpha val="0"/>
              </a:srgbClr>
            </a:solidFill>
          </p:spPr>
        </p:sp>
        <p:sp>
          <p:nvSpPr>
            <p:cNvPr name="TextBox 16" id="16"/>
            <p:cNvSpPr txBox="true"/>
            <p:nvPr/>
          </p:nvSpPr>
          <p:spPr>
            <a:xfrm>
              <a:off x="0" y="0"/>
              <a:ext cx="8315324" cy="1352289"/>
            </a:xfrm>
            <a:prstGeom prst="rect">
              <a:avLst/>
            </a:prstGeom>
          </p:spPr>
          <p:txBody>
            <a:bodyPr anchor="ctr" rtlCol="false" tIns="0" lIns="0" bIns="0" rIns="0"/>
            <a:lstStyle/>
            <a:p>
              <a:pPr algn="l">
                <a:lnSpc>
                  <a:spcPts val="2879"/>
                </a:lnSpc>
              </a:pPr>
              <a:r>
                <a:rPr lang="en-US" b="true" sz="2399" u="sng">
                  <a:solidFill>
                    <a:srgbClr val="FFFFFF"/>
                  </a:solidFill>
                  <a:latin typeface="Century Gothic Paneuropean Bold"/>
                  <a:ea typeface="Century Gothic Paneuropean Bold"/>
                  <a:cs typeface="Century Gothic Paneuropean Bold"/>
                  <a:sym typeface="Century Gothic Paneuropean Bold"/>
                </a:rPr>
                <a:t>Explainable AI Assistance for Pathologists</a:t>
              </a:r>
            </a:p>
          </p:txBody>
        </p:sp>
      </p:grpSp>
      <p:sp>
        <p:nvSpPr>
          <p:cNvPr name="Freeform 17" id="17"/>
          <p:cNvSpPr/>
          <p:nvPr/>
        </p:nvSpPr>
        <p:spPr>
          <a:xfrm flipH="false" flipV="false" rot="0">
            <a:off x="647559" y="3297847"/>
            <a:ext cx="1059080" cy="1058387"/>
          </a:xfrm>
          <a:custGeom>
            <a:avLst/>
            <a:gdLst/>
            <a:ahLst/>
            <a:cxnLst/>
            <a:rect r="r" b="b" t="t" l="l"/>
            <a:pathLst>
              <a:path h="1058387" w="1059080">
                <a:moveTo>
                  <a:pt x="0" y="0"/>
                </a:moveTo>
                <a:lnTo>
                  <a:pt x="1059080" y="0"/>
                </a:lnTo>
                <a:lnTo>
                  <a:pt x="1059080" y="1058387"/>
                </a:lnTo>
                <a:lnTo>
                  <a:pt x="0" y="1058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false" flipV="false" rot="0">
            <a:off x="647559" y="6781809"/>
            <a:ext cx="1059080" cy="920437"/>
          </a:xfrm>
          <a:custGeom>
            <a:avLst/>
            <a:gdLst/>
            <a:ahLst/>
            <a:cxnLst/>
            <a:rect r="r" b="b" t="t" l="l"/>
            <a:pathLst>
              <a:path h="920437" w="1059080">
                <a:moveTo>
                  <a:pt x="0" y="0"/>
                </a:moveTo>
                <a:lnTo>
                  <a:pt x="1059080" y="0"/>
                </a:lnTo>
                <a:lnTo>
                  <a:pt x="1059080" y="920436"/>
                </a:lnTo>
                <a:lnTo>
                  <a:pt x="0" y="9204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9" id="19"/>
          <p:cNvSpPr/>
          <p:nvPr/>
        </p:nvSpPr>
        <p:spPr>
          <a:xfrm flipH="false" flipV="false" rot="0">
            <a:off x="10375581" y="2561664"/>
            <a:ext cx="7912419" cy="5820336"/>
          </a:xfrm>
          <a:custGeom>
            <a:avLst/>
            <a:gdLst/>
            <a:ahLst/>
            <a:cxnLst/>
            <a:rect r="r" b="b" t="t" l="l"/>
            <a:pathLst>
              <a:path h="5820336" w="7912419">
                <a:moveTo>
                  <a:pt x="0" y="0"/>
                </a:moveTo>
                <a:lnTo>
                  <a:pt x="7912419" y="0"/>
                </a:lnTo>
                <a:lnTo>
                  <a:pt x="7912419" y="5820336"/>
                </a:lnTo>
                <a:lnTo>
                  <a:pt x="0" y="5820336"/>
                </a:lnTo>
                <a:lnTo>
                  <a:pt x="0" y="0"/>
                </a:lnTo>
                <a:close/>
              </a:path>
            </a:pathLst>
          </a:custGeom>
          <a:blipFill>
            <a:blip r:embed="rId7"/>
            <a:stretch>
              <a:fillRect l="-5204" t="0" r="-5204" b="0"/>
            </a:stretch>
          </a:blipFill>
        </p:spPr>
      </p:sp>
      <p:grpSp>
        <p:nvGrpSpPr>
          <p:cNvPr name="Group 20" id="20"/>
          <p:cNvGrpSpPr/>
          <p:nvPr/>
        </p:nvGrpSpPr>
        <p:grpSpPr>
          <a:xfrm rot="0">
            <a:off x="1231581" y="542925"/>
            <a:ext cx="6881790" cy="950830"/>
            <a:chOff x="0" y="0"/>
            <a:chExt cx="5918322" cy="817711"/>
          </a:xfrm>
        </p:grpSpPr>
        <p:sp>
          <p:nvSpPr>
            <p:cNvPr name="Freeform 21" id="21"/>
            <p:cNvSpPr/>
            <p:nvPr/>
          </p:nvSpPr>
          <p:spPr>
            <a:xfrm flipH="false" flipV="false" rot="0">
              <a:off x="0" y="0"/>
              <a:ext cx="5918322" cy="817711"/>
            </a:xfrm>
            <a:custGeom>
              <a:avLst/>
              <a:gdLst/>
              <a:ahLst/>
              <a:cxnLst/>
              <a:rect r="r" b="b" t="t" l="l"/>
              <a:pathLst>
                <a:path h="817711" w="5918322">
                  <a:moveTo>
                    <a:pt x="0" y="0"/>
                  </a:moveTo>
                  <a:lnTo>
                    <a:pt x="5918322" y="0"/>
                  </a:lnTo>
                  <a:lnTo>
                    <a:pt x="5918322" y="817711"/>
                  </a:lnTo>
                  <a:lnTo>
                    <a:pt x="0" y="817711"/>
                  </a:lnTo>
                  <a:close/>
                </a:path>
              </a:pathLst>
            </a:custGeom>
            <a:solidFill>
              <a:srgbClr val="000000">
                <a:alpha val="0"/>
              </a:srgbClr>
            </a:solidFill>
          </p:spPr>
        </p:sp>
        <p:sp>
          <p:nvSpPr>
            <p:cNvPr name="TextBox 22" id="22"/>
            <p:cNvSpPr txBox="true"/>
            <p:nvPr/>
          </p:nvSpPr>
          <p:spPr>
            <a:xfrm>
              <a:off x="0" y="-19050"/>
              <a:ext cx="5918322"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Contribution</a:t>
              </a:r>
            </a:p>
          </p:txBody>
        </p:sp>
      </p:grpSp>
      <p:sp>
        <p:nvSpPr>
          <p:cNvPr name="Freeform 23" id="23"/>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4" id="24"/>
          <p:cNvGrpSpPr/>
          <p:nvPr/>
        </p:nvGrpSpPr>
        <p:grpSpPr>
          <a:xfrm rot="0">
            <a:off x="17761578" y="9713952"/>
            <a:ext cx="1268668" cy="2170263"/>
            <a:chOff x="0" y="0"/>
            <a:chExt cx="431800" cy="738664"/>
          </a:xfrm>
        </p:grpSpPr>
        <p:sp>
          <p:nvSpPr>
            <p:cNvPr name="Freeform 25" id="25"/>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26" id="26"/>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8</a:t>
              </a:r>
            </a:p>
          </p:txBody>
        </p:sp>
      </p:grpSp>
      <p:sp>
        <p:nvSpPr>
          <p:cNvPr name="Freeform 27" id="27"/>
          <p:cNvSpPr/>
          <p:nvPr/>
        </p:nvSpPr>
        <p:spPr>
          <a:xfrm flipH="false" flipV="false" rot="0">
            <a:off x="647559" y="4864880"/>
            <a:ext cx="1099781" cy="1204940"/>
          </a:xfrm>
          <a:custGeom>
            <a:avLst/>
            <a:gdLst/>
            <a:ahLst/>
            <a:cxnLst/>
            <a:rect r="r" b="b" t="t" l="l"/>
            <a:pathLst>
              <a:path h="1204940" w="1099781">
                <a:moveTo>
                  <a:pt x="0" y="0"/>
                </a:moveTo>
                <a:lnTo>
                  <a:pt x="1099781" y="0"/>
                </a:lnTo>
                <a:lnTo>
                  <a:pt x="1099781" y="1204940"/>
                </a:lnTo>
                <a:lnTo>
                  <a:pt x="0" y="120494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6843252" y="575187"/>
            <a:ext cx="4601496" cy="1206475"/>
            <a:chOff x="0" y="0"/>
            <a:chExt cx="6135328" cy="1608634"/>
          </a:xfrm>
        </p:grpSpPr>
        <p:sp>
          <p:nvSpPr>
            <p:cNvPr name="Freeform 3" id="3"/>
            <p:cNvSpPr/>
            <p:nvPr/>
          </p:nvSpPr>
          <p:spPr>
            <a:xfrm flipH="false" flipV="false" rot="0">
              <a:off x="0" y="0"/>
              <a:ext cx="6135328" cy="1608634"/>
            </a:xfrm>
            <a:custGeom>
              <a:avLst/>
              <a:gdLst/>
              <a:ahLst/>
              <a:cxnLst/>
              <a:rect r="r" b="b" t="t" l="l"/>
              <a:pathLst>
                <a:path h="1608634" w="6135328">
                  <a:moveTo>
                    <a:pt x="0" y="0"/>
                  </a:moveTo>
                  <a:lnTo>
                    <a:pt x="6135328" y="0"/>
                  </a:lnTo>
                  <a:lnTo>
                    <a:pt x="6135328" y="1608634"/>
                  </a:lnTo>
                  <a:lnTo>
                    <a:pt x="0" y="1608634"/>
                  </a:lnTo>
                  <a:close/>
                </a:path>
              </a:pathLst>
            </a:custGeom>
            <a:solidFill>
              <a:srgbClr val="000000">
                <a:alpha val="0"/>
              </a:srgbClr>
            </a:solidFill>
          </p:spPr>
        </p:sp>
        <p:sp>
          <p:nvSpPr>
            <p:cNvPr name="TextBox 4" id="4"/>
            <p:cNvSpPr txBox="true"/>
            <p:nvPr/>
          </p:nvSpPr>
          <p:spPr>
            <a:xfrm>
              <a:off x="0" y="-38100"/>
              <a:ext cx="6135328" cy="1646734"/>
            </a:xfrm>
            <a:prstGeom prst="rect">
              <a:avLst/>
            </a:prstGeom>
          </p:spPr>
          <p:txBody>
            <a:bodyPr anchor="t" rtlCol="false" tIns="0" lIns="0" bIns="0" rIns="0"/>
            <a:lstStyle/>
            <a:p>
              <a:pPr algn="ctr">
                <a:lnSpc>
                  <a:spcPts val="7200"/>
                </a:lnSpc>
              </a:pPr>
              <a:r>
                <a:rPr lang="en-US" sz="6000">
                  <a:solidFill>
                    <a:srgbClr val="F7B902"/>
                  </a:solidFill>
                  <a:latin typeface="Times New Roman"/>
                  <a:ea typeface="Times New Roman"/>
                  <a:cs typeface="Times New Roman"/>
                  <a:sym typeface="Times New Roman"/>
                </a:rPr>
                <a:t>CONTENT</a:t>
              </a:r>
            </a:p>
          </p:txBody>
        </p:sp>
      </p:grpSp>
      <p:grpSp>
        <p:nvGrpSpPr>
          <p:cNvPr name="Group 5" id="5"/>
          <p:cNvGrpSpPr/>
          <p:nvPr/>
        </p:nvGrpSpPr>
        <p:grpSpPr>
          <a:xfrm rot="0">
            <a:off x="8486775" y="1637016"/>
            <a:ext cx="1314450" cy="68578"/>
            <a:chOff x="0" y="0"/>
            <a:chExt cx="1752600" cy="91438"/>
          </a:xfrm>
        </p:grpSpPr>
        <p:sp>
          <p:nvSpPr>
            <p:cNvPr name="Freeform 6" id="6"/>
            <p:cNvSpPr/>
            <p:nvPr/>
          </p:nvSpPr>
          <p:spPr>
            <a:xfrm flipH="false" flipV="false" rot="0">
              <a:off x="0" y="0"/>
              <a:ext cx="1752600" cy="91440"/>
            </a:xfrm>
            <a:custGeom>
              <a:avLst/>
              <a:gdLst/>
              <a:ahLst/>
              <a:cxnLst/>
              <a:rect r="r" b="b" t="t" l="l"/>
              <a:pathLst>
                <a:path h="91440" w="1752600">
                  <a:moveTo>
                    <a:pt x="0" y="0"/>
                  </a:moveTo>
                  <a:lnTo>
                    <a:pt x="1752600" y="0"/>
                  </a:lnTo>
                  <a:lnTo>
                    <a:pt x="1752600" y="91440"/>
                  </a:lnTo>
                  <a:lnTo>
                    <a:pt x="0" y="91440"/>
                  </a:lnTo>
                  <a:close/>
                </a:path>
              </a:pathLst>
            </a:custGeom>
            <a:solidFill>
              <a:srgbClr val="F7B902"/>
            </a:solidFill>
          </p:spPr>
        </p:sp>
      </p:grpSp>
      <p:grpSp>
        <p:nvGrpSpPr>
          <p:cNvPr name="Group 7" id="7"/>
          <p:cNvGrpSpPr/>
          <p:nvPr/>
        </p:nvGrpSpPr>
        <p:grpSpPr>
          <a:xfrm rot="0">
            <a:off x="633254" y="7364346"/>
            <a:ext cx="2405241" cy="718170"/>
            <a:chOff x="0" y="0"/>
            <a:chExt cx="3206988" cy="957560"/>
          </a:xfrm>
        </p:grpSpPr>
        <p:sp>
          <p:nvSpPr>
            <p:cNvPr name="Freeform 8" id="8"/>
            <p:cNvSpPr/>
            <p:nvPr/>
          </p:nvSpPr>
          <p:spPr>
            <a:xfrm flipH="false" flipV="false" rot="0">
              <a:off x="0" y="0"/>
              <a:ext cx="3206988" cy="957560"/>
            </a:xfrm>
            <a:custGeom>
              <a:avLst/>
              <a:gdLst/>
              <a:ahLst/>
              <a:cxnLst/>
              <a:rect r="r" b="b" t="t" l="l"/>
              <a:pathLst>
                <a:path h="957560" w="3206988">
                  <a:moveTo>
                    <a:pt x="0" y="0"/>
                  </a:moveTo>
                  <a:lnTo>
                    <a:pt x="3206988" y="0"/>
                  </a:lnTo>
                  <a:lnTo>
                    <a:pt x="3206988" y="957560"/>
                  </a:lnTo>
                  <a:lnTo>
                    <a:pt x="0" y="957560"/>
                  </a:lnTo>
                  <a:close/>
                </a:path>
              </a:pathLst>
            </a:custGeom>
            <a:solidFill>
              <a:srgbClr val="000000">
                <a:alpha val="0"/>
              </a:srgbClr>
            </a:solidFill>
          </p:spPr>
        </p:sp>
        <p:sp>
          <p:nvSpPr>
            <p:cNvPr name="TextBox 9" id="9"/>
            <p:cNvSpPr txBox="true"/>
            <p:nvPr/>
          </p:nvSpPr>
          <p:spPr>
            <a:xfrm>
              <a:off x="0" y="-28575"/>
              <a:ext cx="3206988" cy="986135"/>
            </a:xfrm>
            <a:prstGeom prst="rect">
              <a:avLst/>
            </a:prstGeom>
          </p:spPr>
          <p:txBody>
            <a:bodyPr anchor="t" rtlCol="false" tIns="0" lIns="0" bIns="0" rIns="0"/>
            <a:lstStyle/>
            <a:p>
              <a:pPr algn="ctr">
                <a:lnSpc>
                  <a:spcPts val="4320"/>
                </a:lnSpc>
              </a:pPr>
              <a:r>
                <a:rPr lang="en-US" sz="3600">
                  <a:solidFill>
                    <a:srgbClr val="FFFFFF">
                      <a:alpha val="33725"/>
                    </a:srgbClr>
                  </a:solidFill>
                  <a:latin typeface="Times New Roman"/>
                  <a:ea typeface="Times New Roman"/>
                  <a:cs typeface="Times New Roman"/>
                  <a:sym typeface="Times New Roman"/>
                </a:rPr>
                <a:t>Introduction</a:t>
              </a:r>
            </a:p>
          </p:txBody>
        </p:sp>
      </p:grpSp>
      <p:grpSp>
        <p:nvGrpSpPr>
          <p:cNvPr name="Group 10" id="10"/>
          <p:cNvGrpSpPr/>
          <p:nvPr/>
        </p:nvGrpSpPr>
        <p:grpSpPr>
          <a:xfrm rot="0">
            <a:off x="4075570" y="7130192"/>
            <a:ext cx="2654710" cy="1261095"/>
            <a:chOff x="0" y="0"/>
            <a:chExt cx="3539614" cy="1681460"/>
          </a:xfrm>
        </p:grpSpPr>
        <p:sp>
          <p:nvSpPr>
            <p:cNvPr name="Freeform 11" id="11"/>
            <p:cNvSpPr/>
            <p:nvPr/>
          </p:nvSpPr>
          <p:spPr>
            <a:xfrm flipH="false" flipV="false" rot="0">
              <a:off x="0" y="0"/>
              <a:ext cx="3539614" cy="1681460"/>
            </a:xfrm>
            <a:custGeom>
              <a:avLst/>
              <a:gdLst/>
              <a:ahLst/>
              <a:cxnLst/>
              <a:rect r="r" b="b" t="t" l="l"/>
              <a:pathLst>
                <a:path h="1681460" w="3539614">
                  <a:moveTo>
                    <a:pt x="0" y="0"/>
                  </a:moveTo>
                  <a:lnTo>
                    <a:pt x="3539614" y="0"/>
                  </a:lnTo>
                  <a:lnTo>
                    <a:pt x="3539614" y="1681460"/>
                  </a:lnTo>
                  <a:lnTo>
                    <a:pt x="0" y="1681460"/>
                  </a:lnTo>
                  <a:close/>
                </a:path>
              </a:pathLst>
            </a:custGeom>
            <a:solidFill>
              <a:srgbClr val="000000">
                <a:alpha val="0"/>
              </a:srgbClr>
            </a:solidFill>
          </p:spPr>
        </p:sp>
        <p:sp>
          <p:nvSpPr>
            <p:cNvPr name="TextBox 12" id="12"/>
            <p:cNvSpPr txBox="true"/>
            <p:nvPr/>
          </p:nvSpPr>
          <p:spPr>
            <a:xfrm>
              <a:off x="0" y="-28575"/>
              <a:ext cx="3539614" cy="1710035"/>
            </a:xfrm>
            <a:prstGeom prst="rect">
              <a:avLst/>
            </a:prstGeom>
          </p:spPr>
          <p:txBody>
            <a:bodyPr anchor="t" rtlCol="false" tIns="0" lIns="0" bIns="0" rIns="0"/>
            <a:lstStyle/>
            <a:p>
              <a:pPr algn="ctr">
                <a:lnSpc>
                  <a:spcPts val="4320"/>
                </a:lnSpc>
              </a:pPr>
              <a:r>
                <a:rPr lang="en-US" sz="3600">
                  <a:solidFill>
                    <a:srgbClr val="FFFFFF"/>
                  </a:solidFill>
                  <a:latin typeface="Times New Roman"/>
                  <a:ea typeface="Times New Roman"/>
                  <a:cs typeface="Times New Roman"/>
                  <a:sym typeface="Times New Roman"/>
                </a:rPr>
                <a:t>Problem Setting</a:t>
              </a:r>
            </a:p>
          </p:txBody>
        </p:sp>
      </p:grpSp>
      <p:grpSp>
        <p:nvGrpSpPr>
          <p:cNvPr name="Group 13" id="13"/>
          <p:cNvGrpSpPr/>
          <p:nvPr/>
        </p:nvGrpSpPr>
        <p:grpSpPr>
          <a:xfrm rot="0">
            <a:off x="11606492" y="7130192"/>
            <a:ext cx="2763519" cy="1261095"/>
            <a:chOff x="0" y="0"/>
            <a:chExt cx="3684692" cy="1681460"/>
          </a:xfrm>
        </p:grpSpPr>
        <p:sp>
          <p:nvSpPr>
            <p:cNvPr name="Freeform 14" id="14"/>
            <p:cNvSpPr/>
            <p:nvPr/>
          </p:nvSpPr>
          <p:spPr>
            <a:xfrm flipH="false" flipV="false" rot="0">
              <a:off x="0" y="0"/>
              <a:ext cx="3684692" cy="1681460"/>
            </a:xfrm>
            <a:custGeom>
              <a:avLst/>
              <a:gdLst/>
              <a:ahLst/>
              <a:cxnLst/>
              <a:rect r="r" b="b" t="t" l="l"/>
              <a:pathLst>
                <a:path h="1681460" w="3684692">
                  <a:moveTo>
                    <a:pt x="0" y="0"/>
                  </a:moveTo>
                  <a:lnTo>
                    <a:pt x="3684692" y="0"/>
                  </a:lnTo>
                  <a:lnTo>
                    <a:pt x="3684692" y="1681460"/>
                  </a:lnTo>
                  <a:lnTo>
                    <a:pt x="0" y="1681460"/>
                  </a:lnTo>
                  <a:close/>
                </a:path>
              </a:pathLst>
            </a:custGeom>
            <a:solidFill>
              <a:srgbClr val="000000">
                <a:alpha val="0"/>
              </a:srgbClr>
            </a:solidFill>
          </p:spPr>
        </p:sp>
        <p:sp>
          <p:nvSpPr>
            <p:cNvPr name="TextBox 15" id="15"/>
            <p:cNvSpPr txBox="true"/>
            <p:nvPr/>
          </p:nvSpPr>
          <p:spPr>
            <a:xfrm>
              <a:off x="0" y="-28575"/>
              <a:ext cx="3684692" cy="1710035"/>
            </a:xfrm>
            <a:prstGeom prst="rect">
              <a:avLst/>
            </a:prstGeom>
          </p:spPr>
          <p:txBody>
            <a:bodyPr anchor="t" rtlCol="false" tIns="0" lIns="0" bIns="0" rIns="0"/>
            <a:lstStyle/>
            <a:p>
              <a:pPr algn="ctr">
                <a:lnSpc>
                  <a:spcPts val="4320"/>
                </a:lnSpc>
              </a:pPr>
              <a:r>
                <a:rPr lang="en-US" sz="3600">
                  <a:solidFill>
                    <a:srgbClr val="FFFFFF">
                      <a:alpha val="33725"/>
                    </a:srgbClr>
                  </a:solidFill>
                  <a:latin typeface="Times New Roman"/>
                  <a:ea typeface="Times New Roman"/>
                  <a:cs typeface="Times New Roman"/>
                  <a:sym typeface="Times New Roman"/>
                </a:rPr>
                <a:t>Experimental Setting</a:t>
              </a:r>
            </a:p>
          </p:txBody>
        </p:sp>
      </p:grpSp>
      <p:grpSp>
        <p:nvGrpSpPr>
          <p:cNvPr name="Group 16" id="16"/>
          <p:cNvGrpSpPr/>
          <p:nvPr/>
        </p:nvGrpSpPr>
        <p:grpSpPr>
          <a:xfrm rot="0">
            <a:off x="15106867" y="4255395"/>
            <a:ext cx="2654710" cy="265471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19608"/>
              </a:srgbClr>
            </a:solidFill>
          </p:spPr>
        </p:sp>
        <p:sp>
          <p:nvSpPr>
            <p:cNvPr name="TextBox 18" id="18"/>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19" id="19"/>
          <p:cNvSpPr/>
          <p:nvPr/>
        </p:nvSpPr>
        <p:spPr>
          <a:xfrm flipH="false" flipV="false" rot="0">
            <a:off x="15718644" y="4862415"/>
            <a:ext cx="1440671" cy="1440671"/>
          </a:xfrm>
          <a:custGeom>
            <a:avLst/>
            <a:gdLst/>
            <a:ahLst/>
            <a:cxnLst/>
            <a:rect r="r" b="b" t="t" l="l"/>
            <a:pathLst>
              <a:path h="1440671" w="1440671">
                <a:moveTo>
                  <a:pt x="0" y="0"/>
                </a:moveTo>
                <a:lnTo>
                  <a:pt x="1440670" y="0"/>
                </a:lnTo>
                <a:lnTo>
                  <a:pt x="1440670" y="1440671"/>
                </a:lnTo>
                <a:lnTo>
                  <a:pt x="0" y="1440671"/>
                </a:lnTo>
                <a:lnTo>
                  <a:pt x="0" y="0"/>
                </a:lnTo>
                <a:close/>
              </a:path>
            </a:pathLst>
          </a:custGeom>
          <a:blipFill>
            <a:blip r:embed="rId2">
              <a:alphaModFix amt="19999"/>
            </a:blip>
            <a:stretch>
              <a:fillRect l="0" t="0" r="0" b="0"/>
            </a:stretch>
          </a:blipFill>
        </p:spPr>
      </p:sp>
      <p:grpSp>
        <p:nvGrpSpPr>
          <p:cNvPr name="Group 20" id="20"/>
          <p:cNvGrpSpPr/>
          <p:nvPr/>
        </p:nvGrpSpPr>
        <p:grpSpPr>
          <a:xfrm rot="0">
            <a:off x="4073393" y="4255395"/>
            <a:ext cx="2654710" cy="2654710"/>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19608"/>
              </a:srgbClr>
            </a:solidFill>
          </p:spPr>
        </p:sp>
        <p:sp>
          <p:nvSpPr>
            <p:cNvPr name="TextBox 22" id="22"/>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23" id="23"/>
          <p:cNvSpPr/>
          <p:nvPr/>
        </p:nvSpPr>
        <p:spPr>
          <a:xfrm flipH="false" flipV="false" rot="0">
            <a:off x="4680413" y="4862415"/>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3">
              <a:alphaModFix amt="19999"/>
            </a:blip>
            <a:stretch>
              <a:fillRect l="0" t="0" r="0" b="0"/>
            </a:stretch>
          </a:blipFill>
        </p:spPr>
      </p:sp>
      <p:sp>
        <p:nvSpPr>
          <p:cNvPr name="Freeform 24" id="24"/>
          <p:cNvSpPr/>
          <p:nvPr/>
        </p:nvSpPr>
        <p:spPr>
          <a:xfrm flipH="false" flipV="false" rot="0">
            <a:off x="1115539" y="4862415"/>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4"/>
            <a:stretch>
              <a:fillRect l="0" t="0" r="0" b="0"/>
            </a:stretch>
          </a:blipFill>
        </p:spPr>
      </p:sp>
      <p:grpSp>
        <p:nvGrpSpPr>
          <p:cNvPr name="Group 25" id="25"/>
          <p:cNvGrpSpPr/>
          <p:nvPr/>
        </p:nvGrpSpPr>
        <p:grpSpPr>
          <a:xfrm rot="0">
            <a:off x="504167" y="4255395"/>
            <a:ext cx="2654710" cy="2654710"/>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19608"/>
              </a:srgbClr>
            </a:solidFill>
          </p:spPr>
        </p:sp>
        <p:sp>
          <p:nvSpPr>
            <p:cNvPr name="TextBox 27" id="27"/>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grpSp>
        <p:nvGrpSpPr>
          <p:cNvPr name="Group 28" id="28"/>
          <p:cNvGrpSpPr/>
          <p:nvPr/>
        </p:nvGrpSpPr>
        <p:grpSpPr>
          <a:xfrm rot="0">
            <a:off x="11544445" y="4255395"/>
            <a:ext cx="2654710" cy="2654710"/>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19608"/>
              </a:srgbClr>
            </a:solidFill>
          </p:spPr>
        </p:sp>
        <p:sp>
          <p:nvSpPr>
            <p:cNvPr name="TextBox 30" id="30"/>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31" id="31"/>
          <p:cNvSpPr/>
          <p:nvPr/>
        </p:nvSpPr>
        <p:spPr>
          <a:xfrm flipH="false" flipV="false" rot="0">
            <a:off x="12151465" y="4862415"/>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5">
              <a:alphaModFix amt="19999"/>
            </a:blip>
            <a:stretch>
              <a:fillRect l="0" t="0" r="0" b="0"/>
            </a:stretch>
          </a:blipFill>
        </p:spPr>
      </p:sp>
      <p:grpSp>
        <p:nvGrpSpPr>
          <p:cNvPr name="Group 32" id="32"/>
          <p:cNvGrpSpPr/>
          <p:nvPr/>
        </p:nvGrpSpPr>
        <p:grpSpPr>
          <a:xfrm rot="0">
            <a:off x="15169235" y="7130192"/>
            <a:ext cx="2529977" cy="1261095"/>
            <a:chOff x="0" y="0"/>
            <a:chExt cx="3373302" cy="1681460"/>
          </a:xfrm>
        </p:grpSpPr>
        <p:sp>
          <p:nvSpPr>
            <p:cNvPr name="Freeform 33" id="33"/>
            <p:cNvSpPr/>
            <p:nvPr/>
          </p:nvSpPr>
          <p:spPr>
            <a:xfrm flipH="false" flipV="false" rot="0">
              <a:off x="0" y="0"/>
              <a:ext cx="3373302" cy="1681460"/>
            </a:xfrm>
            <a:custGeom>
              <a:avLst/>
              <a:gdLst/>
              <a:ahLst/>
              <a:cxnLst/>
              <a:rect r="r" b="b" t="t" l="l"/>
              <a:pathLst>
                <a:path h="1681460" w="3373302">
                  <a:moveTo>
                    <a:pt x="0" y="0"/>
                  </a:moveTo>
                  <a:lnTo>
                    <a:pt x="3373302" y="0"/>
                  </a:lnTo>
                  <a:lnTo>
                    <a:pt x="3373302" y="1681460"/>
                  </a:lnTo>
                  <a:lnTo>
                    <a:pt x="0" y="1681460"/>
                  </a:lnTo>
                  <a:close/>
                </a:path>
              </a:pathLst>
            </a:custGeom>
            <a:solidFill>
              <a:srgbClr val="000000">
                <a:alpha val="0"/>
              </a:srgbClr>
            </a:solidFill>
          </p:spPr>
        </p:sp>
        <p:sp>
          <p:nvSpPr>
            <p:cNvPr name="TextBox 34" id="34"/>
            <p:cNvSpPr txBox="true"/>
            <p:nvPr/>
          </p:nvSpPr>
          <p:spPr>
            <a:xfrm>
              <a:off x="0" y="-28575"/>
              <a:ext cx="3373302" cy="1710035"/>
            </a:xfrm>
            <a:prstGeom prst="rect">
              <a:avLst/>
            </a:prstGeom>
          </p:spPr>
          <p:txBody>
            <a:bodyPr anchor="t" rtlCol="false" tIns="0" lIns="0" bIns="0" rIns="0"/>
            <a:lstStyle/>
            <a:p>
              <a:pPr algn="ctr">
                <a:lnSpc>
                  <a:spcPts val="4320"/>
                </a:lnSpc>
              </a:pPr>
              <a:r>
                <a:rPr lang="en-US" sz="3600">
                  <a:solidFill>
                    <a:srgbClr val="FFFFFF">
                      <a:alpha val="33725"/>
                    </a:srgbClr>
                  </a:solidFill>
                  <a:latin typeface="Times New Roman"/>
                  <a:ea typeface="Times New Roman"/>
                  <a:cs typeface="Times New Roman"/>
                  <a:sym typeface="Times New Roman"/>
                </a:rPr>
                <a:t>Experimental Results </a:t>
              </a:r>
            </a:p>
          </p:txBody>
        </p:sp>
      </p:grpSp>
      <p:sp>
        <p:nvSpPr>
          <p:cNvPr name="Freeform 35" id="35"/>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6" id="36"/>
          <p:cNvGrpSpPr/>
          <p:nvPr/>
        </p:nvGrpSpPr>
        <p:grpSpPr>
          <a:xfrm rot="0">
            <a:off x="17761578" y="9713952"/>
            <a:ext cx="1268668" cy="2170263"/>
            <a:chOff x="0" y="0"/>
            <a:chExt cx="431800" cy="738664"/>
          </a:xfrm>
        </p:grpSpPr>
        <p:sp>
          <p:nvSpPr>
            <p:cNvPr name="Freeform 37" id="37"/>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38" id="38"/>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9</a:t>
              </a:r>
            </a:p>
          </p:txBody>
        </p:sp>
      </p:grpSp>
      <p:grpSp>
        <p:nvGrpSpPr>
          <p:cNvPr name="Group 39" id="39"/>
          <p:cNvGrpSpPr/>
          <p:nvPr/>
        </p:nvGrpSpPr>
        <p:grpSpPr>
          <a:xfrm rot="0">
            <a:off x="7808782" y="7130192"/>
            <a:ext cx="2654710" cy="1261095"/>
            <a:chOff x="0" y="0"/>
            <a:chExt cx="3539614" cy="1681460"/>
          </a:xfrm>
        </p:grpSpPr>
        <p:sp>
          <p:nvSpPr>
            <p:cNvPr name="Freeform 40" id="40"/>
            <p:cNvSpPr/>
            <p:nvPr/>
          </p:nvSpPr>
          <p:spPr>
            <a:xfrm flipH="false" flipV="false" rot="0">
              <a:off x="0" y="0"/>
              <a:ext cx="3539614" cy="1681460"/>
            </a:xfrm>
            <a:custGeom>
              <a:avLst/>
              <a:gdLst/>
              <a:ahLst/>
              <a:cxnLst/>
              <a:rect r="r" b="b" t="t" l="l"/>
              <a:pathLst>
                <a:path h="1681460" w="3539614">
                  <a:moveTo>
                    <a:pt x="0" y="0"/>
                  </a:moveTo>
                  <a:lnTo>
                    <a:pt x="3539614" y="0"/>
                  </a:lnTo>
                  <a:lnTo>
                    <a:pt x="3539614" y="1681460"/>
                  </a:lnTo>
                  <a:lnTo>
                    <a:pt x="0" y="1681460"/>
                  </a:lnTo>
                  <a:close/>
                </a:path>
              </a:pathLst>
            </a:custGeom>
            <a:solidFill>
              <a:srgbClr val="000000">
                <a:alpha val="0"/>
              </a:srgbClr>
            </a:solidFill>
          </p:spPr>
        </p:sp>
        <p:sp>
          <p:nvSpPr>
            <p:cNvPr name="TextBox 41" id="41"/>
            <p:cNvSpPr txBox="true"/>
            <p:nvPr/>
          </p:nvSpPr>
          <p:spPr>
            <a:xfrm>
              <a:off x="0" y="-28575"/>
              <a:ext cx="3539614" cy="1710035"/>
            </a:xfrm>
            <a:prstGeom prst="rect">
              <a:avLst/>
            </a:prstGeom>
          </p:spPr>
          <p:txBody>
            <a:bodyPr anchor="t" rtlCol="false" tIns="0" lIns="0" bIns="0" rIns="0"/>
            <a:lstStyle/>
            <a:p>
              <a:pPr algn="ctr">
                <a:lnSpc>
                  <a:spcPts val="4320"/>
                </a:lnSpc>
              </a:pPr>
              <a:r>
                <a:rPr lang="en-US" sz="3600">
                  <a:solidFill>
                    <a:srgbClr val="FFFFFF">
                      <a:alpha val="33725"/>
                    </a:srgbClr>
                  </a:solidFill>
                  <a:latin typeface="Times New Roman"/>
                  <a:ea typeface="Times New Roman"/>
                  <a:cs typeface="Times New Roman"/>
                  <a:sym typeface="Times New Roman"/>
                </a:rPr>
                <a:t>Proposed Methods</a:t>
              </a:r>
            </a:p>
          </p:txBody>
        </p:sp>
      </p:grpSp>
      <p:grpSp>
        <p:nvGrpSpPr>
          <p:cNvPr name="Group 42" id="42"/>
          <p:cNvGrpSpPr/>
          <p:nvPr/>
        </p:nvGrpSpPr>
        <p:grpSpPr>
          <a:xfrm rot="0">
            <a:off x="7806605" y="4255395"/>
            <a:ext cx="2654710" cy="2654710"/>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22745"/>
              </a:srgbClr>
            </a:solidFill>
          </p:spPr>
        </p:sp>
        <p:sp>
          <p:nvSpPr>
            <p:cNvPr name="TextBox 44" id="44"/>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45" id="45"/>
          <p:cNvSpPr/>
          <p:nvPr/>
        </p:nvSpPr>
        <p:spPr>
          <a:xfrm flipH="false" flipV="false" rot="0">
            <a:off x="8304091" y="4824315"/>
            <a:ext cx="1659740" cy="1703091"/>
          </a:xfrm>
          <a:custGeom>
            <a:avLst/>
            <a:gdLst/>
            <a:ahLst/>
            <a:cxnLst/>
            <a:rect r="r" b="b" t="t" l="l"/>
            <a:pathLst>
              <a:path h="1703091" w="1659740">
                <a:moveTo>
                  <a:pt x="0" y="0"/>
                </a:moveTo>
                <a:lnTo>
                  <a:pt x="1659740" y="0"/>
                </a:lnTo>
                <a:lnTo>
                  <a:pt x="1659740" y="1703091"/>
                </a:lnTo>
                <a:lnTo>
                  <a:pt x="0" y="1703091"/>
                </a:lnTo>
                <a:lnTo>
                  <a:pt x="0" y="0"/>
                </a:lnTo>
                <a:close/>
              </a:path>
            </a:pathLst>
          </a:custGeom>
          <a:blipFill>
            <a:blip r:embed="rId8">
              <a:alphaModFix amt="26000"/>
              <a:extLst>
                <a:ext uri="{96DAC541-7B7A-43D3-8B79-37D633B846F1}">
                  <asvg:svgBlip xmlns:asvg="http://schemas.microsoft.com/office/drawing/2016/SVG/main" r:embed="rId9"/>
                </a:ext>
              </a:extLst>
            </a:blip>
            <a:stretch>
              <a:fillRect l="0" t="0" r="0" b="0"/>
            </a:stretch>
          </a:blipFill>
        </p:spPr>
      </p:sp>
      <p:grpSp>
        <p:nvGrpSpPr>
          <p:cNvPr name="Group 46" id="46"/>
          <p:cNvGrpSpPr/>
          <p:nvPr/>
        </p:nvGrpSpPr>
        <p:grpSpPr>
          <a:xfrm rot="0">
            <a:off x="4077746" y="7130192"/>
            <a:ext cx="2654710" cy="1261095"/>
            <a:chOff x="0" y="0"/>
            <a:chExt cx="3539614" cy="1681460"/>
          </a:xfrm>
        </p:grpSpPr>
        <p:sp>
          <p:nvSpPr>
            <p:cNvPr name="Freeform 47" id="47"/>
            <p:cNvSpPr/>
            <p:nvPr/>
          </p:nvSpPr>
          <p:spPr>
            <a:xfrm flipH="false" flipV="false" rot="0">
              <a:off x="0" y="0"/>
              <a:ext cx="3539614" cy="1681460"/>
            </a:xfrm>
            <a:custGeom>
              <a:avLst/>
              <a:gdLst/>
              <a:ahLst/>
              <a:cxnLst/>
              <a:rect r="r" b="b" t="t" l="l"/>
              <a:pathLst>
                <a:path h="1681460" w="3539614">
                  <a:moveTo>
                    <a:pt x="0" y="0"/>
                  </a:moveTo>
                  <a:lnTo>
                    <a:pt x="3539614" y="0"/>
                  </a:lnTo>
                  <a:lnTo>
                    <a:pt x="3539614" y="1681460"/>
                  </a:lnTo>
                  <a:lnTo>
                    <a:pt x="0" y="1681460"/>
                  </a:lnTo>
                  <a:close/>
                </a:path>
              </a:pathLst>
            </a:custGeom>
            <a:solidFill>
              <a:srgbClr val="000000">
                <a:alpha val="0"/>
              </a:srgbClr>
            </a:solidFill>
          </p:spPr>
        </p:sp>
        <p:sp>
          <p:nvSpPr>
            <p:cNvPr name="TextBox 48" id="48"/>
            <p:cNvSpPr txBox="true"/>
            <p:nvPr/>
          </p:nvSpPr>
          <p:spPr>
            <a:xfrm>
              <a:off x="0" y="-28575"/>
              <a:ext cx="3539614" cy="1710035"/>
            </a:xfrm>
            <a:prstGeom prst="rect">
              <a:avLst/>
            </a:prstGeom>
          </p:spPr>
          <p:txBody>
            <a:bodyPr anchor="t" rtlCol="false" tIns="0" lIns="0" bIns="0" rIns="0"/>
            <a:lstStyle/>
            <a:p>
              <a:pPr algn="ctr">
                <a:lnSpc>
                  <a:spcPts val="4320"/>
                </a:lnSpc>
              </a:pPr>
              <a:r>
                <a:rPr lang="en-US" sz="3600">
                  <a:solidFill>
                    <a:srgbClr val="FFFFFF"/>
                  </a:solidFill>
                  <a:latin typeface="Times New Roman"/>
                  <a:ea typeface="Times New Roman"/>
                  <a:cs typeface="Times New Roman"/>
                  <a:sym typeface="Times New Roman"/>
                </a:rPr>
                <a:t>Problem Setting</a:t>
              </a:r>
            </a:p>
          </p:txBody>
        </p:sp>
      </p:grpSp>
      <p:grpSp>
        <p:nvGrpSpPr>
          <p:cNvPr name="Group 49" id="49"/>
          <p:cNvGrpSpPr/>
          <p:nvPr/>
        </p:nvGrpSpPr>
        <p:grpSpPr>
          <a:xfrm rot="0">
            <a:off x="4075570" y="4255395"/>
            <a:ext cx="2654710" cy="2654710"/>
            <a:chOff x="0" y="0"/>
            <a:chExt cx="812800" cy="812800"/>
          </a:xfrm>
        </p:grpSpPr>
        <p:sp>
          <p:nvSpPr>
            <p:cNvPr name="Freeform 50" id="5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solidFill>
          </p:spPr>
        </p:sp>
        <p:sp>
          <p:nvSpPr>
            <p:cNvPr name="TextBox 51" id="51"/>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52" id="52"/>
          <p:cNvSpPr/>
          <p:nvPr/>
        </p:nvSpPr>
        <p:spPr>
          <a:xfrm flipH="false" flipV="false" rot="0">
            <a:off x="4682590" y="4862415"/>
            <a:ext cx="1440671" cy="1440671"/>
          </a:xfrm>
          <a:custGeom>
            <a:avLst/>
            <a:gdLst/>
            <a:ahLst/>
            <a:cxnLst/>
            <a:rect r="r" b="b" t="t" l="l"/>
            <a:pathLst>
              <a:path h="1440671" w="1440671">
                <a:moveTo>
                  <a:pt x="0" y="0"/>
                </a:moveTo>
                <a:lnTo>
                  <a:pt x="1440670" y="0"/>
                </a:lnTo>
                <a:lnTo>
                  <a:pt x="1440670" y="1440671"/>
                </a:lnTo>
                <a:lnTo>
                  <a:pt x="0" y="1440671"/>
                </a:lnTo>
                <a:lnTo>
                  <a:pt x="0" y="0"/>
                </a:lnTo>
                <a:close/>
              </a:path>
            </a:pathLst>
          </a:custGeom>
          <a:blipFill>
            <a:blip r:embed="rId3"/>
            <a:stretch>
              <a:fillRect l="0" t="0" r="0" b="0"/>
            </a:stretch>
          </a:blipFill>
        </p:spPr>
      </p:sp>
      <p:grpSp>
        <p:nvGrpSpPr>
          <p:cNvPr name="Group 53" id="53"/>
          <p:cNvGrpSpPr/>
          <p:nvPr/>
        </p:nvGrpSpPr>
        <p:grpSpPr>
          <a:xfrm rot="0">
            <a:off x="4176840" y="8391287"/>
            <a:ext cx="2967992" cy="1288827"/>
            <a:chOff x="0" y="0"/>
            <a:chExt cx="3957323" cy="1718436"/>
          </a:xfrm>
        </p:grpSpPr>
        <p:sp>
          <p:nvSpPr>
            <p:cNvPr name="Freeform 54" id="54"/>
            <p:cNvSpPr/>
            <p:nvPr/>
          </p:nvSpPr>
          <p:spPr>
            <a:xfrm flipH="false" flipV="false" rot="0">
              <a:off x="0" y="0"/>
              <a:ext cx="3957323" cy="1718436"/>
            </a:xfrm>
            <a:custGeom>
              <a:avLst/>
              <a:gdLst/>
              <a:ahLst/>
              <a:cxnLst/>
              <a:rect r="r" b="b" t="t" l="l"/>
              <a:pathLst>
                <a:path h="1718436" w="3957323">
                  <a:moveTo>
                    <a:pt x="0" y="0"/>
                  </a:moveTo>
                  <a:lnTo>
                    <a:pt x="3957323" y="0"/>
                  </a:lnTo>
                  <a:lnTo>
                    <a:pt x="3957323" y="1718436"/>
                  </a:lnTo>
                  <a:lnTo>
                    <a:pt x="0" y="1718436"/>
                  </a:lnTo>
                  <a:close/>
                </a:path>
              </a:pathLst>
            </a:custGeom>
            <a:solidFill>
              <a:srgbClr val="000000">
                <a:alpha val="0"/>
              </a:srgbClr>
            </a:solidFill>
          </p:spPr>
        </p:sp>
        <p:sp>
          <p:nvSpPr>
            <p:cNvPr name="TextBox 55" id="55"/>
            <p:cNvSpPr txBox="true"/>
            <p:nvPr/>
          </p:nvSpPr>
          <p:spPr>
            <a:xfrm>
              <a:off x="0" y="-19050"/>
              <a:ext cx="3957323" cy="1737486"/>
            </a:xfrm>
            <a:prstGeom prst="rect">
              <a:avLst/>
            </a:prstGeom>
          </p:spPr>
          <p:txBody>
            <a:bodyPr anchor="t" rtlCol="false" tIns="0" lIns="0" bIns="0" rIns="0"/>
            <a:lstStyle/>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Problem Description</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Evaluation Metrics</a:t>
              </a:r>
            </a:p>
            <a:p>
              <a:pPr algn="l">
                <a:lnSpc>
                  <a:spcPts val="4320"/>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8" cy="807913"/>
            <a:chOff x="0" y="0"/>
            <a:chExt cx="91438" cy="1077218"/>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3"/>
            <a:chOff x="0" y="0"/>
            <a:chExt cx="1238250" cy="1077218"/>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6" id="6"/>
          <p:cNvGrpSpPr/>
          <p:nvPr/>
        </p:nvGrpSpPr>
        <p:grpSpPr>
          <a:xfrm rot="0">
            <a:off x="34289" y="2552700"/>
            <a:ext cx="12622982" cy="5829300"/>
            <a:chOff x="0" y="0"/>
            <a:chExt cx="16830642" cy="7772400"/>
          </a:xfrm>
        </p:grpSpPr>
        <p:sp>
          <p:nvSpPr>
            <p:cNvPr name="Freeform 7" id="7"/>
            <p:cNvSpPr/>
            <p:nvPr/>
          </p:nvSpPr>
          <p:spPr>
            <a:xfrm flipH="false" flipV="false" rot="0">
              <a:off x="0" y="0"/>
              <a:ext cx="16830642" cy="7772400"/>
            </a:xfrm>
            <a:custGeom>
              <a:avLst/>
              <a:gdLst/>
              <a:ahLst/>
              <a:cxnLst/>
              <a:rect r="r" b="b" t="t" l="l"/>
              <a:pathLst>
                <a:path h="7772400" w="16830642">
                  <a:moveTo>
                    <a:pt x="0" y="0"/>
                  </a:moveTo>
                  <a:lnTo>
                    <a:pt x="16830642" y="0"/>
                  </a:lnTo>
                  <a:lnTo>
                    <a:pt x="16830642" y="7772400"/>
                  </a:lnTo>
                  <a:lnTo>
                    <a:pt x="0" y="7772400"/>
                  </a:lnTo>
                  <a:close/>
                </a:path>
              </a:pathLst>
            </a:custGeom>
            <a:solidFill>
              <a:srgbClr val="F7B902"/>
            </a:solidFill>
          </p:spPr>
        </p:sp>
      </p:grpSp>
      <p:grpSp>
        <p:nvGrpSpPr>
          <p:cNvPr name="Group 8" id="8"/>
          <p:cNvGrpSpPr/>
          <p:nvPr/>
        </p:nvGrpSpPr>
        <p:grpSpPr>
          <a:xfrm rot="0">
            <a:off x="1635914" y="5367338"/>
            <a:ext cx="10779488" cy="1022032"/>
            <a:chOff x="0" y="0"/>
            <a:chExt cx="20001978" cy="1896442"/>
          </a:xfrm>
        </p:grpSpPr>
        <p:sp>
          <p:nvSpPr>
            <p:cNvPr name="Freeform 9" id="9"/>
            <p:cNvSpPr/>
            <p:nvPr/>
          </p:nvSpPr>
          <p:spPr>
            <a:xfrm flipH="false" flipV="false" rot="0">
              <a:off x="0" y="0"/>
              <a:ext cx="20001979" cy="1896442"/>
            </a:xfrm>
            <a:custGeom>
              <a:avLst/>
              <a:gdLst/>
              <a:ahLst/>
              <a:cxnLst/>
              <a:rect r="r" b="b" t="t" l="l"/>
              <a:pathLst>
                <a:path h="1896442" w="20001979">
                  <a:moveTo>
                    <a:pt x="0" y="0"/>
                  </a:moveTo>
                  <a:lnTo>
                    <a:pt x="20001979" y="0"/>
                  </a:lnTo>
                  <a:lnTo>
                    <a:pt x="20001979" y="1896442"/>
                  </a:lnTo>
                  <a:lnTo>
                    <a:pt x="0" y="1896442"/>
                  </a:lnTo>
                  <a:close/>
                </a:path>
              </a:pathLst>
            </a:custGeom>
            <a:solidFill>
              <a:srgbClr val="000000">
                <a:alpha val="0"/>
              </a:srgbClr>
            </a:solidFill>
          </p:spPr>
        </p:sp>
        <p:sp>
          <p:nvSpPr>
            <p:cNvPr name="TextBox 10" id="10"/>
            <p:cNvSpPr txBox="true"/>
            <p:nvPr/>
          </p:nvSpPr>
          <p:spPr>
            <a:xfrm>
              <a:off x="0" y="-114300"/>
              <a:ext cx="20001978" cy="2010742"/>
            </a:xfrm>
            <a:prstGeom prst="rect">
              <a:avLst/>
            </a:prstGeom>
          </p:spPr>
          <p:txBody>
            <a:bodyPr anchor="ctr" rtlCol="false" tIns="0" lIns="0" bIns="0" rIns="0"/>
            <a:lstStyle/>
            <a:p>
              <a:pPr algn="l">
                <a:lnSpc>
                  <a:spcPts val="4535"/>
                </a:lnSpc>
              </a:pPr>
              <a:r>
                <a:rPr lang="en-US" sz="2799" b="true">
                  <a:solidFill>
                    <a:srgbClr val="FFFFFF"/>
                  </a:solidFill>
                  <a:latin typeface="Century Gothic Paneuropean Bold"/>
                  <a:ea typeface="Century Gothic Paneuropean Bold"/>
                  <a:cs typeface="Century Gothic Paneuropean Bold"/>
                  <a:sym typeface="Century Gothic Paneuropean Bold"/>
                </a:rPr>
                <a:t>Input:</a:t>
              </a:r>
            </a:p>
            <a:p>
              <a:pPr algn="l">
                <a:lnSpc>
                  <a:spcPts val="3563"/>
                </a:lnSpc>
              </a:pPr>
              <a:r>
                <a:rPr lang="en-US" sz="2199" b="true">
                  <a:solidFill>
                    <a:srgbClr val="FFFFFF"/>
                  </a:solidFill>
                  <a:latin typeface="Century Gothic Paneuropean Bold"/>
                  <a:ea typeface="Century Gothic Paneuropean Bold"/>
                  <a:cs typeface="Century Gothic Paneuropean Bold"/>
                  <a:sym typeface="Century Gothic Paneuropean Bold"/>
                </a:rPr>
                <a:t>A 96x96 p</a:t>
              </a:r>
              <a:r>
                <a:rPr lang="en-US" sz="2199" b="true">
                  <a:solidFill>
                    <a:srgbClr val="FFFFFF"/>
                  </a:solidFill>
                  <a:latin typeface="Century Gothic Paneuropean Bold"/>
                  <a:ea typeface="Century Gothic Paneuropean Bold"/>
                  <a:cs typeface="Century Gothic Paneuropean Bold"/>
                  <a:sym typeface="Century Gothic Paneuropean Bold"/>
                </a:rPr>
                <a:t>ixel H&amp;E stained image patch from a lymph node tissue sample.</a:t>
              </a:r>
            </a:p>
          </p:txBody>
        </p:sp>
      </p:grpSp>
      <p:grpSp>
        <p:nvGrpSpPr>
          <p:cNvPr name="Group 11" id="11"/>
          <p:cNvGrpSpPr/>
          <p:nvPr/>
        </p:nvGrpSpPr>
        <p:grpSpPr>
          <a:xfrm rot="0">
            <a:off x="1231581" y="542925"/>
            <a:ext cx="16186334" cy="950830"/>
            <a:chOff x="0" y="0"/>
            <a:chExt cx="13920207" cy="817711"/>
          </a:xfrm>
        </p:grpSpPr>
        <p:sp>
          <p:nvSpPr>
            <p:cNvPr name="Freeform 12" id="12"/>
            <p:cNvSpPr/>
            <p:nvPr/>
          </p:nvSpPr>
          <p:spPr>
            <a:xfrm flipH="false" flipV="false" rot="0">
              <a:off x="0" y="0"/>
              <a:ext cx="13920208" cy="817711"/>
            </a:xfrm>
            <a:custGeom>
              <a:avLst/>
              <a:gdLst/>
              <a:ahLst/>
              <a:cxnLst/>
              <a:rect r="r" b="b" t="t" l="l"/>
              <a:pathLst>
                <a:path h="817711" w="13920208">
                  <a:moveTo>
                    <a:pt x="0" y="0"/>
                  </a:moveTo>
                  <a:lnTo>
                    <a:pt x="13920208" y="0"/>
                  </a:lnTo>
                  <a:lnTo>
                    <a:pt x="13920208" y="817711"/>
                  </a:lnTo>
                  <a:lnTo>
                    <a:pt x="0" y="817711"/>
                  </a:lnTo>
                  <a:close/>
                </a:path>
              </a:pathLst>
            </a:custGeom>
            <a:solidFill>
              <a:srgbClr val="000000">
                <a:alpha val="0"/>
              </a:srgbClr>
            </a:solidFill>
          </p:spPr>
        </p:sp>
        <p:sp>
          <p:nvSpPr>
            <p:cNvPr name="TextBox 13" id="13"/>
            <p:cNvSpPr txBox="true"/>
            <p:nvPr/>
          </p:nvSpPr>
          <p:spPr>
            <a:xfrm>
              <a:off x="0" y="-19050"/>
              <a:ext cx="13920207"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Problem Description</a:t>
              </a:r>
            </a:p>
          </p:txBody>
        </p:sp>
      </p:grpSp>
      <p:grpSp>
        <p:nvGrpSpPr>
          <p:cNvPr name="Group 14" id="14"/>
          <p:cNvGrpSpPr/>
          <p:nvPr/>
        </p:nvGrpSpPr>
        <p:grpSpPr>
          <a:xfrm rot="0">
            <a:off x="430409" y="2974629"/>
            <a:ext cx="11612195" cy="818007"/>
            <a:chOff x="0" y="0"/>
            <a:chExt cx="12973723" cy="913918"/>
          </a:xfrm>
        </p:grpSpPr>
        <p:sp>
          <p:nvSpPr>
            <p:cNvPr name="Freeform 15" id="15"/>
            <p:cNvSpPr/>
            <p:nvPr/>
          </p:nvSpPr>
          <p:spPr>
            <a:xfrm flipH="false" flipV="false" rot="0">
              <a:off x="0" y="0"/>
              <a:ext cx="12973723" cy="913918"/>
            </a:xfrm>
            <a:custGeom>
              <a:avLst/>
              <a:gdLst/>
              <a:ahLst/>
              <a:cxnLst/>
              <a:rect r="r" b="b" t="t" l="l"/>
              <a:pathLst>
                <a:path h="913918" w="12973723">
                  <a:moveTo>
                    <a:pt x="0" y="0"/>
                  </a:moveTo>
                  <a:lnTo>
                    <a:pt x="12973723" y="0"/>
                  </a:lnTo>
                  <a:lnTo>
                    <a:pt x="12973723" y="913918"/>
                  </a:lnTo>
                  <a:lnTo>
                    <a:pt x="0" y="913918"/>
                  </a:lnTo>
                  <a:close/>
                </a:path>
              </a:pathLst>
            </a:custGeom>
            <a:solidFill>
              <a:srgbClr val="000000">
                <a:alpha val="0"/>
              </a:srgbClr>
            </a:solidFill>
          </p:spPr>
        </p:sp>
        <p:sp>
          <p:nvSpPr>
            <p:cNvPr name="TextBox 16" id="16"/>
            <p:cNvSpPr txBox="true"/>
            <p:nvPr/>
          </p:nvSpPr>
          <p:spPr>
            <a:xfrm>
              <a:off x="0" y="0"/>
              <a:ext cx="12973723" cy="913918"/>
            </a:xfrm>
            <a:prstGeom prst="rect">
              <a:avLst/>
            </a:prstGeom>
          </p:spPr>
          <p:txBody>
            <a:bodyPr anchor="t" rtlCol="false" tIns="0" lIns="0" bIns="0" rIns="0"/>
            <a:lstStyle/>
            <a:p>
              <a:pPr algn="l">
                <a:lnSpc>
                  <a:spcPts val="4799"/>
                </a:lnSpc>
              </a:pPr>
              <a:r>
                <a:rPr lang="en-US" sz="3999" b="true">
                  <a:solidFill>
                    <a:srgbClr val="FFFFFF"/>
                  </a:solidFill>
                  <a:latin typeface="Century Gothic Paneuropean Bold"/>
                  <a:ea typeface="Century Gothic Paneuropean Bold"/>
                  <a:cs typeface="Century Gothic Paneuropean Bold"/>
                  <a:sym typeface="Century Gothic Paneuropean Bold"/>
                </a:rPr>
                <a:t>Lymph-Node </a:t>
              </a:r>
              <a:r>
                <a:rPr lang="en-US" b="true" sz="3999">
                  <a:solidFill>
                    <a:srgbClr val="FFFFFF"/>
                  </a:solidFill>
                  <a:latin typeface="Century Gothic Paneuropean Bold"/>
                  <a:ea typeface="Century Gothic Paneuropean Bold"/>
                  <a:cs typeface="Century Gothic Paneuropean Bold"/>
                  <a:sym typeface="Century Gothic Paneuropean Bold"/>
                </a:rPr>
                <a:t>Metastasis Patch Classification</a:t>
              </a:r>
            </a:p>
          </p:txBody>
        </p:sp>
      </p:grpSp>
      <p:sp>
        <p:nvSpPr>
          <p:cNvPr name="Freeform 17" id="17"/>
          <p:cNvSpPr/>
          <p:nvPr/>
        </p:nvSpPr>
        <p:spPr>
          <a:xfrm flipH="false" flipV="false" rot="0">
            <a:off x="635792" y="5321413"/>
            <a:ext cx="666206" cy="666206"/>
          </a:xfrm>
          <a:custGeom>
            <a:avLst/>
            <a:gdLst/>
            <a:ahLst/>
            <a:cxnLst/>
            <a:rect r="r" b="b" t="t" l="l"/>
            <a:pathLst>
              <a:path h="666206" w="666206">
                <a:moveTo>
                  <a:pt x="0" y="0"/>
                </a:moveTo>
                <a:lnTo>
                  <a:pt x="666206" y="0"/>
                </a:lnTo>
                <a:lnTo>
                  <a:pt x="666206" y="666206"/>
                </a:lnTo>
                <a:lnTo>
                  <a:pt x="0" y="666206"/>
                </a:lnTo>
                <a:lnTo>
                  <a:pt x="0" y="0"/>
                </a:lnTo>
                <a:close/>
              </a:path>
            </a:pathLst>
          </a:custGeom>
          <a:blipFill>
            <a:blip r:embed="rId3"/>
            <a:stretch>
              <a:fillRect l="0" t="0" r="0" b="0"/>
            </a:stretch>
          </a:blipFill>
        </p:spPr>
      </p:sp>
      <p:grpSp>
        <p:nvGrpSpPr>
          <p:cNvPr name="Group 18" id="18"/>
          <p:cNvGrpSpPr/>
          <p:nvPr/>
        </p:nvGrpSpPr>
        <p:grpSpPr>
          <a:xfrm rot="0">
            <a:off x="1612744" y="6494145"/>
            <a:ext cx="10406689" cy="1917382"/>
            <a:chOff x="0" y="0"/>
            <a:chExt cx="22381852" cy="4123749"/>
          </a:xfrm>
        </p:grpSpPr>
        <p:sp>
          <p:nvSpPr>
            <p:cNvPr name="Freeform 19" id="19"/>
            <p:cNvSpPr/>
            <p:nvPr/>
          </p:nvSpPr>
          <p:spPr>
            <a:xfrm flipH="false" flipV="false" rot="0">
              <a:off x="0" y="0"/>
              <a:ext cx="22381852" cy="4123749"/>
            </a:xfrm>
            <a:custGeom>
              <a:avLst/>
              <a:gdLst/>
              <a:ahLst/>
              <a:cxnLst/>
              <a:rect r="r" b="b" t="t" l="l"/>
              <a:pathLst>
                <a:path h="4123749" w="22381852">
                  <a:moveTo>
                    <a:pt x="0" y="0"/>
                  </a:moveTo>
                  <a:lnTo>
                    <a:pt x="22381852" y="0"/>
                  </a:lnTo>
                  <a:lnTo>
                    <a:pt x="22381852" y="4123749"/>
                  </a:lnTo>
                  <a:lnTo>
                    <a:pt x="0" y="4123749"/>
                  </a:lnTo>
                  <a:close/>
                </a:path>
              </a:pathLst>
            </a:custGeom>
            <a:solidFill>
              <a:srgbClr val="000000">
                <a:alpha val="0"/>
              </a:srgbClr>
            </a:solidFill>
          </p:spPr>
        </p:sp>
        <p:sp>
          <p:nvSpPr>
            <p:cNvPr name="TextBox 20" id="20"/>
            <p:cNvSpPr txBox="true"/>
            <p:nvPr/>
          </p:nvSpPr>
          <p:spPr>
            <a:xfrm>
              <a:off x="0" y="-114300"/>
              <a:ext cx="22381852" cy="4238049"/>
            </a:xfrm>
            <a:prstGeom prst="rect">
              <a:avLst/>
            </a:prstGeom>
          </p:spPr>
          <p:txBody>
            <a:bodyPr anchor="ctr" rtlCol="false" tIns="0" lIns="0" bIns="0" rIns="0"/>
            <a:lstStyle/>
            <a:p>
              <a:pPr algn="l">
                <a:lnSpc>
                  <a:spcPts val="4535"/>
                </a:lnSpc>
              </a:pPr>
              <a:r>
                <a:rPr lang="en-US" sz="2799" b="true">
                  <a:solidFill>
                    <a:srgbClr val="FFFFFF"/>
                  </a:solidFill>
                  <a:latin typeface="Century Gothic Paneuropean Bold"/>
                  <a:ea typeface="Century Gothic Paneuropean Bold"/>
                  <a:cs typeface="Century Gothic Paneuropean Bold"/>
                  <a:sym typeface="Century Gothic Paneuropean Bold"/>
                </a:rPr>
                <a:t>Output:</a:t>
              </a:r>
            </a:p>
            <a:p>
              <a:pPr algn="l">
                <a:lnSpc>
                  <a:spcPts val="3563"/>
                </a:lnSpc>
              </a:pPr>
              <a:r>
                <a:rPr lang="en-US" sz="2199" b="true">
                  <a:solidFill>
                    <a:srgbClr val="FFFFFF"/>
                  </a:solidFill>
                  <a:latin typeface="Century Gothic Paneuropean Bold"/>
                  <a:ea typeface="Century Gothic Paneuropean Bold"/>
                  <a:cs typeface="Century Gothic Paneuropean Bold"/>
                  <a:sym typeface="Century Gothic Paneuropean Bold"/>
                </a:rPr>
                <a:t>A binary pre</a:t>
              </a:r>
              <a:r>
                <a:rPr lang="en-US" sz="2199" b="true">
                  <a:solidFill>
                    <a:srgbClr val="FFFFFF"/>
                  </a:solidFill>
                  <a:latin typeface="Century Gothic Paneuropean Bold"/>
                  <a:ea typeface="Century Gothic Paneuropean Bold"/>
                  <a:cs typeface="Century Gothic Paneuropean Bold"/>
                  <a:sym typeface="Century Gothic Paneuropean Bold"/>
                </a:rPr>
                <a:t>diction indicating whether the central region contains metastatic tumor cells (1/0)</a:t>
              </a:r>
            </a:p>
            <a:p>
              <a:pPr algn="l">
                <a:lnSpc>
                  <a:spcPts val="3563"/>
                </a:lnSpc>
              </a:pPr>
            </a:p>
          </p:txBody>
        </p:sp>
      </p:grpSp>
      <p:sp>
        <p:nvSpPr>
          <p:cNvPr name="Freeform 21" id="21"/>
          <p:cNvSpPr/>
          <p:nvPr/>
        </p:nvSpPr>
        <p:spPr>
          <a:xfrm flipH="false" flipV="false" rot="0">
            <a:off x="769053" y="6456391"/>
            <a:ext cx="667832" cy="667832"/>
          </a:xfrm>
          <a:custGeom>
            <a:avLst/>
            <a:gdLst/>
            <a:ahLst/>
            <a:cxnLst/>
            <a:rect r="r" b="b" t="t" l="l"/>
            <a:pathLst>
              <a:path h="667832" w="667832">
                <a:moveTo>
                  <a:pt x="0" y="0"/>
                </a:moveTo>
                <a:lnTo>
                  <a:pt x="667833" y="0"/>
                </a:lnTo>
                <a:lnTo>
                  <a:pt x="667833" y="667833"/>
                </a:lnTo>
                <a:lnTo>
                  <a:pt x="0" y="667833"/>
                </a:lnTo>
                <a:lnTo>
                  <a:pt x="0" y="0"/>
                </a:lnTo>
                <a:close/>
              </a:path>
            </a:pathLst>
          </a:custGeom>
          <a:blipFill>
            <a:blip r:embed="rId4"/>
            <a:stretch>
              <a:fillRect l="0" t="0" r="0" b="0"/>
            </a:stretch>
          </a:blipFill>
        </p:spPr>
      </p:sp>
      <p:sp>
        <p:nvSpPr>
          <p:cNvPr name="Freeform 22" id="22"/>
          <p:cNvSpPr/>
          <p:nvPr/>
        </p:nvSpPr>
        <p:spPr>
          <a:xfrm flipH="false" flipV="false" rot="0">
            <a:off x="12195291" y="2552700"/>
            <a:ext cx="6092709" cy="5829300"/>
          </a:xfrm>
          <a:custGeom>
            <a:avLst/>
            <a:gdLst/>
            <a:ahLst/>
            <a:cxnLst/>
            <a:rect r="r" b="b" t="t" l="l"/>
            <a:pathLst>
              <a:path h="5829300" w="6092709">
                <a:moveTo>
                  <a:pt x="0" y="0"/>
                </a:moveTo>
                <a:lnTo>
                  <a:pt x="6092709" y="0"/>
                </a:lnTo>
                <a:lnTo>
                  <a:pt x="6092709" y="5829300"/>
                </a:lnTo>
                <a:lnTo>
                  <a:pt x="0" y="5829300"/>
                </a:lnTo>
                <a:lnTo>
                  <a:pt x="0" y="0"/>
                </a:lnTo>
                <a:close/>
              </a:path>
            </a:pathLst>
          </a:custGeom>
          <a:blipFill>
            <a:blip r:embed="rId5"/>
            <a:stretch>
              <a:fillRect l="-16075" t="0" r="-27528" b="0"/>
            </a:stretch>
          </a:blipFill>
        </p:spPr>
      </p:sp>
      <p:sp>
        <p:nvSpPr>
          <p:cNvPr name="TextBox 23" id="23"/>
          <p:cNvSpPr txBox="true"/>
          <p:nvPr/>
        </p:nvSpPr>
        <p:spPr>
          <a:xfrm rot="0">
            <a:off x="458983" y="3882147"/>
            <a:ext cx="11560449" cy="838200"/>
          </a:xfrm>
          <a:prstGeom prst="rect">
            <a:avLst/>
          </a:prstGeom>
        </p:spPr>
        <p:txBody>
          <a:bodyPr anchor="t" rtlCol="false" tIns="0" lIns="0" bIns="0" rIns="0">
            <a:spAutoFit/>
          </a:bodyPr>
          <a:lstStyle/>
          <a:p>
            <a:pPr algn="l">
              <a:lnSpc>
                <a:spcPts val="3240"/>
              </a:lnSpc>
              <a:spcBef>
                <a:spcPct val="0"/>
              </a:spcBef>
            </a:pPr>
            <a:r>
              <a:rPr lang="en-US" b="true" sz="2700">
                <a:solidFill>
                  <a:srgbClr val="FFFFFF"/>
                </a:solidFill>
                <a:latin typeface="Times New Roman Bold"/>
                <a:ea typeface="Times New Roman Bold"/>
                <a:cs typeface="Times New Roman Bold"/>
                <a:sym typeface="Times New Roman Bold"/>
              </a:rPr>
              <a:t>Bin</a:t>
            </a:r>
            <a:r>
              <a:rPr lang="en-US" b="true" sz="2700">
                <a:solidFill>
                  <a:srgbClr val="FFFFFF"/>
                </a:solidFill>
                <a:latin typeface="Times New Roman Bold"/>
                <a:ea typeface="Times New Roman Bold"/>
                <a:cs typeface="Times New Roman Bold"/>
                <a:sym typeface="Times New Roman Bold"/>
              </a:rPr>
              <a:t>ary classification of histopathologic image patches from lymph-node tissue into metastatic vs. non-metastatic.</a:t>
            </a:r>
          </a:p>
        </p:txBody>
      </p:sp>
      <p:sp>
        <p:nvSpPr>
          <p:cNvPr name="Freeform 24" id="24"/>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5" id="25"/>
          <p:cNvGrpSpPr/>
          <p:nvPr/>
        </p:nvGrpSpPr>
        <p:grpSpPr>
          <a:xfrm rot="0">
            <a:off x="17761578" y="9713952"/>
            <a:ext cx="1268668" cy="2170263"/>
            <a:chOff x="0" y="0"/>
            <a:chExt cx="431800" cy="738664"/>
          </a:xfrm>
        </p:grpSpPr>
        <p:sp>
          <p:nvSpPr>
            <p:cNvPr name="Freeform 26" id="26"/>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27" id="27"/>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10</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9" cy="807910"/>
            <a:chOff x="0" y="0"/>
            <a:chExt cx="91439" cy="1077213"/>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0"/>
            <a:chOff x="0" y="0"/>
            <a:chExt cx="1238251" cy="1077213"/>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sp>
        <p:nvSpPr>
          <p:cNvPr name="Freeform 6" id="6"/>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6912500" y="2419213"/>
            <a:ext cx="3789815" cy="2006897"/>
          </a:xfrm>
          <a:custGeom>
            <a:avLst/>
            <a:gdLst/>
            <a:ahLst/>
            <a:cxnLst/>
            <a:rect r="r" b="b" t="t" l="l"/>
            <a:pathLst>
              <a:path h="2006897" w="3789815">
                <a:moveTo>
                  <a:pt x="0" y="0"/>
                </a:moveTo>
                <a:lnTo>
                  <a:pt x="3789815" y="0"/>
                </a:lnTo>
                <a:lnTo>
                  <a:pt x="3789815" y="2006897"/>
                </a:lnTo>
                <a:lnTo>
                  <a:pt x="0" y="20068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3655065" y="2462871"/>
            <a:ext cx="3789815" cy="2006897"/>
          </a:xfrm>
          <a:custGeom>
            <a:avLst/>
            <a:gdLst/>
            <a:ahLst/>
            <a:cxnLst/>
            <a:rect r="r" b="b" t="t" l="l"/>
            <a:pathLst>
              <a:path h="2006897" w="3789815">
                <a:moveTo>
                  <a:pt x="0" y="0"/>
                </a:moveTo>
                <a:lnTo>
                  <a:pt x="3789815" y="0"/>
                </a:lnTo>
                <a:lnTo>
                  <a:pt x="3789815" y="2006897"/>
                </a:lnTo>
                <a:lnTo>
                  <a:pt x="0" y="20068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71448" y="2462871"/>
            <a:ext cx="3789815" cy="2006897"/>
          </a:xfrm>
          <a:custGeom>
            <a:avLst/>
            <a:gdLst/>
            <a:ahLst/>
            <a:cxnLst/>
            <a:rect r="r" b="b" t="t" l="l"/>
            <a:pathLst>
              <a:path h="2006897" w="3789815">
                <a:moveTo>
                  <a:pt x="0" y="0"/>
                </a:moveTo>
                <a:lnTo>
                  <a:pt x="3789815" y="0"/>
                </a:lnTo>
                <a:lnTo>
                  <a:pt x="3789815" y="2006897"/>
                </a:lnTo>
                <a:lnTo>
                  <a:pt x="0" y="20068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3961263" y="3422662"/>
            <a:ext cx="3085147" cy="87315"/>
            <a:chOff x="0" y="0"/>
            <a:chExt cx="2692400" cy="76200"/>
          </a:xfrm>
        </p:grpSpPr>
        <p:sp>
          <p:nvSpPr>
            <p:cNvPr name="Freeform 11" id="11"/>
            <p:cNvSpPr/>
            <p:nvPr/>
          </p:nvSpPr>
          <p:spPr>
            <a:xfrm flipH="false" flipV="false" rot="0">
              <a:off x="25146" y="0"/>
              <a:ext cx="2642108" cy="76200"/>
            </a:xfrm>
            <a:custGeom>
              <a:avLst/>
              <a:gdLst/>
              <a:ahLst/>
              <a:cxnLst/>
              <a:rect r="r" b="b" t="t" l="l"/>
              <a:pathLst>
                <a:path h="76200" w="2642108">
                  <a:moveTo>
                    <a:pt x="508" y="0"/>
                  </a:moveTo>
                  <a:lnTo>
                    <a:pt x="2642108" y="25400"/>
                  </a:lnTo>
                  <a:lnTo>
                    <a:pt x="2641600" y="76200"/>
                  </a:lnTo>
                  <a:lnTo>
                    <a:pt x="0" y="50800"/>
                  </a:lnTo>
                  <a:close/>
                </a:path>
              </a:pathLst>
            </a:custGeom>
            <a:solidFill>
              <a:srgbClr val="FFC200"/>
            </a:solidFill>
          </p:spPr>
        </p:sp>
      </p:grpSp>
      <p:grpSp>
        <p:nvGrpSpPr>
          <p:cNvPr name="Group 12" id="12"/>
          <p:cNvGrpSpPr/>
          <p:nvPr/>
        </p:nvGrpSpPr>
        <p:grpSpPr>
          <a:xfrm rot="0">
            <a:off x="171448" y="4657444"/>
            <a:ext cx="4597363" cy="1048588"/>
            <a:chOff x="0" y="0"/>
            <a:chExt cx="6129817" cy="1398117"/>
          </a:xfrm>
        </p:grpSpPr>
        <p:sp>
          <p:nvSpPr>
            <p:cNvPr name="Freeform 13" id="13"/>
            <p:cNvSpPr/>
            <p:nvPr/>
          </p:nvSpPr>
          <p:spPr>
            <a:xfrm flipH="false" flipV="false" rot="0">
              <a:off x="0" y="0"/>
              <a:ext cx="6129817" cy="1398117"/>
            </a:xfrm>
            <a:custGeom>
              <a:avLst/>
              <a:gdLst/>
              <a:ahLst/>
              <a:cxnLst/>
              <a:rect r="r" b="b" t="t" l="l"/>
              <a:pathLst>
                <a:path h="1398117" w="6129817">
                  <a:moveTo>
                    <a:pt x="0" y="0"/>
                  </a:moveTo>
                  <a:lnTo>
                    <a:pt x="6129817" y="0"/>
                  </a:lnTo>
                  <a:lnTo>
                    <a:pt x="6129817" y="1398117"/>
                  </a:lnTo>
                  <a:lnTo>
                    <a:pt x="0" y="1398117"/>
                  </a:lnTo>
                  <a:close/>
                </a:path>
              </a:pathLst>
            </a:custGeom>
            <a:solidFill>
              <a:srgbClr val="000000">
                <a:alpha val="0"/>
              </a:srgbClr>
            </a:solidFill>
          </p:spPr>
        </p:sp>
        <p:sp>
          <p:nvSpPr>
            <p:cNvPr name="TextBox 14" id="14"/>
            <p:cNvSpPr txBox="true"/>
            <p:nvPr/>
          </p:nvSpPr>
          <p:spPr>
            <a:xfrm>
              <a:off x="0" y="-95250"/>
              <a:ext cx="6129817" cy="1493367"/>
            </a:xfrm>
            <a:prstGeom prst="rect">
              <a:avLst/>
            </a:prstGeom>
          </p:spPr>
          <p:txBody>
            <a:bodyPr anchor="ctr" rtlCol="false" tIns="0" lIns="0" bIns="0" rIns="0"/>
            <a:lstStyle/>
            <a:p>
              <a:pPr algn="l" marL="502798" indent="-167599" lvl="2">
                <a:lnSpc>
                  <a:spcPts val="3563"/>
                </a:lnSpc>
                <a:buFont typeface="Arial"/>
                <a:buChar char="⚬"/>
              </a:pPr>
              <a:r>
                <a:rPr lang="en-US" b="true" sz="2199">
                  <a:solidFill>
                    <a:srgbClr val="FFFFFF"/>
                  </a:solidFill>
                  <a:latin typeface="Century Gothic Paneuropean Bold"/>
                  <a:ea typeface="Century Gothic Paneuropean Bold"/>
                  <a:cs typeface="Century Gothic Paneuropean Bold"/>
                  <a:sym typeface="Century Gothic Paneuropean Bold"/>
                </a:rPr>
                <a:t>96×96</a:t>
              </a:r>
              <a:r>
                <a:rPr lang="en-US" b="true" sz="2199">
                  <a:solidFill>
                    <a:srgbClr val="FFFFFF"/>
                  </a:solidFill>
                  <a:latin typeface="Century Gothic Paneuropean Bold"/>
                  <a:ea typeface="Century Gothic Paneuropean Bold"/>
                  <a:cs typeface="Century Gothic Paneuropean Bold"/>
                  <a:sym typeface="Century Gothic Paneuropean Bold"/>
                </a:rPr>
                <a:t> H&amp;E patch</a:t>
              </a:r>
            </a:p>
          </p:txBody>
        </p:sp>
      </p:grpSp>
      <p:grpSp>
        <p:nvGrpSpPr>
          <p:cNvPr name="Group 15" id="15"/>
          <p:cNvGrpSpPr/>
          <p:nvPr/>
        </p:nvGrpSpPr>
        <p:grpSpPr>
          <a:xfrm rot="0">
            <a:off x="6754558" y="3831665"/>
            <a:ext cx="4914760" cy="3726403"/>
            <a:chOff x="0" y="0"/>
            <a:chExt cx="7261756" cy="5505911"/>
          </a:xfrm>
        </p:grpSpPr>
        <p:sp>
          <p:nvSpPr>
            <p:cNvPr name="Freeform 16" id="16"/>
            <p:cNvSpPr/>
            <p:nvPr/>
          </p:nvSpPr>
          <p:spPr>
            <a:xfrm flipH="false" flipV="false" rot="0">
              <a:off x="0" y="0"/>
              <a:ext cx="7261756" cy="5505912"/>
            </a:xfrm>
            <a:custGeom>
              <a:avLst/>
              <a:gdLst/>
              <a:ahLst/>
              <a:cxnLst/>
              <a:rect r="r" b="b" t="t" l="l"/>
              <a:pathLst>
                <a:path h="5505912" w="7261756">
                  <a:moveTo>
                    <a:pt x="0" y="0"/>
                  </a:moveTo>
                  <a:lnTo>
                    <a:pt x="7261756" y="0"/>
                  </a:lnTo>
                  <a:lnTo>
                    <a:pt x="7261756" y="5505912"/>
                  </a:lnTo>
                  <a:lnTo>
                    <a:pt x="0" y="5505912"/>
                  </a:lnTo>
                  <a:close/>
                </a:path>
              </a:pathLst>
            </a:custGeom>
            <a:solidFill>
              <a:srgbClr val="000000">
                <a:alpha val="0"/>
              </a:srgbClr>
            </a:solidFill>
          </p:spPr>
        </p:sp>
        <p:sp>
          <p:nvSpPr>
            <p:cNvPr name="TextBox 17" id="17"/>
            <p:cNvSpPr txBox="true"/>
            <p:nvPr/>
          </p:nvSpPr>
          <p:spPr>
            <a:xfrm>
              <a:off x="0" y="-95250"/>
              <a:ext cx="7261756" cy="5601161"/>
            </a:xfrm>
            <a:prstGeom prst="rect">
              <a:avLst/>
            </a:prstGeom>
          </p:spPr>
          <p:txBody>
            <a:bodyPr anchor="ctr" rtlCol="false" tIns="0" lIns="0" bIns="0" rIns="0"/>
            <a:lstStyle/>
            <a:p>
              <a:pPr algn="l" marL="502691" indent="-167564" lvl="2">
                <a:lnSpc>
                  <a:spcPts val="3562"/>
                </a:lnSpc>
                <a:buFont typeface="Arial"/>
                <a:buChar char="⚬"/>
              </a:pPr>
              <a:r>
                <a:rPr lang="en-US" b="true" sz="2199">
                  <a:solidFill>
                    <a:srgbClr val="FFFFFF"/>
                  </a:solidFill>
                  <a:latin typeface="Century Gothic Paneuropean Bold"/>
                  <a:ea typeface="Century Gothic Paneuropean Bold"/>
                  <a:cs typeface="Century Gothic Paneuropean Bold"/>
                  <a:sym typeface="Century Gothic Paneuropean Bold"/>
                </a:rPr>
                <a:t>Data Split &amp; Preprocessing</a:t>
              </a:r>
            </a:p>
            <a:p>
              <a:pPr algn="l" marL="502691" indent="-167564" lvl="2">
                <a:lnSpc>
                  <a:spcPts val="3562"/>
                </a:lnSpc>
                <a:buFont typeface="Arial"/>
                <a:buChar char="⚬"/>
              </a:pPr>
              <a:r>
                <a:rPr lang="en-US" b="true" sz="2199">
                  <a:solidFill>
                    <a:srgbClr val="FFFFFF"/>
                  </a:solidFill>
                  <a:latin typeface="Century Gothic Paneuropean Bold"/>
                  <a:ea typeface="Century Gothic Paneuropean Bold"/>
                  <a:cs typeface="Century Gothic Paneuropean Bold"/>
                  <a:sym typeface="Century Gothic Paneuropean Bold"/>
                </a:rPr>
                <a:t>CNN Classifier &amp; Training</a:t>
              </a:r>
            </a:p>
            <a:p>
              <a:pPr algn="l" marL="502798" indent="-167599" lvl="2">
                <a:lnSpc>
                  <a:spcPts val="3563"/>
                </a:lnSpc>
                <a:buFont typeface="Arial"/>
                <a:buChar char="⚬"/>
              </a:pPr>
              <a:r>
                <a:rPr lang="en-US" b="true" sz="2199">
                  <a:solidFill>
                    <a:srgbClr val="FFFFFF"/>
                  </a:solidFill>
                  <a:latin typeface="Century Gothic Paneuropean Bold"/>
                  <a:ea typeface="Century Gothic Paneuropean Bold"/>
                  <a:cs typeface="Century Gothic Paneuropean Bold"/>
                  <a:sym typeface="Century Gothic Paneuropean Bold"/>
                </a:rPr>
                <a:t>Evaluation &amp; Model Selection</a:t>
              </a:r>
            </a:p>
          </p:txBody>
        </p:sp>
      </p:grpSp>
      <p:grpSp>
        <p:nvGrpSpPr>
          <p:cNvPr name="Group 18" id="18"/>
          <p:cNvGrpSpPr/>
          <p:nvPr/>
        </p:nvGrpSpPr>
        <p:grpSpPr>
          <a:xfrm rot="0">
            <a:off x="13029155" y="4469768"/>
            <a:ext cx="4597363" cy="2571172"/>
            <a:chOff x="0" y="0"/>
            <a:chExt cx="6129817" cy="3428229"/>
          </a:xfrm>
        </p:grpSpPr>
        <p:sp>
          <p:nvSpPr>
            <p:cNvPr name="Freeform 19" id="19"/>
            <p:cNvSpPr/>
            <p:nvPr/>
          </p:nvSpPr>
          <p:spPr>
            <a:xfrm flipH="false" flipV="false" rot="0">
              <a:off x="0" y="0"/>
              <a:ext cx="6129817" cy="3428229"/>
            </a:xfrm>
            <a:custGeom>
              <a:avLst/>
              <a:gdLst/>
              <a:ahLst/>
              <a:cxnLst/>
              <a:rect r="r" b="b" t="t" l="l"/>
              <a:pathLst>
                <a:path h="3428229" w="6129817">
                  <a:moveTo>
                    <a:pt x="0" y="0"/>
                  </a:moveTo>
                  <a:lnTo>
                    <a:pt x="6129817" y="0"/>
                  </a:lnTo>
                  <a:lnTo>
                    <a:pt x="6129817" y="3428229"/>
                  </a:lnTo>
                  <a:lnTo>
                    <a:pt x="0" y="3428229"/>
                  </a:lnTo>
                  <a:close/>
                </a:path>
              </a:pathLst>
            </a:custGeom>
            <a:solidFill>
              <a:srgbClr val="000000">
                <a:alpha val="0"/>
              </a:srgbClr>
            </a:solidFill>
          </p:spPr>
        </p:sp>
        <p:sp>
          <p:nvSpPr>
            <p:cNvPr name="TextBox 20" id="20"/>
            <p:cNvSpPr txBox="true"/>
            <p:nvPr/>
          </p:nvSpPr>
          <p:spPr>
            <a:xfrm>
              <a:off x="0" y="-95250"/>
              <a:ext cx="6129817" cy="3523479"/>
            </a:xfrm>
            <a:prstGeom prst="rect">
              <a:avLst/>
            </a:prstGeom>
          </p:spPr>
          <p:txBody>
            <a:bodyPr anchor="ctr" rtlCol="false" tIns="0" lIns="0" bIns="0" rIns="0"/>
            <a:lstStyle/>
            <a:p>
              <a:pPr algn="l" marL="502691" indent="-167564" lvl="2">
                <a:lnSpc>
                  <a:spcPts val="3562"/>
                </a:lnSpc>
                <a:buFont typeface="Arial"/>
                <a:buChar char="⚬"/>
              </a:pPr>
              <a:r>
                <a:rPr lang="en-US" b="true" sz="2199">
                  <a:solidFill>
                    <a:srgbClr val="FFFFFF"/>
                  </a:solidFill>
                  <a:latin typeface="Century Gothic Paneuropean Bold"/>
                  <a:ea typeface="Century Gothic Paneuropean Bold"/>
                  <a:cs typeface="Century Gothic Paneuropean Bold"/>
                  <a:sym typeface="Century Gothic Paneuropean Bold"/>
                </a:rPr>
                <a:t>Binary class label</a:t>
              </a:r>
            </a:p>
            <a:p>
              <a:pPr algn="l" marL="502691" indent="-167564" lvl="2">
                <a:lnSpc>
                  <a:spcPts val="3563"/>
                </a:lnSpc>
                <a:buFont typeface="Arial"/>
                <a:buChar char="⚬"/>
              </a:pPr>
              <a:r>
                <a:rPr lang="en-US" b="true" sz="2199">
                  <a:solidFill>
                    <a:srgbClr val="FFFFFF"/>
                  </a:solidFill>
                  <a:latin typeface="Century Gothic Paneuropean Bold"/>
                  <a:ea typeface="Century Gothic Paneuropean Bold"/>
                  <a:cs typeface="Century Gothic Paneuropean Bold"/>
                  <a:sym typeface="Century Gothic Paneuropean Bold"/>
                </a:rPr>
                <a:t>Performance metrics (AUROC, F1, Precision, Recall)</a:t>
              </a:r>
            </a:p>
          </p:txBody>
        </p:sp>
      </p:grpSp>
      <p:sp>
        <p:nvSpPr>
          <p:cNvPr name="AutoShape 21" id="21"/>
          <p:cNvSpPr/>
          <p:nvPr/>
        </p:nvSpPr>
        <p:spPr>
          <a:xfrm>
            <a:off x="10660578" y="3466319"/>
            <a:ext cx="2994487" cy="0"/>
          </a:xfrm>
          <a:prstGeom prst="line">
            <a:avLst/>
          </a:prstGeom>
          <a:ln cap="flat" w="38100">
            <a:solidFill>
              <a:srgbClr val="FFC200"/>
            </a:solidFill>
            <a:prstDash val="solid"/>
            <a:headEnd type="none" len="sm" w="sm"/>
            <a:tailEnd type="none" len="sm" w="sm"/>
          </a:ln>
        </p:spPr>
      </p:sp>
      <p:grpSp>
        <p:nvGrpSpPr>
          <p:cNvPr name="Group 22" id="22"/>
          <p:cNvGrpSpPr/>
          <p:nvPr/>
        </p:nvGrpSpPr>
        <p:grpSpPr>
          <a:xfrm rot="0">
            <a:off x="17761578" y="9713952"/>
            <a:ext cx="1268668" cy="2170263"/>
            <a:chOff x="0" y="0"/>
            <a:chExt cx="431800" cy="738664"/>
          </a:xfrm>
        </p:grpSpPr>
        <p:sp>
          <p:nvSpPr>
            <p:cNvPr name="Freeform 23" id="23"/>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24" id="24"/>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11</a:t>
              </a:r>
            </a:p>
          </p:txBody>
        </p:sp>
      </p:grpSp>
      <p:sp>
        <p:nvSpPr>
          <p:cNvPr name="Freeform 25" id="25"/>
          <p:cNvSpPr/>
          <p:nvPr/>
        </p:nvSpPr>
        <p:spPr>
          <a:xfrm flipH="false" flipV="false" rot="0">
            <a:off x="5493260" y="6577619"/>
            <a:ext cx="7437356" cy="3709381"/>
          </a:xfrm>
          <a:custGeom>
            <a:avLst/>
            <a:gdLst/>
            <a:ahLst/>
            <a:cxnLst/>
            <a:rect r="r" b="b" t="t" l="l"/>
            <a:pathLst>
              <a:path h="3709381" w="7437356">
                <a:moveTo>
                  <a:pt x="0" y="0"/>
                </a:moveTo>
                <a:lnTo>
                  <a:pt x="7437356" y="0"/>
                </a:lnTo>
                <a:lnTo>
                  <a:pt x="7437356" y="3709381"/>
                </a:lnTo>
                <a:lnTo>
                  <a:pt x="0" y="3709381"/>
                </a:lnTo>
                <a:lnTo>
                  <a:pt x="0" y="0"/>
                </a:lnTo>
                <a:close/>
              </a:path>
            </a:pathLst>
          </a:custGeom>
          <a:blipFill>
            <a:blip r:embed="rId6"/>
            <a:stretch>
              <a:fillRect l="0" t="0" r="0" b="0"/>
            </a:stretch>
          </a:blipFill>
        </p:spPr>
      </p:sp>
      <p:sp>
        <p:nvSpPr>
          <p:cNvPr name="TextBox 26" id="26"/>
          <p:cNvSpPr txBox="true"/>
          <p:nvPr/>
        </p:nvSpPr>
        <p:spPr>
          <a:xfrm rot="0">
            <a:off x="1257033" y="665905"/>
            <a:ext cx="16186334" cy="695300"/>
          </a:xfrm>
          <a:prstGeom prst="rect">
            <a:avLst/>
          </a:prstGeom>
        </p:spPr>
        <p:txBody>
          <a:bodyPr anchor="t" rtlCol="false" tIns="0" lIns="0" bIns="0" rIns="0">
            <a:spAutoFit/>
          </a:bodyPr>
          <a:lstStyle/>
          <a:p>
            <a:pPr algn="l">
              <a:lnSpc>
                <a:spcPts val="5398"/>
              </a:lnSpc>
            </a:pPr>
            <a:r>
              <a:rPr lang="en-US" sz="4498" b="true">
                <a:solidFill>
                  <a:srgbClr val="FFFFFF"/>
                </a:solidFill>
                <a:latin typeface="Times New Roman Bold"/>
                <a:ea typeface="Times New Roman Bold"/>
                <a:cs typeface="Times New Roman Bold"/>
                <a:sym typeface="Times New Roman Bold"/>
              </a:rPr>
              <a:t>Problem Description</a:t>
            </a:r>
          </a:p>
        </p:txBody>
      </p:sp>
      <p:sp>
        <p:nvSpPr>
          <p:cNvPr name="TextBox 27" id="27"/>
          <p:cNvSpPr txBox="true"/>
          <p:nvPr/>
        </p:nvSpPr>
        <p:spPr>
          <a:xfrm rot="0">
            <a:off x="1381939" y="3100974"/>
            <a:ext cx="1368833" cy="818007"/>
          </a:xfrm>
          <a:prstGeom prst="rect">
            <a:avLst/>
          </a:prstGeom>
        </p:spPr>
        <p:txBody>
          <a:bodyPr anchor="t" rtlCol="false" tIns="0" lIns="0" bIns="0" rIns="0">
            <a:spAutoFit/>
          </a:bodyPr>
          <a:lstStyle/>
          <a:p>
            <a:pPr algn="l">
              <a:lnSpc>
                <a:spcPts val="4799"/>
              </a:lnSpc>
            </a:pPr>
            <a:r>
              <a:rPr lang="en-US" sz="3999" b="true">
                <a:solidFill>
                  <a:srgbClr val="000000"/>
                </a:solidFill>
                <a:latin typeface="Century Gothic Paneuropean Bold"/>
                <a:ea typeface="Century Gothic Paneuropean Bold"/>
                <a:cs typeface="Century Gothic Paneuropean Bold"/>
                <a:sym typeface="Century Gothic Paneuropean Bold"/>
              </a:rPr>
              <a:t>Input</a:t>
            </a:r>
          </a:p>
        </p:txBody>
      </p:sp>
      <p:sp>
        <p:nvSpPr>
          <p:cNvPr name="TextBox 28" id="28"/>
          <p:cNvSpPr txBox="true"/>
          <p:nvPr/>
        </p:nvSpPr>
        <p:spPr>
          <a:xfrm rot="0">
            <a:off x="7815915" y="3100974"/>
            <a:ext cx="1982985" cy="818007"/>
          </a:xfrm>
          <a:prstGeom prst="rect">
            <a:avLst/>
          </a:prstGeom>
        </p:spPr>
        <p:txBody>
          <a:bodyPr anchor="t" rtlCol="false" tIns="0" lIns="0" bIns="0" rIns="0">
            <a:spAutoFit/>
          </a:bodyPr>
          <a:lstStyle/>
          <a:p>
            <a:pPr algn="l">
              <a:lnSpc>
                <a:spcPts val="4799"/>
              </a:lnSpc>
            </a:pPr>
            <a:r>
              <a:rPr lang="en-US" sz="3999" b="true">
                <a:solidFill>
                  <a:srgbClr val="000000"/>
                </a:solidFill>
                <a:latin typeface="Century Gothic Paneuropean Bold"/>
                <a:ea typeface="Century Gothic Paneuropean Bold"/>
                <a:cs typeface="Century Gothic Paneuropean Bold"/>
                <a:sym typeface="Century Gothic Paneuropean Bold"/>
              </a:rPr>
              <a:t>Process</a:t>
            </a:r>
          </a:p>
        </p:txBody>
      </p:sp>
      <p:sp>
        <p:nvSpPr>
          <p:cNvPr name="TextBox 29" id="29"/>
          <p:cNvSpPr txBox="true"/>
          <p:nvPr/>
        </p:nvSpPr>
        <p:spPr>
          <a:xfrm rot="0">
            <a:off x="14614543" y="3013658"/>
            <a:ext cx="1867832" cy="818007"/>
          </a:xfrm>
          <a:prstGeom prst="rect">
            <a:avLst/>
          </a:prstGeom>
        </p:spPr>
        <p:txBody>
          <a:bodyPr anchor="t" rtlCol="false" tIns="0" lIns="0" bIns="0" rIns="0">
            <a:spAutoFit/>
          </a:bodyPr>
          <a:lstStyle/>
          <a:p>
            <a:pPr algn="l">
              <a:lnSpc>
                <a:spcPts val="4799"/>
              </a:lnSpc>
            </a:pPr>
            <a:r>
              <a:rPr lang="en-US" sz="3999" b="true">
                <a:solidFill>
                  <a:srgbClr val="000000"/>
                </a:solidFill>
                <a:latin typeface="Century Gothic Paneuropean Bold"/>
                <a:ea typeface="Century Gothic Paneuropean Bold"/>
                <a:cs typeface="Century Gothic Paneuropean Bold"/>
                <a:sym typeface="Century Gothic Paneuropean Bold"/>
              </a:rPr>
              <a:t>Output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sp>
        <p:nvSpPr>
          <p:cNvPr name="Freeform 2" id="2"/>
          <p:cNvSpPr/>
          <p:nvPr/>
        </p:nvSpPr>
        <p:spPr>
          <a:xfrm flipH="false" flipV="false" rot="0">
            <a:off x="5943602" y="2836061"/>
            <a:ext cx="3210210" cy="3011436"/>
          </a:xfrm>
          <a:custGeom>
            <a:avLst/>
            <a:gdLst/>
            <a:ahLst/>
            <a:cxnLst/>
            <a:rect r="r" b="b" t="t" l="l"/>
            <a:pathLst>
              <a:path h="3011436" w="3210210">
                <a:moveTo>
                  <a:pt x="0" y="0"/>
                </a:moveTo>
                <a:lnTo>
                  <a:pt x="3210210" y="0"/>
                </a:lnTo>
                <a:lnTo>
                  <a:pt x="3210210" y="3011435"/>
                </a:lnTo>
                <a:lnTo>
                  <a:pt x="0" y="30114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9332962" y="2836061"/>
            <a:ext cx="3011436" cy="3199428"/>
          </a:xfrm>
          <a:custGeom>
            <a:avLst/>
            <a:gdLst/>
            <a:ahLst/>
            <a:cxnLst/>
            <a:rect r="r" b="b" t="t" l="l"/>
            <a:pathLst>
              <a:path h="3199428" w="3011436">
                <a:moveTo>
                  <a:pt x="0" y="0"/>
                </a:moveTo>
                <a:lnTo>
                  <a:pt x="3011436" y="0"/>
                </a:lnTo>
                <a:lnTo>
                  <a:pt x="3011436" y="3199427"/>
                </a:lnTo>
                <a:lnTo>
                  <a:pt x="0" y="31994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9147926" y="6225422"/>
            <a:ext cx="3196473" cy="3011436"/>
          </a:xfrm>
          <a:custGeom>
            <a:avLst/>
            <a:gdLst/>
            <a:ahLst/>
            <a:cxnLst/>
            <a:rect r="r" b="b" t="t" l="l"/>
            <a:pathLst>
              <a:path h="3011436" w="3196473">
                <a:moveTo>
                  <a:pt x="0" y="0"/>
                </a:moveTo>
                <a:lnTo>
                  <a:pt x="3196472" y="0"/>
                </a:lnTo>
                <a:lnTo>
                  <a:pt x="3196472" y="3011436"/>
                </a:lnTo>
                <a:lnTo>
                  <a:pt x="0" y="30114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5936932" y="6047240"/>
            <a:ext cx="3030486" cy="3199143"/>
          </a:xfrm>
          <a:custGeom>
            <a:avLst/>
            <a:gdLst/>
            <a:ahLst/>
            <a:cxnLst/>
            <a:rect r="r" b="b" t="t" l="l"/>
            <a:pathLst>
              <a:path h="3199143" w="3030486">
                <a:moveTo>
                  <a:pt x="0" y="0"/>
                </a:moveTo>
                <a:lnTo>
                  <a:pt x="3030486" y="0"/>
                </a:lnTo>
                <a:lnTo>
                  <a:pt x="3030486" y="3199143"/>
                </a:lnTo>
                <a:lnTo>
                  <a:pt x="0" y="31991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6185795" y="3281119"/>
            <a:ext cx="2461368" cy="553998"/>
            <a:chOff x="0" y="0"/>
            <a:chExt cx="3281824" cy="738664"/>
          </a:xfrm>
        </p:grpSpPr>
        <p:sp>
          <p:nvSpPr>
            <p:cNvPr name="Freeform 7" id="7"/>
            <p:cNvSpPr/>
            <p:nvPr/>
          </p:nvSpPr>
          <p:spPr>
            <a:xfrm flipH="false" flipV="false" rot="0">
              <a:off x="0" y="0"/>
              <a:ext cx="3281824" cy="738664"/>
            </a:xfrm>
            <a:custGeom>
              <a:avLst/>
              <a:gdLst/>
              <a:ahLst/>
              <a:cxnLst/>
              <a:rect r="r" b="b" t="t" l="l"/>
              <a:pathLst>
                <a:path h="738664" w="3281824">
                  <a:moveTo>
                    <a:pt x="0" y="0"/>
                  </a:moveTo>
                  <a:lnTo>
                    <a:pt x="3281824" y="0"/>
                  </a:lnTo>
                  <a:lnTo>
                    <a:pt x="3281824" y="738664"/>
                  </a:lnTo>
                  <a:lnTo>
                    <a:pt x="0" y="738664"/>
                  </a:lnTo>
                  <a:close/>
                </a:path>
              </a:pathLst>
            </a:custGeom>
            <a:solidFill>
              <a:srgbClr val="000000">
                <a:alpha val="0"/>
              </a:srgbClr>
            </a:solidFill>
          </p:spPr>
        </p:sp>
        <p:sp>
          <p:nvSpPr>
            <p:cNvPr name="TextBox 8" id="8"/>
            <p:cNvSpPr txBox="true"/>
            <p:nvPr/>
          </p:nvSpPr>
          <p:spPr>
            <a:xfrm>
              <a:off x="0" y="-19050"/>
              <a:ext cx="3281824" cy="757714"/>
            </a:xfrm>
            <a:prstGeom prst="rect">
              <a:avLst/>
            </a:prstGeom>
          </p:spPr>
          <p:txBody>
            <a:bodyPr anchor="t" rtlCol="false" tIns="0" lIns="0" bIns="0" rIns="0"/>
            <a:lstStyle/>
            <a:p>
              <a:pPr algn="ctr">
                <a:lnSpc>
                  <a:spcPts val="3240"/>
                </a:lnSpc>
              </a:pPr>
              <a:r>
                <a:rPr lang="en-US" b="true" sz="2700">
                  <a:solidFill>
                    <a:srgbClr val="FFFFFF"/>
                  </a:solidFill>
                  <a:latin typeface="Times New Roman Bold"/>
                  <a:ea typeface="Times New Roman Bold"/>
                  <a:cs typeface="Times New Roman Bold"/>
                  <a:sym typeface="Times New Roman Bold"/>
                </a:rPr>
                <a:t>AUROC</a:t>
              </a:r>
            </a:p>
          </p:txBody>
        </p:sp>
      </p:grpSp>
      <p:grpSp>
        <p:nvGrpSpPr>
          <p:cNvPr name="Group 9" id="9"/>
          <p:cNvGrpSpPr/>
          <p:nvPr/>
        </p:nvGrpSpPr>
        <p:grpSpPr>
          <a:xfrm rot="0">
            <a:off x="4705350" y="2836061"/>
            <a:ext cx="598104" cy="598104"/>
            <a:chOff x="0" y="0"/>
            <a:chExt cx="797472" cy="797472"/>
          </a:xfrm>
        </p:grpSpPr>
        <p:sp>
          <p:nvSpPr>
            <p:cNvPr name="Freeform 10" id="10"/>
            <p:cNvSpPr/>
            <p:nvPr/>
          </p:nvSpPr>
          <p:spPr>
            <a:xfrm flipH="false" flipV="false" rot="0">
              <a:off x="0" y="0"/>
              <a:ext cx="797560" cy="797560"/>
            </a:xfrm>
            <a:custGeom>
              <a:avLst/>
              <a:gdLst/>
              <a:ahLst/>
              <a:cxnLst/>
              <a:rect r="r" b="b" t="t" l="l"/>
              <a:pathLst>
                <a:path h="797560" w="797560">
                  <a:moveTo>
                    <a:pt x="0" y="398780"/>
                  </a:moveTo>
                  <a:cubicBezTo>
                    <a:pt x="0" y="178562"/>
                    <a:pt x="178562" y="0"/>
                    <a:pt x="398780" y="0"/>
                  </a:cubicBezTo>
                  <a:cubicBezTo>
                    <a:pt x="618998" y="0"/>
                    <a:pt x="797560" y="178562"/>
                    <a:pt x="797560" y="398780"/>
                  </a:cubicBezTo>
                  <a:cubicBezTo>
                    <a:pt x="797560" y="618998"/>
                    <a:pt x="618998" y="797560"/>
                    <a:pt x="398780" y="797560"/>
                  </a:cubicBezTo>
                  <a:cubicBezTo>
                    <a:pt x="178562" y="797560"/>
                    <a:pt x="0" y="618998"/>
                    <a:pt x="0" y="398780"/>
                  </a:cubicBezTo>
                  <a:close/>
                </a:path>
              </a:pathLst>
            </a:custGeom>
            <a:solidFill>
              <a:srgbClr val="F7B902"/>
            </a:solidFill>
          </p:spPr>
        </p:sp>
      </p:grpSp>
      <p:grpSp>
        <p:nvGrpSpPr>
          <p:cNvPr name="Group 11" id="11"/>
          <p:cNvGrpSpPr/>
          <p:nvPr/>
        </p:nvGrpSpPr>
        <p:grpSpPr>
          <a:xfrm rot="0">
            <a:off x="4907754" y="2845586"/>
            <a:ext cx="323850" cy="553998"/>
            <a:chOff x="0" y="0"/>
            <a:chExt cx="431800" cy="738664"/>
          </a:xfrm>
        </p:grpSpPr>
        <p:sp>
          <p:nvSpPr>
            <p:cNvPr name="Freeform 12" id="12"/>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3" id="13"/>
            <p:cNvSpPr txBox="true"/>
            <p:nvPr/>
          </p:nvSpPr>
          <p:spPr>
            <a:xfrm>
              <a:off x="0" y="-19050"/>
              <a:ext cx="431800" cy="757714"/>
            </a:xfrm>
            <a:prstGeom prst="rect">
              <a:avLst/>
            </a:prstGeom>
          </p:spPr>
          <p:txBody>
            <a:bodyPr anchor="t" rtlCol="false" tIns="0" lIns="0" bIns="0" rIns="0"/>
            <a:lstStyle/>
            <a:p>
              <a:pPr algn="l">
                <a:lnSpc>
                  <a:spcPts val="3240"/>
                </a:lnSpc>
              </a:pPr>
              <a:r>
                <a:rPr lang="en-US" b="true" sz="2700">
                  <a:solidFill>
                    <a:srgbClr val="FFFFFF"/>
                  </a:solidFill>
                  <a:latin typeface="Times New Roman Bold"/>
                  <a:ea typeface="Times New Roman Bold"/>
                  <a:cs typeface="Times New Roman Bold"/>
                  <a:sym typeface="Times New Roman Bold"/>
                </a:rPr>
                <a:t>1</a:t>
              </a:r>
            </a:p>
          </p:txBody>
        </p:sp>
      </p:grpSp>
      <p:grpSp>
        <p:nvGrpSpPr>
          <p:cNvPr name="Group 14" id="14"/>
          <p:cNvGrpSpPr/>
          <p:nvPr/>
        </p:nvGrpSpPr>
        <p:grpSpPr>
          <a:xfrm rot="0">
            <a:off x="841174" y="3711164"/>
            <a:ext cx="4692852" cy="1523495"/>
            <a:chOff x="0" y="0"/>
            <a:chExt cx="6257136" cy="2031326"/>
          </a:xfrm>
        </p:grpSpPr>
        <p:sp>
          <p:nvSpPr>
            <p:cNvPr name="Freeform 15" id="15"/>
            <p:cNvSpPr/>
            <p:nvPr/>
          </p:nvSpPr>
          <p:spPr>
            <a:xfrm flipH="false" flipV="false" rot="0">
              <a:off x="0" y="0"/>
              <a:ext cx="6257136" cy="2031326"/>
            </a:xfrm>
            <a:custGeom>
              <a:avLst/>
              <a:gdLst/>
              <a:ahLst/>
              <a:cxnLst/>
              <a:rect r="r" b="b" t="t" l="l"/>
              <a:pathLst>
                <a:path h="2031326" w="6257136">
                  <a:moveTo>
                    <a:pt x="0" y="0"/>
                  </a:moveTo>
                  <a:lnTo>
                    <a:pt x="6257136" y="0"/>
                  </a:lnTo>
                  <a:lnTo>
                    <a:pt x="6257136" y="2031326"/>
                  </a:lnTo>
                  <a:lnTo>
                    <a:pt x="0" y="2031326"/>
                  </a:lnTo>
                  <a:close/>
                </a:path>
              </a:pathLst>
            </a:custGeom>
            <a:solidFill>
              <a:srgbClr val="000000">
                <a:alpha val="0"/>
              </a:srgbClr>
            </a:solidFill>
          </p:spPr>
        </p:sp>
        <p:sp>
          <p:nvSpPr>
            <p:cNvPr name="TextBox 16" id="16"/>
            <p:cNvSpPr txBox="true"/>
            <p:nvPr/>
          </p:nvSpPr>
          <p:spPr>
            <a:xfrm>
              <a:off x="0" y="-9525"/>
              <a:ext cx="6257136" cy="2040851"/>
            </a:xfrm>
            <a:prstGeom prst="rect">
              <a:avLst/>
            </a:prstGeom>
          </p:spPr>
          <p:txBody>
            <a:bodyPr anchor="t" rtlCol="false" tIns="0" lIns="0" bIns="0" rIns="0"/>
            <a:lstStyle/>
            <a:p>
              <a:pPr algn="l">
                <a:lnSpc>
                  <a:spcPts val="2399"/>
                </a:lnSpc>
              </a:pPr>
              <a:r>
                <a:rPr lang="en-US" sz="1999">
                  <a:solidFill>
                    <a:srgbClr val="FFFFFF"/>
                  </a:solidFill>
                  <a:latin typeface="Times New Roman"/>
                  <a:ea typeface="Times New Roman"/>
                  <a:cs typeface="Times New Roman"/>
                  <a:sym typeface="Times New Roman"/>
                </a:rPr>
                <a:t>Primary Metric: Evaluates overall model potential, independent of the decision threshold.</a:t>
              </a:r>
            </a:p>
          </p:txBody>
        </p:sp>
      </p:grpSp>
      <p:grpSp>
        <p:nvGrpSpPr>
          <p:cNvPr name="Group 17" id="17"/>
          <p:cNvGrpSpPr/>
          <p:nvPr/>
        </p:nvGrpSpPr>
        <p:grpSpPr>
          <a:xfrm rot="0">
            <a:off x="12977812" y="2836061"/>
            <a:ext cx="598104" cy="598104"/>
            <a:chOff x="0" y="0"/>
            <a:chExt cx="797472" cy="797472"/>
          </a:xfrm>
        </p:grpSpPr>
        <p:sp>
          <p:nvSpPr>
            <p:cNvPr name="Freeform 18" id="18"/>
            <p:cNvSpPr/>
            <p:nvPr/>
          </p:nvSpPr>
          <p:spPr>
            <a:xfrm flipH="false" flipV="false" rot="0">
              <a:off x="0" y="0"/>
              <a:ext cx="797560" cy="797560"/>
            </a:xfrm>
            <a:custGeom>
              <a:avLst/>
              <a:gdLst/>
              <a:ahLst/>
              <a:cxnLst/>
              <a:rect r="r" b="b" t="t" l="l"/>
              <a:pathLst>
                <a:path h="797560" w="797560">
                  <a:moveTo>
                    <a:pt x="0" y="398780"/>
                  </a:moveTo>
                  <a:cubicBezTo>
                    <a:pt x="0" y="178562"/>
                    <a:pt x="178562" y="0"/>
                    <a:pt x="398780" y="0"/>
                  </a:cubicBezTo>
                  <a:cubicBezTo>
                    <a:pt x="618998" y="0"/>
                    <a:pt x="797560" y="178562"/>
                    <a:pt x="797560" y="398780"/>
                  </a:cubicBezTo>
                  <a:cubicBezTo>
                    <a:pt x="797560" y="618998"/>
                    <a:pt x="618998" y="797560"/>
                    <a:pt x="398780" y="797560"/>
                  </a:cubicBezTo>
                  <a:cubicBezTo>
                    <a:pt x="178562" y="797560"/>
                    <a:pt x="0" y="618998"/>
                    <a:pt x="0" y="398780"/>
                  </a:cubicBezTo>
                  <a:close/>
                </a:path>
              </a:pathLst>
            </a:custGeom>
            <a:solidFill>
              <a:srgbClr val="F7B902"/>
            </a:solidFill>
          </p:spPr>
        </p:sp>
      </p:grpSp>
      <p:grpSp>
        <p:nvGrpSpPr>
          <p:cNvPr name="Group 19" id="19"/>
          <p:cNvGrpSpPr/>
          <p:nvPr/>
        </p:nvGrpSpPr>
        <p:grpSpPr>
          <a:xfrm rot="0">
            <a:off x="13162564" y="2864636"/>
            <a:ext cx="323850" cy="553998"/>
            <a:chOff x="0" y="0"/>
            <a:chExt cx="431800" cy="738664"/>
          </a:xfrm>
        </p:grpSpPr>
        <p:sp>
          <p:nvSpPr>
            <p:cNvPr name="Freeform 20" id="20"/>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21" id="21"/>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282830"/>
                  </a:solidFill>
                  <a:latin typeface="Times New Roman Bold"/>
                  <a:ea typeface="Times New Roman Bold"/>
                  <a:cs typeface="Times New Roman Bold"/>
                  <a:sym typeface="Times New Roman Bold"/>
                </a:rPr>
                <a:t>2</a:t>
              </a:r>
            </a:p>
          </p:txBody>
        </p:sp>
      </p:grpSp>
      <p:grpSp>
        <p:nvGrpSpPr>
          <p:cNvPr name="Group 22" id="22"/>
          <p:cNvGrpSpPr/>
          <p:nvPr/>
        </p:nvGrpSpPr>
        <p:grpSpPr>
          <a:xfrm rot="0">
            <a:off x="12958636" y="3711164"/>
            <a:ext cx="4692852" cy="1523495"/>
            <a:chOff x="0" y="0"/>
            <a:chExt cx="6257136" cy="2031326"/>
          </a:xfrm>
        </p:grpSpPr>
        <p:sp>
          <p:nvSpPr>
            <p:cNvPr name="Freeform 23" id="23"/>
            <p:cNvSpPr/>
            <p:nvPr/>
          </p:nvSpPr>
          <p:spPr>
            <a:xfrm flipH="false" flipV="false" rot="0">
              <a:off x="0" y="0"/>
              <a:ext cx="6257136" cy="2031326"/>
            </a:xfrm>
            <a:custGeom>
              <a:avLst/>
              <a:gdLst/>
              <a:ahLst/>
              <a:cxnLst/>
              <a:rect r="r" b="b" t="t" l="l"/>
              <a:pathLst>
                <a:path h="2031326" w="6257136">
                  <a:moveTo>
                    <a:pt x="0" y="0"/>
                  </a:moveTo>
                  <a:lnTo>
                    <a:pt x="6257136" y="0"/>
                  </a:lnTo>
                  <a:lnTo>
                    <a:pt x="6257136" y="2031326"/>
                  </a:lnTo>
                  <a:lnTo>
                    <a:pt x="0" y="2031326"/>
                  </a:lnTo>
                  <a:close/>
                </a:path>
              </a:pathLst>
            </a:custGeom>
            <a:solidFill>
              <a:srgbClr val="000000">
                <a:alpha val="0"/>
              </a:srgbClr>
            </a:solidFill>
          </p:spPr>
        </p:sp>
        <p:sp>
          <p:nvSpPr>
            <p:cNvPr name="TextBox 24" id="24"/>
            <p:cNvSpPr txBox="true"/>
            <p:nvPr/>
          </p:nvSpPr>
          <p:spPr>
            <a:xfrm>
              <a:off x="0" y="-9525"/>
              <a:ext cx="6257136" cy="2040851"/>
            </a:xfrm>
            <a:prstGeom prst="rect">
              <a:avLst/>
            </a:prstGeom>
          </p:spPr>
          <p:txBody>
            <a:bodyPr anchor="t" rtlCol="false" tIns="0" lIns="0" bIns="0" rIns="0"/>
            <a:lstStyle/>
            <a:p>
              <a:pPr algn="l">
                <a:lnSpc>
                  <a:spcPts val="2399"/>
                </a:lnSpc>
              </a:pPr>
              <a:r>
                <a:rPr lang="en-US" sz="1999">
                  <a:solidFill>
                    <a:srgbClr val="FFFFFF"/>
                  </a:solidFill>
                  <a:latin typeface="Times New Roman"/>
                  <a:ea typeface="Times New Roman"/>
                  <a:cs typeface="Times New Roman"/>
                  <a:sym typeface="Times New Roman"/>
                </a:rPr>
                <a:t>Key Application Metric: Balances precision and recall to measure practical performance</a:t>
              </a:r>
            </a:p>
          </p:txBody>
        </p:sp>
      </p:grpSp>
      <p:grpSp>
        <p:nvGrpSpPr>
          <p:cNvPr name="Group 25" id="25"/>
          <p:cNvGrpSpPr/>
          <p:nvPr/>
        </p:nvGrpSpPr>
        <p:grpSpPr>
          <a:xfrm rot="0">
            <a:off x="12977812" y="6209422"/>
            <a:ext cx="598104" cy="598104"/>
            <a:chOff x="0" y="0"/>
            <a:chExt cx="797472" cy="797472"/>
          </a:xfrm>
        </p:grpSpPr>
        <p:sp>
          <p:nvSpPr>
            <p:cNvPr name="Freeform 26" id="26"/>
            <p:cNvSpPr/>
            <p:nvPr/>
          </p:nvSpPr>
          <p:spPr>
            <a:xfrm flipH="false" flipV="false" rot="0">
              <a:off x="0" y="0"/>
              <a:ext cx="797560" cy="797560"/>
            </a:xfrm>
            <a:custGeom>
              <a:avLst/>
              <a:gdLst/>
              <a:ahLst/>
              <a:cxnLst/>
              <a:rect r="r" b="b" t="t" l="l"/>
              <a:pathLst>
                <a:path h="797560" w="797560">
                  <a:moveTo>
                    <a:pt x="0" y="398780"/>
                  </a:moveTo>
                  <a:cubicBezTo>
                    <a:pt x="0" y="178562"/>
                    <a:pt x="178562" y="0"/>
                    <a:pt x="398780" y="0"/>
                  </a:cubicBezTo>
                  <a:cubicBezTo>
                    <a:pt x="618998" y="0"/>
                    <a:pt x="797560" y="178562"/>
                    <a:pt x="797560" y="398780"/>
                  </a:cubicBezTo>
                  <a:cubicBezTo>
                    <a:pt x="797560" y="618998"/>
                    <a:pt x="618998" y="797560"/>
                    <a:pt x="398780" y="797560"/>
                  </a:cubicBezTo>
                  <a:cubicBezTo>
                    <a:pt x="178562" y="797560"/>
                    <a:pt x="0" y="618998"/>
                    <a:pt x="0" y="398780"/>
                  </a:cubicBezTo>
                  <a:close/>
                </a:path>
              </a:pathLst>
            </a:custGeom>
            <a:solidFill>
              <a:srgbClr val="F7B902"/>
            </a:solidFill>
          </p:spPr>
        </p:sp>
      </p:grpSp>
      <p:grpSp>
        <p:nvGrpSpPr>
          <p:cNvPr name="Group 27" id="27"/>
          <p:cNvGrpSpPr/>
          <p:nvPr/>
        </p:nvGrpSpPr>
        <p:grpSpPr>
          <a:xfrm rot="0">
            <a:off x="13173074" y="6230016"/>
            <a:ext cx="323850" cy="553998"/>
            <a:chOff x="0" y="0"/>
            <a:chExt cx="431800" cy="738664"/>
          </a:xfrm>
        </p:grpSpPr>
        <p:sp>
          <p:nvSpPr>
            <p:cNvPr name="Freeform 28" id="28"/>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29" id="29"/>
            <p:cNvSpPr txBox="true"/>
            <p:nvPr/>
          </p:nvSpPr>
          <p:spPr>
            <a:xfrm>
              <a:off x="0" y="-19050"/>
              <a:ext cx="431800" cy="757714"/>
            </a:xfrm>
            <a:prstGeom prst="rect">
              <a:avLst/>
            </a:prstGeom>
          </p:spPr>
          <p:txBody>
            <a:bodyPr anchor="t" rtlCol="false" tIns="0" lIns="0" bIns="0" rIns="0"/>
            <a:lstStyle/>
            <a:p>
              <a:pPr algn="l">
                <a:lnSpc>
                  <a:spcPts val="3240"/>
                </a:lnSpc>
              </a:pPr>
              <a:r>
                <a:rPr lang="en-US" b="true" sz="2700">
                  <a:solidFill>
                    <a:srgbClr val="FFFFFF"/>
                  </a:solidFill>
                  <a:latin typeface="Times New Roman Bold"/>
                  <a:ea typeface="Times New Roman Bold"/>
                  <a:cs typeface="Times New Roman Bold"/>
                  <a:sym typeface="Times New Roman Bold"/>
                </a:rPr>
                <a:t>3</a:t>
              </a:r>
            </a:p>
          </p:txBody>
        </p:sp>
      </p:grpSp>
      <p:grpSp>
        <p:nvGrpSpPr>
          <p:cNvPr name="Group 30" id="30"/>
          <p:cNvGrpSpPr/>
          <p:nvPr/>
        </p:nvGrpSpPr>
        <p:grpSpPr>
          <a:xfrm rot="0">
            <a:off x="12958636" y="7084526"/>
            <a:ext cx="4692852" cy="1523494"/>
            <a:chOff x="0" y="0"/>
            <a:chExt cx="6257136" cy="2031326"/>
          </a:xfrm>
        </p:grpSpPr>
        <p:sp>
          <p:nvSpPr>
            <p:cNvPr name="Freeform 31" id="31"/>
            <p:cNvSpPr/>
            <p:nvPr/>
          </p:nvSpPr>
          <p:spPr>
            <a:xfrm flipH="false" flipV="false" rot="0">
              <a:off x="0" y="0"/>
              <a:ext cx="6257136" cy="2031326"/>
            </a:xfrm>
            <a:custGeom>
              <a:avLst/>
              <a:gdLst/>
              <a:ahLst/>
              <a:cxnLst/>
              <a:rect r="r" b="b" t="t" l="l"/>
              <a:pathLst>
                <a:path h="2031326" w="6257136">
                  <a:moveTo>
                    <a:pt x="0" y="0"/>
                  </a:moveTo>
                  <a:lnTo>
                    <a:pt x="6257136" y="0"/>
                  </a:lnTo>
                  <a:lnTo>
                    <a:pt x="6257136" y="2031326"/>
                  </a:lnTo>
                  <a:lnTo>
                    <a:pt x="0" y="2031326"/>
                  </a:lnTo>
                  <a:close/>
                </a:path>
              </a:pathLst>
            </a:custGeom>
            <a:solidFill>
              <a:srgbClr val="000000">
                <a:alpha val="0"/>
              </a:srgbClr>
            </a:solidFill>
          </p:spPr>
        </p:sp>
        <p:sp>
          <p:nvSpPr>
            <p:cNvPr name="TextBox 32" id="32"/>
            <p:cNvSpPr txBox="true"/>
            <p:nvPr/>
          </p:nvSpPr>
          <p:spPr>
            <a:xfrm>
              <a:off x="0" y="-9525"/>
              <a:ext cx="6257136" cy="2040851"/>
            </a:xfrm>
            <a:prstGeom prst="rect">
              <a:avLst/>
            </a:prstGeom>
          </p:spPr>
          <p:txBody>
            <a:bodyPr anchor="t" rtlCol="false" tIns="0" lIns="0" bIns="0" rIns="0"/>
            <a:lstStyle/>
            <a:p>
              <a:pPr algn="l">
                <a:lnSpc>
                  <a:spcPts val="2399"/>
                </a:lnSpc>
              </a:pPr>
              <a:r>
                <a:rPr lang="en-US" sz="1999">
                  <a:solidFill>
                    <a:srgbClr val="FFFFFF"/>
                  </a:solidFill>
                  <a:latin typeface="Times New Roman"/>
                  <a:ea typeface="Times New Roman"/>
                  <a:cs typeface="Times New Roman"/>
                  <a:sym typeface="Times New Roman"/>
                </a:rPr>
                <a:t>The proportio</a:t>
              </a:r>
              <a:r>
                <a:rPr lang="en-US" sz="1999">
                  <a:solidFill>
                    <a:srgbClr val="FFFFFF"/>
                  </a:solidFill>
                  <a:latin typeface="Times New Roman"/>
                  <a:ea typeface="Times New Roman"/>
                  <a:cs typeface="Times New Roman"/>
                  <a:sym typeface="Times New Roman"/>
                </a:rPr>
                <a:t>n of true positive predictions among all positive predictions made, reflecting the model's exactness.</a:t>
              </a:r>
            </a:p>
          </p:txBody>
        </p:sp>
      </p:grpSp>
      <p:grpSp>
        <p:nvGrpSpPr>
          <p:cNvPr name="Group 33" id="33"/>
          <p:cNvGrpSpPr/>
          <p:nvPr/>
        </p:nvGrpSpPr>
        <p:grpSpPr>
          <a:xfrm rot="0">
            <a:off x="0" y="619125"/>
            <a:ext cx="68578" cy="807913"/>
            <a:chOff x="0" y="0"/>
            <a:chExt cx="91438" cy="1077218"/>
          </a:xfrm>
        </p:grpSpPr>
        <p:sp>
          <p:nvSpPr>
            <p:cNvPr name="Freeform 34" id="34"/>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35" id="35"/>
          <p:cNvGrpSpPr/>
          <p:nvPr/>
        </p:nvGrpSpPr>
        <p:grpSpPr>
          <a:xfrm rot="0">
            <a:off x="171448" y="619125"/>
            <a:ext cx="928688" cy="807913"/>
            <a:chOff x="0" y="0"/>
            <a:chExt cx="1238250" cy="1077218"/>
          </a:xfrm>
        </p:grpSpPr>
        <p:sp>
          <p:nvSpPr>
            <p:cNvPr name="Freeform 36" id="36"/>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37" id="37"/>
          <p:cNvGrpSpPr/>
          <p:nvPr/>
        </p:nvGrpSpPr>
        <p:grpSpPr>
          <a:xfrm rot="0">
            <a:off x="1231581" y="542925"/>
            <a:ext cx="16186334" cy="950830"/>
            <a:chOff x="0" y="0"/>
            <a:chExt cx="13920207" cy="817711"/>
          </a:xfrm>
        </p:grpSpPr>
        <p:sp>
          <p:nvSpPr>
            <p:cNvPr name="Freeform 38" id="38"/>
            <p:cNvSpPr/>
            <p:nvPr/>
          </p:nvSpPr>
          <p:spPr>
            <a:xfrm flipH="false" flipV="false" rot="0">
              <a:off x="0" y="0"/>
              <a:ext cx="13920208" cy="817711"/>
            </a:xfrm>
            <a:custGeom>
              <a:avLst/>
              <a:gdLst/>
              <a:ahLst/>
              <a:cxnLst/>
              <a:rect r="r" b="b" t="t" l="l"/>
              <a:pathLst>
                <a:path h="817711" w="13920208">
                  <a:moveTo>
                    <a:pt x="0" y="0"/>
                  </a:moveTo>
                  <a:lnTo>
                    <a:pt x="13920208" y="0"/>
                  </a:lnTo>
                  <a:lnTo>
                    <a:pt x="13920208" y="817711"/>
                  </a:lnTo>
                  <a:lnTo>
                    <a:pt x="0" y="817711"/>
                  </a:lnTo>
                  <a:close/>
                </a:path>
              </a:pathLst>
            </a:custGeom>
            <a:solidFill>
              <a:srgbClr val="000000">
                <a:alpha val="0"/>
              </a:srgbClr>
            </a:solidFill>
          </p:spPr>
        </p:sp>
        <p:sp>
          <p:nvSpPr>
            <p:cNvPr name="TextBox 39" id="39"/>
            <p:cNvSpPr txBox="true"/>
            <p:nvPr/>
          </p:nvSpPr>
          <p:spPr>
            <a:xfrm>
              <a:off x="0" y="-19050"/>
              <a:ext cx="13920207"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Evaluation Metrics</a:t>
              </a:r>
            </a:p>
          </p:txBody>
        </p:sp>
      </p:grpSp>
      <p:grpSp>
        <p:nvGrpSpPr>
          <p:cNvPr name="Group 40" id="40"/>
          <p:cNvGrpSpPr/>
          <p:nvPr/>
        </p:nvGrpSpPr>
        <p:grpSpPr>
          <a:xfrm rot="0">
            <a:off x="8105504" y="1694731"/>
            <a:ext cx="2096614" cy="950830"/>
            <a:chOff x="0" y="0"/>
            <a:chExt cx="1803083" cy="817711"/>
          </a:xfrm>
        </p:grpSpPr>
        <p:sp>
          <p:nvSpPr>
            <p:cNvPr name="Freeform 41" id="41"/>
            <p:cNvSpPr/>
            <p:nvPr/>
          </p:nvSpPr>
          <p:spPr>
            <a:xfrm flipH="false" flipV="false" rot="0">
              <a:off x="0" y="0"/>
              <a:ext cx="1803083" cy="817711"/>
            </a:xfrm>
            <a:custGeom>
              <a:avLst/>
              <a:gdLst/>
              <a:ahLst/>
              <a:cxnLst/>
              <a:rect r="r" b="b" t="t" l="l"/>
              <a:pathLst>
                <a:path h="817711" w="1803083">
                  <a:moveTo>
                    <a:pt x="0" y="0"/>
                  </a:moveTo>
                  <a:lnTo>
                    <a:pt x="1803083" y="0"/>
                  </a:lnTo>
                  <a:lnTo>
                    <a:pt x="1803083" y="817711"/>
                  </a:lnTo>
                  <a:lnTo>
                    <a:pt x="0" y="817711"/>
                  </a:lnTo>
                  <a:close/>
                </a:path>
              </a:pathLst>
            </a:custGeom>
            <a:solidFill>
              <a:srgbClr val="000000">
                <a:alpha val="0"/>
              </a:srgbClr>
            </a:solidFill>
          </p:spPr>
        </p:sp>
        <p:sp>
          <p:nvSpPr>
            <p:cNvPr name="TextBox 42" id="42"/>
            <p:cNvSpPr txBox="true"/>
            <p:nvPr/>
          </p:nvSpPr>
          <p:spPr>
            <a:xfrm>
              <a:off x="0" y="0"/>
              <a:ext cx="1803083" cy="817711"/>
            </a:xfrm>
            <a:prstGeom prst="rect">
              <a:avLst/>
            </a:prstGeom>
          </p:spPr>
          <p:txBody>
            <a:bodyPr anchor="t" rtlCol="false" tIns="0" lIns="0" bIns="0" rIns="0"/>
            <a:lstStyle/>
            <a:p>
              <a:pPr algn="l">
                <a:lnSpc>
                  <a:spcPts val="5399"/>
                </a:lnSpc>
              </a:pPr>
              <a:r>
                <a:rPr lang="en-US" sz="4499" b="true">
                  <a:solidFill>
                    <a:srgbClr val="FFFFFF"/>
                  </a:solidFill>
                  <a:latin typeface="Century Gothic Paneuropean Bold"/>
                  <a:ea typeface="Century Gothic Paneuropean Bold"/>
                  <a:cs typeface="Century Gothic Paneuropean Bold"/>
                  <a:sym typeface="Century Gothic Paneuropean Bold"/>
                </a:rPr>
                <a:t>Metrics</a:t>
              </a:r>
            </a:p>
          </p:txBody>
        </p:sp>
      </p:grpSp>
      <p:grpSp>
        <p:nvGrpSpPr>
          <p:cNvPr name="Group 43" id="43"/>
          <p:cNvGrpSpPr/>
          <p:nvPr/>
        </p:nvGrpSpPr>
        <p:grpSpPr>
          <a:xfrm rot="0">
            <a:off x="9614864" y="3281119"/>
            <a:ext cx="2461368" cy="553998"/>
            <a:chOff x="0" y="0"/>
            <a:chExt cx="3281824" cy="738664"/>
          </a:xfrm>
        </p:grpSpPr>
        <p:sp>
          <p:nvSpPr>
            <p:cNvPr name="Freeform 44" id="44"/>
            <p:cNvSpPr/>
            <p:nvPr/>
          </p:nvSpPr>
          <p:spPr>
            <a:xfrm flipH="false" flipV="false" rot="0">
              <a:off x="0" y="0"/>
              <a:ext cx="3281824" cy="738664"/>
            </a:xfrm>
            <a:custGeom>
              <a:avLst/>
              <a:gdLst/>
              <a:ahLst/>
              <a:cxnLst/>
              <a:rect r="r" b="b" t="t" l="l"/>
              <a:pathLst>
                <a:path h="738664" w="3281824">
                  <a:moveTo>
                    <a:pt x="0" y="0"/>
                  </a:moveTo>
                  <a:lnTo>
                    <a:pt x="3281824" y="0"/>
                  </a:lnTo>
                  <a:lnTo>
                    <a:pt x="3281824" y="738664"/>
                  </a:lnTo>
                  <a:lnTo>
                    <a:pt x="0" y="738664"/>
                  </a:lnTo>
                  <a:close/>
                </a:path>
              </a:pathLst>
            </a:custGeom>
            <a:solidFill>
              <a:srgbClr val="000000">
                <a:alpha val="0"/>
              </a:srgbClr>
            </a:solidFill>
          </p:spPr>
        </p:sp>
        <p:sp>
          <p:nvSpPr>
            <p:cNvPr name="TextBox 45" id="45"/>
            <p:cNvSpPr txBox="true"/>
            <p:nvPr/>
          </p:nvSpPr>
          <p:spPr>
            <a:xfrm>
              <a:off x="0" y="-19050"/>
              <a:ext cx="3281824" cy="757714"/>
            </a:xfrm>
            <a:prstGeom prst="rect">
              <a:avLst/>
            </a:prstGeom>
          </p:spPr>
          <p:txBody>
            <a:bodyPr anchor="t" rtlCol="false" tIns="0" lIns="0" bIns="0" rIns="0"/>
            <a:lstStyle/>
            <a:p>
              <a:pPr algn="ctr">
                <a:lnSpc>
                  <a:spcPts val="3240"/>
                </a:lnSpc>
              </a:pPr>
              <a:r>
                <a:rPr lang="en-US" b="true" sz="2700">
                  <a:solidFill>
                    <a:srgbClr val="000000"/>
                  </a:solidFill>
                  <a:latin typeface="Times New Roman Bold"/>
                  <a:ea typeface="Times New Roman Bold"/>
                  <a:cs typeface="Times New Roman Bold"/>
                  <a:sym typeface="Times New Roman Bold"/>
                </a:rPr>
                <a:t>F1-score</a:t>
              </a:r>
            </a:p>
          </p:txBody>
        </p:sp>
      </p:grpSp>
      <p:grpSp>
        <p:nvGrpSpPr>
          <p:cNvPr name="Group 46" id="46"/>
          <p:cNvGrpSpPr/>
          <p:nvPr/>
        </p:nvGrpSpPr>
        <p:grpSpPr>
          <a:xfrm rot="0">
            <a:off x="9614864" y="6551121"/>
            <a:ext cx="2461368" cy="553998"/>
            <a:chOff x="0" y="0"/>
            <a:chExt cx="3281824" cy="738664"/>
          </a:xfrm>
        </p:grpSpPr>
        <p:sp>
          <p:nvSpPr>
            <p:cNvPr name="Freeform 47" id="47"/>
            <p:cNvSpPr/>
            <p:nvPr/>
          </p:nvSpPr>
          <p:spPr>
            <a:xfrm flipH="false" flipV="false" rot="0">
              <a:off x="0" y="0"/>
              <a:ext cx="3281824" cy="738664"/>
            </a:xfrm>
            <a:custGeom>
              <a:avLst/>
              <a:gdLst/>
              <a:ahLst/>
              <a:cxnLst/>
              <a:rect r="r" b="b" t="t" l="l"/>
              <a:pathLst>
                <a:path h="738664" w="3281824">
                  <a:moveTo>
                    <a:pt x="0" y="0"/>
                  </a:moveTo>
                  <a:lnTo>
                    <a:pt x="3281824" y="0"/>
                  </a:lnTo>
                  <a:lnTo>
                    <a:pt x="3281824" y="738664"/>
                  </a:lnTo>
                  <a:lnTo>
                    <a:pt x="0" y="738664"/>
                  </a:lnTo>
                  <a:close/>
                </a:path>
              </a:pathLst>
            </a:custGeom>
            <a:solidFill>
              <a:srgbClr val="000000">
                <a:alpha val="0"/>
              </a:srgbClr>
            </a:solidFill>
          </p:spPr>
        </p:sp>
        <p:sp>
          <p:nvSpPr>
            <p:cNvPr name="TextBox 48" id="48"/>
            <p:cNvSpPr txBox="true"/>
            <p:nvPr/>
          </p:nvSpPr>
          <p:spPr>
            <a:xfrm>
              <a:off x="0" y="-19050"/>
              <a:ext cx="3281824" cy="757714"/>
            </a:xfrm>
            <a:prstGeom prst="rect">
              <a:avLst/>
            </a:prstGeom>
          </p:spPr>
          <p:txBody>
            <a:bodyPr anchor="t" rtlCol="false" tIns="0" lIns="0" bIns="0" rIns="0"/>
            <a:lstStyle/>
            <a:p>
              <a:pPr algn="ctr">
                <a:lnSpc>
                  <a:spcPts val="3240"/>
                </a:lnSpc>
              </a:pPr>
              <a:r>
                <a:rPr lang="en-US" sz="2700" b="true">
                  <a:solidFill>
                    <a:srgbClr val="FFFFFF"/>
                  </a:solidFill>
                  <a:latin typeface="Times New Roman Bold"/>
                  <a:ea typeface="Times New Roman Bold"/>
                  <a:cs typeface="Times New Roman Bold"/>
                  <a:sym typeface="Times New Roman Bold"/>
                </a:rPr>
                <a:t>Precision</a:t>
              </a:r>
            </a:p>
          </p:txBody>
        </p:sp>
      </p:grpSp>
      <p:sp>
        <p:nvSpPr>
          <p:cNvPr name="Freeform 49" id="49"/>
          <p:cNvSpPr/>
          <p:nvPr/>
        </p:nvSpPr>
        <p:spPr>
          <a:xfrm flipH="false" flipV="false" rot="0">
            <a:off x="10179051" y="4073674"/>
            <a:ext cx="1207028" cy="1207028"/>
          </a:xfrm>
          <a:custGeom>
            <a:avLst/>
            <a:gdLst/>
            <a:ahLst/>
            <a:cxnLst/>
            <a:rect r="r" b="b" t="t" l="l"/>
            <a:pathLst>
              <a:path h="1207028" w="1207028">
                <a:moveTo>
                  <a:pt x="0" y="0"/>
                </a:moveTo>
                <a:lnTo>
                  <a:pt x="1207028" y="0"/>
                </a:lnTo>
                <a:lnTo>
                  <a:pt x="1207028" y="1207027"/>
                </a:lnTo>
                <a:lnTo>
                  <a:pt x="0" y="1207027"/>
                </a:lnTo>
                <a:lnTo>
                  <a:pt x="0" y="0"/>
                </a:lnTo>
                <a:close/>
              </a:path>
            </a:pathLst>
          </a:custGeom>
          <a:blipFill>
            <a:blip r:embed="rId11"/>
            <a:stretch>
              <a:fillRect l="0" t="0" r="0" b="0"/>
            </a:stretch>
          </a:blipFill>
        </p:spPr>
      </p:sp>
      <p:sp>
        <p:nvSpPr>
          <p:cNvPr name="Freeform 50" id="50"/>
          <p:cNvSpPr/>
          <p:nvPr/>
        </p:nvSpPr>
        <p:spPr>
          <a:xfrm flipH="false" flipV="false" rot="0">
            <a:off x="6766921" y="4027630"/>
            <a:ext cx="1253071" cy="1253071"/>
          </a:xfrm>
          <a:custGeom>
            <a:avLst/>
            <a:gdLst/>
            <a:ahLst/>
            <a:cxnLst/>
            <a:rect r="r" b="b" t="t" l="l"/>
            <a:pathLst>
              <a:path h="1253071" w="1253071">
                <a:moveTo>
                  <a:pt x="0" y="0"/>
                </a:moveTo>
                <a:lnTo>
                  <a:pt x="1253071" y="0"/>
                </a:lnTo>
                <a:lnTo>
                  <a:pt x="1253071" y="1253071"/>
                </a:lnTo>
                <a:lnTo>
                  <a:pt x="0" y="1253071"/>
                </a:lnTo>
                <a:lnTo>
                  <a:pt x="0" y="0"/>
                </a:lnTo>
                <a:close/>
              </a:path>
            </a:pathLst>
          </a:custGeom>
          <a:blipFill>
            <a:blip r:embed="rId12"/>
            <a:stretch>
              <a:fillRect l="0" t="0" r="0" b="0"/>
            </a:stretch>
          </a:blipFill>
        </p:spPr>
      </p:sp>
      <p:sp>
        <p:nvSpPr>
          <p:cNvPr name="Freeform 51" id="51"/>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52" id="52"/>
          <p:cNvGrpSpPr/>
          <p:nvPr/>
        </p:nvGrpSpPr>
        <p:grpSpPr>
          <a:xfrm rot="0">
            <a:off x="17761578" y="9713952"/>
            <a:ext cx="1268668" cy="2170263"/>
            <a:chOff x="0" y="0"/>
            <a:chExt cx="431800" cy="738664"/>
          </a:xfrm>
        </p:grpSpPr>
        <p:sp>
          <p:nvSpPr>
            <p:cNvPr name="Freeform 53" id="53"/>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54" id="54"/>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12</a:t>
              </a:r>
            </a:p>
          </p:txBody>
        </p:sp>
      </p:grpSp>
      <p:sp>
        <p:nvSpPr>
          <p:cNvPr name="Freeform 55" id="55"/>
          <p:cNvSpPr/>
          <p:nvPr/>
        </p:nvSpPr>
        <p:spPr>
          <a:xfrm flipH="false" flipV="false" rot="0">
            <a:off x="10179051" y="7357294"/>
            <a:ext cx="1392869" cy="1392869"/>
          </a:xfrm>
          <a:custGeom>
            <a:avLst/>
            <a:gdLst/>
            <a:ahLst/>
            <a:cxnLst/>
            <a:rect r="r" b="b" t="t" l="l"/>
            <a:pathLst>
              <a:path h="1392869" w="1392869">
                <a:moveTo>
                  <a:pt x="0" y="0"/>
                </a:moveTo>
                <a:lnTo>
                  <a:pt x="1392869" y="0"/>
                </a:lnTo>
                <a:lnTo>
                  <a:pt x="1392869" y="1392869"/>
                </a:lnTo>
                <a:lnTo>
                  <a:pt x="0" y="1392869"/>
                </a:lnTo>
                <a:lnTo>
                  <a:pt x="0" y="0"/>
                </a:lnTo>
                <a:close/>
              </a:path>
            </a:pathLst>
          </a:custGeom>
          <a:blipFill>
            <a:blip r:embed="rId15"/>
            <a:stretch>
              <a:fillRect l="0" t="0" r="0" b="0"/>
            </a:stretch>
          </a:blipFill>
        </p:spPr>
      </p:sp>
      <p:grpSp>
        <p:nvGrpSpPr>
          <p:cNvPr name="Group 56" id="56"/>
          <p:cNvGrpSpPr/>
          <p:nvPr/>
        </p:nvGrpSpPr>
        <p:grpSpPr>
          <a:xfrm rot="0">
            <a:off x="6122811" y="6551121"/>
            <a:ext cx="2461368" cy="553998"/>
            <a:chOff x="0" y="0"/>
            <a:chExt cx="3281824" cy="738664"/>
          </a:xfrm>
        </p:grpSpPr>
        <p:sp>
          <p:nvSpPr>
            <p:cNvPr name="Freeform 57" id="57"/>
            <p:cNvSpPr/>
            <p:nvPr/>
          </p:nvSpPr>
          <p:spPr>
            <a:xfrm flipH="false" flipV="false" rot="0">
              <a:off x="0" y="0"/>
              <a:ext cx="3281824" cy="738664"/>
            </a:xfrm>
            <a:custGeom>
              <a:avLst/>
              <a:gdLst/>
              <a:ahLst/>
              <a:cxnLst/>
              <a:rect r="r" b="b" t="t" l="l"/>
              <a:pathLst>
                <a:path h="738664" w="3281824">
                  <a:moveTo>
                    <a:pt x="0" y="0"/>
                  </a:moveTo>
                  <a:lnTo>
                    <a:pt x="3281824" y="0"/>
                  </a:lnTo>
                  <a:lnTo>
                    <a:pt x="3281824" y="738664"/>
                  </a:lnTo>
                  <a:lnTo>
                    <a:pt x="0" y="738664"/>
                  </a:lnTo>
                  <a:close/>
                </a:path>
              </a:pathLst>
            </a:custGeom>
            <a:solidFill>
              <a:srgbClr val="000000">
                <a:alpha val="0"/>
              </a:srgbClr>
            </a:solidFill>
          </p:spPr>
        </p:sp>
        <p:sp>
          <p:nvSpPr>
            <p:cNvPr name="TextBox 58" id="58"/>
            <p:cNvSpPr txBox="true"/>
            <p:nvPr/>
          </p:nvSpPr>
          <p:spPr>
            <a:xfrm>
              <a:off x="0" y="-19050"/>
              <a:ext cx="3281824" cy="757714"/>
            </a:xfrm>
            <a:prstGeom prst="rect">
              <a:avLst/>
            </a:prstGeom>
          </p:spPr>
          <p:txBody>
            <a:bodyPr anchor="t"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recall</a:t>
              </a:r>
            </a:p>
          </p:txBody>
        </p:sp>
      </p:grpSp>
      <p:sp>
        <p:nvSpPr>
          <p:cNvPr name="Freeform 59" id="59"/>
          <p:cNvSpPr/>
          <p:nvPr/>
        </p:nvSpPr>
        <p:spPr>
          <a:xfrm flipH="false" flipV="false" rot="0">
            <a:off x="6686998" y="7387231"/>
            <a:ext cx="1332994" cy="1332994"/>
          </a:xfrm>
          <a:custGeom>
            <a:avLst/>
            <a:gdLst/>
            <a:ahLst/>
            <a:cxnLst/>
            <a:rect r="r" b="b" t="t" l="l"/>
            <a:pathLst>
              <a:path h="1332994" w="1332994">
                <a:moveTo>
                  <a:pt x="0" y="0"/>
                </a:moveTo>
                <a:lnTo>
                  <a:pt x="1332994" y="0"/>
                </a:lnTo>
                <a:lnTo>
                  <a:pt x="1332994" y="1332994"/>
                </a:lnTo>
                <a:lnTo>
                  <a:pt x="0" y="1332994"/>
                </a:lnTo>
                <a:lnTo>
                  <a:pt x="0" y="0"/>
                </a:lnTo>
                <a:close/>
              </a:path>
            </a:pathLst>
          </a:custGeom>
          <a:blipFill>
            <a:blip r:embed="rId16"/>
            <a:stretch>
              <a:fillRect l="0" t="0" r="0" b="0"/>
            </a:stretch>
          </a:blipFill>
        </p:spPr>
      </p:sp>
      <p:grpSp>
        <p:nvGrpSpPr>
          <p:cNvPr name="Group 60" id="60"/>
          <p:cNvGrpSpPr/>
          <p:nvPr/>
        </p:nvGrpSpPr>
        <p:grpSpPr>
          <a:xfrm rot="0">
            <a:off x="4608702" y="6252069"/>
            <a:ext cx="598104" cy="598104"/>
            <a:chOff x="0" y="0"/>
            <a:chExt cx="797472" cy="797472"/>
          </a:xfrm>
        </p:grpSpPr>
        <p:sp>
          <p:nvSpPr>
            <p:cNvPr name="Freeform 61" id="61"/>
            <p:cNvSpPr/>
            <p:nvPr/>
          </p:nvSpPr>
          <p:spPr>
            <a:xfrm flipH="false" flipV="false" rot="0">
              <a:off x="0" y="0"/>
              <a:ext cx="797560" cy="797560"/>
            </a:xfrm>
            <a:custGeom>
              <a:avLst/>
              <a:gdLst/>
              <a:ahLst/>
              <a:cxnLst/>
              <a:rect r="r" b="b" t="t" l="l"/>
              <a:pathLst>
                <a:path h="797560" w="797560">
                  <a:moveTo>
                    <a:pt x="0" y="398780"/>
                  </a:moveTo>
                  <a:cubicBezTo>
                    <a:pt x="0" y="178562"/>
                    <a:pt x="178562" y="0"/>
                    <a:pt x="398780" y="0"/>
                  </a:cubicBezTo>
                  <a:cubicBezTo>
                    <a:pt x="618998" y="0"/>
                    <a:pt x="797560" y="178562"/>
                    <a:pt x="797560" y="398780"/>
                  </a:cubicBezTo>
                  <a:cubicBezTo>
                    <a:pt x="797560" y="618998"/>
                    <a:pt x="618998" y="797560"/>
                    <a:pt x="398780" y="797560"/>
                  </a:cubicBezTo>
                  <a:cubicBezTo>
                    <a:pt x="178562" y="797560"/>
                    <a:pt x="0" y="618998"/>
                    <a:pt x="0" y="398780"/>
                  </a:cubicBezTo>
                  <a:close/>
                </a:path>
              </a:pathLst>
            </a:custGeom>
            <a:solidFill>
              <a:srgbClr val="F7B902"/>
            </a:solidFill>
          </p:spPr>
        </p:sp>
      </p:grpSp>
      <p:grpSp>
        <p:nvGrpSpPr>
          <p:cNvPr name="Group 62" id="62"/>
          <p:cNvGrpSpPr/>
          <p:nvPr/>
        </p:nvGrpSpPr>
        <p:grpSpPr>
          <a:xfrm rot="0">
            <a:off x="4816349" y="6296175"/>
            <a:ext cx="472884" cy="808944"/>
            <a:chOff x="0" y="0"/>
            <a:chExt cx="431800" cy="738664"/>
          </a:xfrm>
        </p:grpSpPr>
        <p:sp>
          <p:nvSpPr>
            <p:cNvPr name="Freeform 63" id="63"/>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64" id="64"/>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000000"/>
                  </a:solidFill>
                  <a:latin typeface="Times New Roman Bold"/>
                  <a:ea typeface="Times New Roman Bold"/>
                  <a:cs typeface="Times New Roman Bold"/>
                  <a:sym typeface="Times New Roman Bold"/>
                </a:rPr>
                <a:t>4</a:t>
              </a:r>
            </a:p>
          </p:txBody>
        </p:sp>
      </p:grpSp>
      <p:grpSp>
        <p:nvGrpSpPr>
          <p:cNvPr name="Group 65" id="65"/>
          <p:cNvGrpSpPr/>
          <p:nvPr/>
        </p:nvGrpSpPr>
        <p:grpSpPr>
          <a:xfrm rot="0">
            <a:off x="841174" y="7105119"/>
            <a:ext cx="4692852" cy="1523494"/>
            <a:chOff x="0" y="0"/>
            <a:chExt cx="6257136" cy="2031326"/>
          </a:xfrm>
        </p:grpSpPr>
        <p:sp>
          <p:nvSpPr>
            <p:cNvPr name="Freeform 66" id="66"/>
            <p:cNvSpPr/>
            <p:nvPr/>
          </p:nvSpPr>
          <p:spPr>
            <a:xfrm flipH="false" flipV="false" rot="0">
              <a:off x="0" y="0"/>
              <a:ext cx="6257136" cy="2031326"/>
            </a:xfrm>
            <a:custGeom>
              <a:avLst/>
              <a:gdLst/>
              <a:ahLst/>
              <a:cxnLst/>
              <a:rect r="r" b="b" t="t" l="l"/>
              <a:pathLst>
                <a:path h="2031326" w="6257136">
                  <a:moveTo>
                    <a:pt x="0" y="0"/>
                  </a:moveTo>
                  <a:lnTo>
                    <a:pt x="6257136" y="0"/>
                  </a:lnTo>
                  <a:lnTo>
                    <a:pt x="6257136" y="2031326"/>
                  </a:lnTo>
                  <a:lnTo>
                    <a:pt x="0" y="2031326"/>
                  </a:lnTo>
                  <a:close/>
                </a:path>
              </a:pathLst>
            </a:custGeom>
            <a:solidFill>
              <a:srgbClr val="000000">
                <a:alpha val="0"/>
              </a:srgbClr>
            </a:solidFill>
          </p:spPr>
        </p:sp>
        <p:sp>
          <p:nvSpPr>
            <p:cNvPr name="TextBox 67" id="67"/>
            <p:cNvSpPr txBox="true"/>
            <p:nvPr/>
          </p:nvSpPr>
          <p:spPr>
            <a:xfrm>
              <a:off x="0" y="-9525"/>
              <a:ext cx="6257136" cy="2040851"/>
            </a:xfrm>
            <a:prstGeom prst="rect">
              <a:avLst/>
            </a:prstGeom>
          </p:spPr>
          <p:txBody>
            <a:bodyPr anchor="t" rtlCol="false" tIns="0" lIns="0" bIns="0" rIns="0"/>
            <a:lstStyle/>
            <a:p>
              <a:pPr algn="l">
                <a:lnSpc>
                  <a:spcPts val="2399"/>
                </a:lnSpc>
              </a:pPr>
              <a:r>
                <a:rPr lang="en-US" sz="1999">
                  <a:solidFill>
                    <a:srgbClr val="FFFFFF"/>
                  </a:solidFill>
                  <a:latin typeface="Times New Roman"/>
                  <a:ea typeface="Times New Roman"/>
                  <a:cs typeface="Times New Roman"/>
                  <a:sym typeface="Times New Roman"/>
                </a:rPr>
                <a:t>The fractio</a:t>
              </a:r>
              <a:r>
                <a:rPr lang="en-US" sz="1999">
                  <a:solidFill>
                    <a:srgbClr val="FFFFFF"/>
                  </a:solidFill>
                  <a:latin typeface="Times New Roman"/>
                  <a:ea typeface="Times New Roman"/>
                  <a:cs typeface="Times New Roman"/>
                  <a:sym typeface="Times New Roman"/>
                </a:rPr>
                <a:t>n of actual positives that are correctly identified, showing the model's ability to capture positive cases.</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6843252" y="575187"/>
            <a:ext cx="4601496" cy="1206475"/>
            <a:chOff x="0" y="0"/>
            <a:chExt cx="6135328" cy="1608634"/>
          </a:xfrm>
        </p:grpSpPr>
        <p:sp>
          <p:nvSpPr>
            <p:cNvPr name="Freeform 3" id="3"/>
            <p:cNvSpPr/>
            <p:nvPr/>
          </p:nvSpPr>
          <p:spPr>
            <a:xfrm flipH="false" flipV="false" rot="0">
              <a:off x="0" y="0"/>
              <a:ext cx="6135328" cy="1608634"/>
            </a:xfrm>
            <a:custGeom>
              <a:avLst/>
              <a:gdLst/>
              <a:ahLst/>
              <a:cxnLst/>
              <a:rect r="r" b="b" t="t" l="l"/>
              <a:pathLst>
                <a:path h="1608634" w="6135328">
                  <a:moveTo>
                    <a:pt x="0" y="0"/>
                  </a:moveTo>
                  <a:lnTo>
                    <a:pt x="6135328" y="0"/>
                  </a:lnTo>
                  <a:lnTo>
                    <a:pt x="6135328" y="1608634"/>
                  </a:lnTo>
                  <a:lnTo>
                    <a:pt x="0" y="1608634"/>
                  </a:lnTo>
                  <a:close/>
                </a:path>
              </a:pathLst>
            </a:custGeom>
            <a:solidFill>
              <a:srgbClr val="000000">
                <a:alpha val="0"/>
              </a:srgbClr>
            </a:solidFill>
          </p:spPr>
        </p:sp>
        <p:sp>
          <p:nvSpPr>
            <p:cNvPr name="TextBox 4" id="4"/>
            <p:cNvSpPr txBox="true"/>
            <p:nvPr/>
          </p:nvSpPr>
          <p:spPr>
            <a:xfrm>
              <a:off x="0" y="-38100"/>
              <a:ext cx="6135328" cy="1646734"/>
            </a:xfrm>
            <a:prstGeom prst="rect">
              <a:avLst/>
            </a:prstGeom>
          </p:spPr>
          <p:txBody>
            <a:bodyPr anchor="t" rtlCol="false" tIns="0" lIns="0" bIns="0" rIns="0"/>
            <a:lstStyle/>
            <a:p>
              <a:pPr algn="ctr">
                <a:lnSpc>
                  <a:spcPts val="7200"/>
                </a:lnSpc>
              </a:pPr>
              <a:r>
                <a:rPr lang="en-US" sz="6000">
                  <a:solidFill>
                    <a:srgbClr val="F7B902"/>
                  </a:solidFill>
                  <a:latin typeface="Times New Roman"/>
                  <a:ea typeface="Times New Roman"/>
                  <a:cs typeface="Times New Roman"/>
                  <a:sym typeface="Times New Roman"/>
                </a:rPr>
                <a:t>CONTENT</a:t>
              </a:r>
            </a:p>
          </p:txBody>
        </p:sp>
      </p:grpSp>
      <p:grpSp>
        <p:nvGrpSpPr>
          <p:cNvPr name="Group 5" id="5"/>
          <p:cNvGrpSpPr/>
          <p:nvPr/>
        </p:nvGrpSpPr>
        <p:grpSpPr>
          <a:xfrm rot="0">
            <a:off x="8486775" y="1637016"/>
            <a:ext cx="1314450" cy="68578"/>
            <a:chOff x="0" y="0"/>
            <a:chExt cx="1752600" cy="91438"/>
          </a:xfrm>
        </p:grpSpPr>
        <p:sp>
          <p:nvSpPr>
            <p:cNvPr name="Freeform 6" id="6"/>
            <p:cNvSpPr/>
            <p:nvPr/>
          </p:nvSpPr>
          <p:spPr>
            <a:xfrm flipH="false" flipV="false" rot="0">
              <a:off x="0" y="0"/>
              <a:ext cx="1752600" cy="91440"/>
            </a:xfrm>
            <a:custGeom>
              <a:avLst/>
              <a:gdLst/>
              <a:ahLst/>
              <a:cxnLst/>
              <a:rect r="r" b="b" t="t" l="l"/>
              <a:pathLst>
                <a:path h="91440" w="1752600">
                  <a:moveTo>
                    <a:pt x="0" y="0"/>
                  </a:moveTo>
                  <a:lnTo>
                    <a:pt x="1752600" y="0"/>
                  </a:lnTo>
                  <a:lnTo>
                    <a:pt x="1752600" y="91440"/>
                  </a:lnTo>
                  <a:lnTo>
                    <a:pt x="0" y="91440"/>
                  </a:lnTo>
                  <a:close/>
                </a:path>
              </a:pathLst>
            </a:custGeom>
            <a:solidFill>
              <a:srgbClr val="F7B902"/>
            </a:solidFill>
          </p:spPr>
        </p:sp>
      </p:grpSp>
      <p:grpSp>
        <p:nvGrpSpPr>
          <p:cNvPr name="Group 7" id="7"/>
          <p:cNvGrpSpPr/>
          <p:nvPr/>
        </p:nvGrpSpPr>
        <p:grpSpPr>
          <a:xfrm rot="0">
            <a:off x="633254" y="7364346"/>
            <a:ext cx="2405241" cy="718170"/>
            <a:chOff x="0" y="0"/>
            <a:chExt cx="3206988" cy="957560"/>
          </a:xfrm>
        </p:grpSpPr>
        <p:sp>
          <p:nvSpPr>
            <p:cNvPr name="Freeform 8" id="8"/>
            <p:cNvSpPr/>
            <p:nvPr/>
          </p:nvSpPr>
          <p:spPr>
            <a:xfrm flipH="false" flipV="false" rot="0">
              <a:off x="0" y="0"/>
              <a:ext cx="3206988" cy="957560"/>
            </a:xfrm>
            <a:custGeom>
              <a:avLst/>
              <a:gdLst/>
              <a:ahLst/>
              <a:cxnLst/>
              <a:rect r="r" b="b" t="t" l="l"/>
              <a:pathLst>
                <a:path h="957560" w="3206988">
                  <a:moveTo>
                    <a:pt x="0" y="0"/>
                  </a:moveTo>
                  <a:lnTo>
                    <a:pt x="3206988" y="0"/>
                  </a:lnTo>
                  <a:lnTo>
                    <a:pt x="3206988" y="957560"/>
                  </a:lnTo>
                  <a:lnTo>
                    <a:pt x="0" y="957560"/>
                  </a:lnTo>
                  <a:close/>
                </a:path>
              </a:pathLst>
            </a:custGeom>
            <a:solidFill>
              <a:srgbClr val="000000">
                <a:alpha val="0"/>
              </a:srgbClr>
            </a:solidFill>
          </p:spPr>
        </p:sp>
        <p:sp>
          <p:nvSpPr>
            <p:cNvPr name="TextBox 9" id="9"/>
            <p:cNvSpPr txBox="true"/>
            <p:nvPr/>
          </p:nvSpPr>
          <p:spPr>
            <a:xfrm>
              <a:off x="0" y="-28575"/>
              <a:ext cx="3206988" cy="986135"/>
            </a:xfrm>
            <a:prstGeom prst="rect">
              <a:avLst/>
            </a:prstGeom>
          </p:spPr>
          <p:txBody>
            <a:bodyPr anchor="t" rtlCol="false" tIns="0" lIns="0" bIns="0" rIns="0"/>
            <a:lstStyle/>
            <a:p>
              <a:pPr algn="ctr">
                <a:lnSpc>
                  <a:spcPts val="4320"/>
                </a:lnSpc>
              </a:pPr>
              <a:r>
                <a:rPr lang="en-US" sz="3600">
                  <a:solidFill>
                    <a:srgbClr val="FFFFFF">
                      <a:alpha val="33725"/>
                    </a:srgbClr>
                  </a:solidFill>
                  <a:latin typeface="Times New Roman"/>
                  <a:ea typeface="Times New Roman"/>
                  <a:cs typeface="Times New Roman"/>
                  <a:sym typeface="Times New Roman"/>
                </a:rPr>
                <a:t>Introduction</a:t>
              </a:r>
            </a:p>
          </p:txBody>
        </p:sp>
      </p:grpSp>
      <p:grpSp>
        <p:nvGrpSpPr>
          <p:cNvPr name="Group 10" id="10"/>
          <p:cNvGrpSpPr/>
          <p:nvPr/>
        </p:nvGrpSpPr>
        <p:grpSpPr>
          <a:xfrm rot="0">
            <a:off x="4075570" y="7130192"/>
            <a:ext cx="2654710" cy="1261095"/>
            <a:chOff x="0" y="0"/>
            <a:chExt cx="3539614" cy="1681460"/>
          </a:xfrm>
        </p:grpSpPr>
        <p:sp>
          <p:nvSpPr>
            <p:cNvPr name="Freeform 11" id="11"/>
            <p:cNvSpPr/>
            <p:nvPr/>
          </p:nvSpPr>
          <p:spPr>
            <a:xfrm flipH="false" flipV="false" rot="0">
              <a:off x="0" y="0"/>
              <a:ext cx="3539614" cy="1681460"/>
            </a:xfrm>
            <a:custGeom>
              <a:avLst/>
              <a:gdLst/>
              <a:ahLst/>
              <a:cxnLst/>
              <a:rect r="r" b="b" t="t" l="l"/>
              <a:pathLst>
                <a:path h="1681460" w="3539614">
                  <a:moveTo>
                    <a:pt x="0" y="0"/>
                  </a:moveTo>
                  <a:lnTo>
                    <a:pt x="3539614" y="0"/>
                  </a:lnTo>
                  <a:lnTo>
                    <a:pt x="3539614" y="1681460"/>
                  </a:lnTo>
                  <a:lnTo>
                    <a:pt x="0" y="1681460"/>
                  </a:lnTo>
                  <a:close/>
                </a:path>
              </a:pathLst>
            </a:custGeom>
            <a:solidFill>
              <a:srgbClr val="000000">
                <a:alpha val="0"/>
              </a:srgbClr>
            </a:solidFill>
          </p:spPr>
        </p:sp>
        <p:sp>
          <p:nvSpPr>
            <p:cNvPr name="TextBox 12" id="12"/>
            <p:cNvSpPr txBox="true"/>
            <p:nvPr/>
          </p:nvSpPr>
          <p:spPr>
            <a:xfrm>
              <a:off x="0" y="-28575"/>
              <a:ext cx="3539614" cy="1710035"/>
            </a:xfrm>
            <a:prstGeom prst="rect">
              <a:avLst/>
            </a:prstGeom>
          </p:spPr>
          <p:txBody>
            <a:bodyPr anchor="t" rtlCol="false" tIns="0" lIns="0" bIns="0" rIns="0"/>
            <a:lstStyle/>
            <a:p>
              <a:pPr algn="ctr">
                <a:lnSpc>
                  <a:spcPts val="4320"/>
                </a:lnSpc>
              </a:pPr>
              <a:r>
                <a:rPr lang="en-US" sz="3600">
                  <a:solidFill>
                    <a:srgbClr val="FFFFFF">
                      <a:alpha val="33725"/>
                    </a:srgbClr>
                  </a:solidFill>
                  <a:latin typeface="Times New Roman"/>
                  <a:ea typeface="Times New Roman"/>
                  <a:cs typeface="Times New Roman"/>
                  <a:sym typeface="Times New Roman"/>
                </a:rPr>
                <a:t>Problem Setting</a:t>
              </a:r>
            </a:p>
          </p:txBody>
        </p:sp>
      </p:grpSp>
      <p:grpSp>
        <p:nvGrpSpPr>
          <p:cNvPr name="Group 13" id="13"/>
          <p:cNvGrpSpPr/>
          <p:nvPr/>
        </p:nvGrpSpPr>
        <p:grpSpPr>
          <a:xfrm rot="0">
            <a:off x="11544445" y="7130192"/>
            <a:ext cx="2763519" cy="1261095"/>
            <a:chOff x="0" y="0"/>
            <a:chExt cx="3684692" cy="1681460"/>
          </a:xfrm>
        </p:grpSpPr>
        <p:sp>
          <p:nvSpPr>
            <p:cNvPr name="Freeform 14" id="14"/>
            <p:cNvSpPr/>
            <p:nvPr/>
          </p:nvSpPr>
          <p:spPr>
            <a:xfrm flipH="false" flipV="false" rot="0">
              <a:off x="0" y="0"/>
              <a:ext cx="3684692" cy="1681460"/>
            </a:xfrm>
            <a:custGeom>
              <a:avLst/>
              <a:gdLst/>
              <a:ahLst/>
              <a:cxnLst/>
              <a:rect r="r" b="b" t="t" l="l"/>
              <a:pathLst>
                <a:path h="1681460" w="3684692">
                  <a:moveTo>
                    <a:pt x="0" y="0"/>
                  </a:moveTo>
                  <a:lnTo>
                    <a:pt x="3684692" y="0"/>
                  </a:lnTo>
                  <a:lnTo>
                    <a:pt x="3684692" y="1681460"/>
                  </a:lnTo>
                  <a:lnTo>
                    <a:pt x="0" y="1681460"/>
                  </a:lnTo>
                  <a:close/>
                </a:path>
              </a:pathLst>
            </a:custGeom>
            <a:solidFill>
              <a:srgbClr val="000000">
                <a:alpha val="0"/>
              </a:srgbClr>
            </a:solidFill>
          </p:spPr>
        </p:sp>
        <p:sp>
          <p:nvSpPr>
            <p:cNvPr name="TextBox 15" id="15"/>
            <p:cNvSpPr txBox="true"/>
            <p:nvPr/>
          </p:nvSpPr>
          <p:spPr>
            <a:xfrm>
              <a:off x="0" y="-28575"/>
              <a:ext cx="3684692" cy="1710035"/>
            </a:xfrm>
            <a:prstGeom prst="rect">
              <a:avLst/>
            </a:prstGeom>
          </p:spPr>
          <p:txBody>
            <a:bodyPr anchor="t" rtlCol="false" tIns="0" lIns="0" bIns="0" rIns="0"/>
            <a:lstStyle/>
            <a:p>
              <a:pPr algn="ctr">
                <a:lnSpc>
                  <a:spcPts val="4320"/>
                </a:lnSpc>
              </a:pPr>
              <a:r>
                <a:rPr lang="en-US" sz="3600">
                  <a:solidFill>
                    <a:srgbClr val="FFFFFF">
                      <a:alpha val="33725"/>
                    </a:srgbClr>
                  </a:solidFill>
                  <a:latin typeface="Times New Roman"/>
                  <a:ea typeface="Times New Roman"/>
                  <a:cs typeface="Times New Roman"/>
                  <a:sym typeface="Times New Roman"/>
                </a:rPr>
                <a:t>Experimental Setting</a:t>
              </a:r>
            </a:p>
          </p:txBody>
        </p:sp>
      </p:grpSp>
      <p:grpSp>
        <p:nvGrpSpPr>
          <p:cNvPr name="Group 16" id="16"/>
          <p:cNvGrpSpPr/>
          <p:nvPr/>
        </p:nvGrpSpPr>
        <p:grpSpPr>
          <a:xfrm rot="0">
            <a:off x="15106867" y="4255395"/>
            <a:ext cx="2654710" cy="265471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19608"/>
              </a:srgbClr>
            </a:solidFill>
          </p:spPr>
        </p:sp>
        <p:sp>
          <p:nvSpPr>
            <p:cNvPr name="TextBox 18" id="18"/>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19" id="19"/>
          <p:cNvSpPr/>
          <p:nvPr/>
        </p:nvSpPr>
        <p:spPr>
          <a:xfrm flipH="false" flipV="false" rot="0">
            <a:off x="15718644" y="4862415"/>
            <a:ext cx="1440671" cy="1440671"/>
          </a:xfrm>
          <a:custGeom>
            <a:avLst/>
            <a:gdLst/>
            <a:ahLst/>
            <a:cxnLst/>
            <a:rect r="r" b="b" t="t" l="l"/>
            <a:pathLst>
              <a:path h="1440671" w="1440671">
                <a:moveTo>
                  <a:pt x="0" y="0"/>
                </a:moveTo>
                <a:lnTo>
                  <a:pt x="1440670" y="0"/>
                </a:lnTo>
                <a:lnTo>
                  <a:pt x="1440670" y="1440671"/>
                </a:lnTo>
                <a:lnTo>
                  <a:pt x="0" y="1440671"/>
                </a:lnTo>
                <a:lnTo>
                  <a:pt x="0" y="0"/>
                </a:lnTo>
                <a:close/>
              </a:path>
            </a:pathLst>
          </a:custGeom>
          <a:blipFill>
            <a:blip r:embed="rId2">
              <a:alphaModFix amt="34000"/>
            </a:blip>
            <a:stretch>
              <a:fillRect l="0" t="0" r="0" b="0"/>
            </a:stretch>
          </a:blipFill>
        </p:spPr>
      </p:sp>
      <p:grpSp>
        <p:nvGrpSpPr>
          <p:cNvPr name="Group 20" id="20"/>
          <p:cNvGrpSpPr/>
          <p:nvPr/>
        </p:nvGrpSpPr>
        <p:grpSpPr>
          <a:xfrm rot="0">
            <a:off x="4073393" y="4255395"/>
            <a:ext cx="2654710" cy="2654710"/>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19608"/>
              </a:srgbClr>
            </a:solidFill>
          </p:spPr>
        </p:sp>
        <p:sp>
          <p:nvSpPr>
            <p:cNvPr name="TextBox 22" id="22"/>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23" id="23"/>
          <p:cNvSpPr/>
          <p:nvPr/>
        </p:nvSpPr>
        <p:spPr>
          <a:xfrm flipH="false" flipV="false" rot="0">
            <a:off x="4680413" y="4862415"/>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3">
              <a:alphaModFix amt="19999"/>
            </a:blip>
            <a:stretch>
              <a:fillRect l="0" t="0" r="0" b="0"/>
            </a:stretch>
          </a:blipFill>
        </p:spPr>
      </p:sp>
      <p:sp>
        <p:nvSpPr>
          <p:cNvPr name="Freeform 24" id="24"/>
          <p:cNvSpPr/>
          <p:nvPr/>
        </p:nvSpPr>
        <p:spPr>
          <a:xfrm flipH="false" flipV="false" rot="0">
            <a:off x="1115539" y="4862415"/>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4"/>
            <a:stretch>
              <a:fillRect l="0" t="0" r="0" b="0"/>
            </a:stretch>
          </a:blipFill>
        </p:spPr>
      </p:sp>
      <p:grpSp>
        <p:nvGrpSpPr>
          <p:cNvPr name="Group 25" id="25"/>
          <p:cNvGrpSpPr/>
          <p:nvPr/>
        </p:nvGrpSpPr>
        <p:grpSpPr>
          <a:xfrm rot="0">
            <a:off x="504167" y="4255395"/>
            <a:ext cx="2654710" cy="2654710"/>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19608"/>
              </a:srgbClr>
            </a:solidFill>
          </p:spPr>
        </p:sp>
        <p:sp>
          <p:nvSpPr>
            <p:cNvPr name="TextBox 27" id="27"/>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grpSp>
        <p:nvGrpSpPr>
          <p:cNvPr name="Group 28" id="28"/>
          <p:cNvGrpSpPr/>
          <p:nvPr/>
        </p:nvGrpSpPr>
        <p:grpSpPr>
          <a:xfrm rot="0">
            <a:off x="11544445" y="4255395"/>
            <a:ext cx="2654710" cy="2654710"/>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19608"/>
              </a:srgbClr>
            </a:solidFill>
          </p:spPr>
        </p:sp>
        <p:sp>
          <p:nvSpPr>
            <p:cNvPr name="TextBox 30" id="30"/>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31" id="31"/>
          <p:cNvSpPr/>
          <p:nvPr/>
        </p:nvSpPr>
        <p:spPr>
          <a:xfrm flipH="false" flipV="false" rot="0">
            <a:off x="12151465" y="4862415"/>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5">
              <a:alphaModFix amt="19999"/>
            </a:blip>
            <a:stretch>
              <a:fillRect l="0" t="0" r="0" b="0"/>
            </a:stretch>
          </a:blipFill>
        </p:spPr>
      </p:sp>
      <p:grpSp>
        <p:nvGrpSpPr>
          <p:cNvPr name="Group 32" id="32"/>
          <p:cNvGrpSpPr/>
          <p:nvPr/>
        </p:nvGrpSpPr>
        <p:grpSpPr>
          <a:xfrm rot="0">
            <a:off x="15169235" y="7130192"/>
            <a:ext cx="2529977" cy="1261095"/>
            <a:chOff x="0" y="0"/>
            <a:chExt cx="3373302" cy="1681460"/>
          </a:xfrm>
        </p:grpSpPr>
        <p:sp>
          <p:nvSpPr>
            <p:cNvPr name="Freeform 33" id="33"/>
            <p:cNvSpPr/>
            <p:nvPr/>
          </p:nvSpPr>
          <p:spPr>
            <a:xfrm flipH="false" flipV="false" rot="0">
              <a:off x="0" y="0"/>
              <a:ext cx="3373302" cy="1681460"/>
            </a:xfrm>
            <a:custGeom>
              <a:avLst/>
              <a:gdLst/>
              <a:ahLst/>
              <a:cxnLst/>
              <a:rect r="r" b="b" t="t" l="l"/>
              <a:pathLst>
                <a:path h="1681460" w="3373302">
                  <a:moveTo>
                    <a:pt x="0" y="0"/>
                  </a:moveTo>
                  <a:lnTo>
                    <a:pt x="3373302" y="0"/>
                  </a:lnTo>
                  <a:lnTo>
                    <a:pt x="3373302" y="1681460"/>
                  </a:lnTo>
                  <a:lnTo>
                    <a:pt x="0" y="1681460"/>
                  </a:lnTo>
                  <a:close/>
                </a:path>
              </a:pathLst>
            </a:custGeom>
            <a:solidFill>
              <a:srgbClr val="000000">
                <a:alpha val="0"/>
              </a:srgbClr>
            </a:solidFill>
          </p:spPr>
        </p:sp>
        <p:sp>
          <p:nvSpPr>
            <p:cNvPr name="TextBox 34" id="34"/>
            <p:cNvSpPr txBox="true"/>
            <p:nvPr/>
          </p:nvSpPr>
          <p:spPr>
            <a:xfrm>
              <a:off x="0" y="-28575"/>
              <a:ext cx="3373302" cy="1710035"/>
            </a:xfrm>
            <a:prstGeom prst="rect">
              <a:avLst/>
            </a:prstGeom>
          </p:spPr>
          <p:txBody>
            <a:bodyPr anchor="t" rtlCol="false" tIns="0" lIns="0" bIns="0" rIns="0"/>
            <a:lstStyle/>
            <a:p>
              <a:pPr algn="ctr">
                <a:lnSpc>
                  <a:spcPts val="4320"/>
                </a:lnSpc>
              </a:pPr>
              <a:r>
                <a:rPr lang="en-US" sz="3600">
                  <a:solidFill>
                    <a:srgbClr val="FFFFFF">
                      <a:alpha val="33725"/>
                    </a:srgbClr>
                  </a:solidFill>
                  <a:latin typeface="Times New Roman"/>
                  <a:ea typeface="Times New Roman"/>
                  <a:cs typeface="Times New Roman"/>
                  <a:sym typeface="Times New Roman"/>
                </a:rPr>
                <a:t>Experimental Results </a:t>
              </a:r>
            </a:p>
          </p:txBody>
        </p:sp>
      </p:grpSp>
      <p:sp>
        <p:nvSpPr>
          <p:cNvPr name="Freeform 35" id="35"/>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6" id="36"/>
          <p:cNvGrpSpPr/>
          <p:nvPr/>
        </p:nvGrpSpPr>
        <p:grpSpPr>
          <a:xfrm rot="0">
            <a:off x="17761578" y="9713952"/>
            <a:ext cx="1268668" cy="2170263"/>
            <a:chOff x="0" y="0"/>
            <a:chExt cx="431800" cy="738664"/>
          </a:xfrm>
        </p:grpSpPr>
        <p:sp>
          <p:nvSpPr>
            <p:cNvPr name="Freeform 37" id="37"/>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38" id="38"/>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13</a:t>
              </a:r>
            </a:p>
          </p:txBody>
        </p:sp>
      </p:grpSp>
      <p:grpSp>
        <p:nvGrpSpPr>
          <p:cNvPr name="Group 39" id="39"/>
          <p:cNvGrpSpPr/>
          <p:nvPr/>
        </p:nvGrpSpPr>
        <p:grpSpPr>
          <a:xfrm rot="0">
            <a:off x="7808782" y="7130192"/>
            <a:ext cx="2654710" cy="1261095"/>
            <a:chOff x="0" y="0"/>
            <a:chExt cx="3539614" cy="1681460"/>
          </a:xfrm>
        </p:grpSpPr>
        <p:sp>
          <p:nvSpPr>
            <p:cNvPr name="Freeform 40" id="40"/>
            <p:cNvSpPr/>
            <p:nvPr/>
          </p:nvSpPr>
          <p:spPr>
            <a:xfrm flipH="false" flipV="false" rot="0">
              <a:off x="0" y="0"/>
              <a:ext cx="3539614" cy="1681460"/>
            </a:xfrm>
            <a:custGeom>
              <a:avLst/>
              <a:gdLst/>
              <a:ahLst/>
              <a:cxnLst/>
              <a:rect r="r" b="b" t="t" l="l"/>
              <a:pathLst>
                <a:path h="1681460" w="3539614">
                  <a:moveTo>
                    <a:pt x="0" y="0"/>
                  </a:moveTo>
                  <a:lnTo>
                    <a:pt x="3539614" y="0"/>
                  </a:lnTo>
                  <a:lnTo>
                    <a:pt x="3539614" y="1681460"/>
                  </a:lnTo>
                  <a:lnTo>
                    <a:pt x="0" y="1681460"/>
                  </a:lnTo>
                  <a:close/>
                </a:path>
              </a:pathLst>
            </a:custGeom>
            <a:solidFill>
              <a:srgbClr val="000000">
                <a:alpha val="0"/>
              </a:srgbClr>
            </a:solidFill>
          </p:spPr>
        </p:sp>
        <p:sp>
          <p:nvSpPr>
            <p:cNvPr name="TextBox 41" id="41"/>
            <p:cNvSpPr txBox="true"/>
            <p:nvPr/>
          </p:nvSpPr>
          <p:spPr>
            <a:xfrm>
              <a:off x="0" y="-28575"/>
              <a:ext cx="3539614" cy="1710035"/>
            </a:xfrm>
            <a:prstGeom prst="rect">
              <a:avLst/>
            </a:prstGeom>
          </p:spPr>
          <p:txBody>
            <a:bodyPr anchor="t" rtlCol="false" tIns="0" lIns="0" bIns="0" rIns="0"/>
            <a:lstStyle/>
            <a:p>
              <a:pPr algn="ctr">
                <a:lnSpc>
                  <a:spcPts val="4320"/>
                </a:lnSpc>
              </a:pPr>
              <a:r>
                <a:rPr lang="en-US" sz="3600">
                  <a:solidFill>
                    <a:srgbClr val="FFFFFF"/>
                  </a:solidFill>
                  <a:latin typeface="Times New Roman"/>
                  <a:ea typeface="Times New Roman"/>
                  <a:cs typeface="Times New Roman"/>
                  <a:sym typeface="Times New Roman"/>
                </a:rPr>
                <a:t>Proposed Methods</a:t>
              </a:r>
            </a:p>
          </p:txBody>
        </p:sp>
      </p:grpSp>
      <p:grpSp>
        <p:nvGrpSpPr>
          <p:cNvPr name="Group 42" id="42"/>
          <p:cNvGrpSpPr/>
          <p:nvPr/>
        </p:nvGrpSpPr>
        <p:grpSpPr>
          <a:xfrm rot="0">
            <a:off x="7806605" y="4255395"/>
            <a:ext cx="2654710" cy="2654710"/>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solidFill>
          </p:spPr>
        </p:sp>
        <p:sp>
          <p:nvSpPr>
            <p:cNvPr name="TextBox 44" id="44"/>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45" id="45"/>
          <p:cNvSpPr/>
          <p:nvPr/>
        </p:nvSpPr>
        <p:spPr>
          <a:xfrm flipH="false" flipV="false" rot="0">
            <a:off x="8304091" y="4824315"/>
            <a:ext cx="1659740" cy="1703091"/>
          </a:xfrm>
          <a:custGeom>
            <a:avLst/>
            <a:gdLst/>
            <a:ahLst/>
            <a:cxnLst/>
            <a:rect r="r" b="b" t="t" l="l"/>
            <a:pathLst>
              <a:path h="1703091" w="1659740">
                <a:moveTo>
                  <a:pt x="0" y="0"/>
                </a:moveTo>
                <a:lnTo>
                  <a:pt x="1659740" y="0"/>
                </a:lnTo>
                <a:lnTo>
                  <a:pt x="1659740" y="1703091"/>
                </a:lnTo>
                <a:lnTo>
                  <a:pt x="0" y="17030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46" id="46"/>
          <p:cNvGrpSpPr/>
          <p:nvPr/>
        </p:nvGrpSpPr>
        <p:grpSpPr>
          <a:xfrm rot="0">
            <a:off x="7806605" y="8417570"/>
            <a:ext cx="4130560" cy="1621359"/>
            <a:chOff x="0" y="0"/>
            <a:chExt cx="5507414" cy="2161811"/>
          </a:xfrm>
        </p:grpSpPr>
        <p:sp>
          <p:nvSpPr>
            <p:cNvPr name="Freeform 47" id="47"/>
            <p:cNvSpPr/>
            <p:nvPr/>
          </p:nvSpPr>
          <p:spPr>
            <a:xfrm flipH="false" flipV="false" rot="0">
              <a:off x="0" y="0"/>
              <a:ext cx="5507414" cy="2161811"/>
            </a:xfrm>
            <a:custGeom>
              <a:avLst/>
              <a:gdLst/>
              <a:ahLst/>
              <a:cxnLst/>
              <a:rect r="r" b="b" t="t" l="l"/>
              <a:pathLst>
                <a:path h="2161811" w="5507414">
                  <a:moveTo>
                    <a:pt x="0" y="0"/>
                  </a:moveTo>
                  <a:lnTo>
                    <a:pt x="5507414" y="0"/>
                  </a:lnTo>
                  <a:lnTo>
                    <a:pt x="5507414" y="2161811"/>
                  </a:lnTo>
                  <a:lnTo>
                    <a:pt x="0" y="2161811"/>
                  </a:lnTo>
                  <a:close/>
                </a:path>
              </a:pathLst>
            </a:custGeom>
            <a:solidFill>
              <a:srgbClr val="000000">
                <a:alpha val="0"/>
              </a:srgbClr>
            </a:solidFill>
          </p:spPr>
        </p:sp>
        <p:sp>
          <p:nvSpPr>
            <p:cNvPr name="TextBox 48" id="48"/>
            <p:cNvSpPr txBox="true"/>
            <p:nvPr/>
          </p:nvSpPr>
          <p:spPr>
            <a:xfrm>
              <a:off x="0" y="-19050"/>
              <a:ext cx="5507414" cy="2180861"/>
            </a:xfrm>
            <a:prstGeom prst="rect">
              <a:avLst/>
            </a:prstGeom>
          </p:spPr>
          <p:txBody>
            <a:bodyPr anchor="t" rtlCol="false" tIns="0" lIns="0" bIns="0" rIns="0"/>
            <a:lstStyle/>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Data Understanding</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Data Preparation</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Data Modeling</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Evaluation</a:t>
              </a:r>
            </a:p>
            <a:p>
              <a:pPr algn="l">
                <a:lnSpc>
                  <a:spcPts val="2400"/>
                </a:lnSpc>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9" cy="807910"/>
            <a:chOff x="0" y="0"/>
            <a:chExt cx="91439" cy="1077213"/>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0"/>
            <a:chOff x="0" y="0"/>
            <a:chExt cx="1238251" cy="1077213"/>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sp>
        <p:nvSpPr>
          <p:cNvPr name="TextBox 6" id="6"/>
          <p:cNvSpPr txBox="true"/>
          <p:nvPr/>
        </p:nvSpPr>
        <p:spPr>
          <a:xfrm rot="0">
            <a:off x="1222056" y="681738"/>
            <a:ext cx="16186334" cy="695300"/>
          </a:xfrm>
          <a:prstGeom prst="rect">
            <a:avLst/>
          </a:prstGeom>
        </p:spPr>
        <p:txBody>
          <a:bodyPr anchor="t" rtlCol="false" tIns="0" lIns="0" bIns="0" rIns="0">
            <a:spAutoFit/>
          </a:bodyPr>
          <a:lstStyle/>
          <a:p>
            <a:pPr algn="l">
              <a:lnSpc>
                <a:spcPts val="5398"/>
              </a:lnSpc>
            </a:pPr>
            <a:r>
              <a:rPr lang="en-US" sz="4498" b="true">
                <a:solidFill>
                  <a:srgbClr val="FFFFFF"/>
                </a:solidFill>
                <a:latin typeface="Arimo Bold"/>
                <a:ea typeface="Arimo Bold"/>
                <a:cs typeface="Arimo Bold"/>
                <a:sym typeface="Arimo Bold"/>
              </a:rPr>
              <a:t>Methodology Overview</a:t>
            </a:r>
          </a:p>
        </p:txBody>
      </p:sp>
      <p:sp>
        <p:nvSpPr>
          <p:cNvPr name="Freeform 7" id="7"/>
          <p:cNvSpPr/>
          <p:nvPr/>
        </p:nvSpPr>
        <p:spPr>
          <a:xfrm flipH="false" flipV="false" rot="0">
            <a:off x="2277235" y="1805663"/>
            <a:ext cx="2199244" cy="2199244"/>
          </a:xfrm>
          <a:custGeom>
            <a:avLst/>
            <a:gdLst/>
            <a:ahLst/>
            <a:cxnLst/>
            <a:rect r="r" b="b" t="t" l="l"/>
            <a:pathLst>
              <a:path h="2199244" w="2199244">
                <a:moveTo>
                  <a:pt x="0" y="0"/>
                </a:moveTo>
                <a:lnTo>
                  <a:pt x="2199244" y="0"/>
                </a:lnTo>
                <a:lnTo>
                  <a:pt x="2199244" y="2199244"/>
                </a:lnTo>
                <a:lnTo>
                  <a:pt x="0" y="2199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5254784" y="2525187"/>
            <a:ext cx="1108884" cy="790607"/>
          </a:xfrm>
          <a:custGeom>
            <a:avLst/>
            <a:gdLst/>
            <a:ahLst/>
            <a:cxnLst/>
            <a:rect r="r" b="b" t="t" l="l"/>
            <a:pathLst>
              <a:path h="790607" w="1108884">
                <a:moveTo>
                  <a:pt x="0" y="0"/>
                </a:moveTo>
                <a:lnTo>
                  <a:pt x="1108884" y="0"/>
                </a:lnTo>
                <a:lnTo>
                  <a:pt x="1108884" y="790607"/>
                </a:lnTo>
                <a:lnTo>
                  <a:pt x="0" y="790607"/>
                </a:lnTo>
                <a:lnTo>
                  <a:pt x="0" y="0"/>
                </a:lnTo>
                <a:close/>
              </a:path>
            </a:pathLst>
          </a:custGeom>
          <a:blipFill>
            <a:blip r:embed="rId5">
              <a:extLst>
                <a:ext uri="{96DAC541-7B7A-43D3-8B79-37D633B846F1}">
                  <asvg:svgBlip xmlns:asvg="http://schemas.microsoft.com/office/drawing/2016/SVG/main" r:embed="rId6"/>
                </a:ext>
              </a:extLst>
            </a:blip>
            <a:stretch>
              <a:fillRect l="0" t="-348" r="0" b="-348"/>
            </a:stretch>
          </a:blipFill>
        </p:spPr>
      </p:sp>
      <p:sp>
        <p:nvSpPr>
          <p:cNvPr name="TextBox 9" id="9"/>
          <p:cNvSpPr txBox="true"/>
          <p:nvPr/>
        </p:nvSpPr>
        <p:spPr>
          <a:xfrm rot="0">
            <a:off x="2743496" y="2470422"/>
            <a:ext cx="1266722" cy="867735"/>
          </a:xfrm>
          <a:prstGeom prst="rect">
            <a:avLst/>
          </a:prstGeom>
        </p:spPr>
        <p:txBody>
          <a:bodyPr anchor="t" rtlCol="false" tIns="0" lIns="0" bIns="0" rIns="0">
            <a:spAutoFit/>
          </a:bodyPr>
          <a:lstStyle/>
          <a:p>
            <a:pPr algn="l">
              <a:lnSpc>
                <a:spcPts val="4799"/>
              </a:lnSpc>
            </a:pPr>
            <a:r>
              <a:rPr lang="en-US" sz="3999" b="true">
                <a:solidFill>
                  <a:srgbClr val="FFFFFF"/>
                </a:solidFill>
                <a:latin typeface="Century Gothic Paneuropean Bold"/>
                <a:ea typeface="Century Gothic Paneuropean Bold"/>
                <a:cs typeface="Century Gothic Paneuropean Bold"/>
                <a:sym typeface="Century Gothic Paneuropean Bold"/>
              </a:rPr>
              <a:t>Data</a:t>
            </a:r>
          </a:p>
        </p:txBody>
      </p:sp>
      <p:sp>
        <p:nvSpPr>
          <p:cNvPr name="Freeform 10" id="10"/>
          <p:cNvSpPr/>
          <p:nvPr/>
        </p:nvSpPr>
        <p:spPr>
          <a:xfrm flipH="false" flipV="false" rot="0">
            <a:off x="7220772" y="2093538"/>
            <a:ext cx="3359343" cy="1581575"/>
          </a:xfrm>
          <a:custGeom>
            <a:avLst/>
            <a:gdLst/>
            <a:ahLst/>
            <a:cxnLst/>
            <a:rect r="r" b="b" t="t" l="l"/>
            <a:pathLst>
              <a:path h="1581575" w="3359343">
                <a:moveTo>
                  <a:pt x="0" y="0"/>
                </a:moveTo>
                <a:lnTo>
                  <a:pt x="3359343" y="0"/>
                </a:lnTo>
                <a:lnTo>
                  <a:pt x="3359343" y="1581575"/>
                </a:lnTo>
                <a:lnTo>
                  <a:pt x="0" y="15815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2719735" y="1977486"/>
            <a:ext cx="3359343" cy="1581575"/>
          </a:xfrm>
          <a:custGeom>
            <a:avLst/>
            <a:gdLst/>
            <a:ahLst/>
            <a:cxnLst/>
            <a:rect r="r" b="b" t="t" l="l"/>
            <a:pathLst>
              <a:path h="1581575" w="3359343">
                <a:moveTo>
                  <a:pt x="0" y="0"/>
                </a:moveTo>
                <a:lnTo>
                  <a:pt x="3359343" y="0"/>
                </a:lnTo>
                <a:lnTo>
                  <a:pt x="3359343" y="1581575"/>
                </a:lnTo>
                <a:lnTo>
                  <a:pt x="0" y="15815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2719735" y="6365255"/>
            <a:ext cx="3359343" cy="1581575"/>
          </a:xfrm>
          <a:custGeom>
            <a:avLst/>
            <a:gdLst/>
            <a:ahLst/>
            <a:cxnLst/>
            <a:rect r="r" b="b" t="t" l="l"/>
            <a:pathLst>
              <a:path h="1581575" w="3359343">
                <a:moveTo>
                  <a:pt x="0" y="0"/>
                </a:moveTo>
                <a:lnTo>
                  <a:pt x="3359343" y="0"/>
                </a:lnTo>
                <a:lnTo>
                  <a:pt x="3359343" y="1581574"/>
                </a:lnTo>
                <a:lnTo>
                  <a:pt x="0" y="15815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7141973" y="6365255"/>
            <a:ext cx="3359343" cy="1581575"/>
          </a:xfrm>
          <a:custGeom>
            <a:avLst/>
            <a:gdLst/>
            <a:ahLst/>
            <a:cxnLst/>
            <a:rect r="r" b="b" t="t" l="l"/>
            <a:pathLst>
              <a:path h="1581575" w="3359343">
                <a:moveTo>
                  <a:pt x="0" y="0"/>
                </a:moveTo>
                <a:lnTo>
                  <a:pt x="3359343" y="0"/>
                </a:lnTo>
                <a:lnTo>
                  <a:pt x="3359343" y="1581574"/>
                </a:lnTo>
                <a:lnTo>
                  <a:pt x="0" y="15815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true" flipV="false" rot="0">
            <a:off x="5300385" y="6776995"/>
            <a:ext cx="1063283" cy="758094"/>
          </a:xfrm>
          <a:custGeom>
            <a:avLst/>
            <a:gdLst/>
            <a:ahLst/>
            <a:cxnLst/>
            <a:rect r="r" b="b" t="t" l="l"/>
            <a:pathLst>
              <a:path h="758094" w="1063283">
                <a:moveTo>
                  <a:pt x="1063283" y="0"/>
                </a:moveTo>
                <a:lnTo>
                  <a:pt x="0" y="0"/>
                </a:lnTo>
                <a:lnTo>
                  <a:pt x="0" y="758094"/>
                </a:lnTo>
                <a:lnTo>
                  <a:pt x="1063283" y="758094"/>
                </a:lnTo>
                <a:lnTo>
                  <a:pt x="1063283" y="0"/>
                </a:lnTo>
                <a:close/>
              </a:path>
            </a:pathLst>
          </a:custGeom>
          <a:blipFill>
            <a:blip r:embed="rId5">
              <a:extLst>
                <a:ext uri="{96DAC541-7B7A-43D3-8B79-37D633B846F1}">
                  <asvg:svgBlip xmlns:asvg="http://schemas.microsoft.com/office/drawing/2016/SVG/main" r:embed="rId6"/>
                </a:ext>
              </a:extLst>
            </a:blip>
            <a:stretch>
              <a:fillRect l="0" t="-91" r="0" b="-91"/>
            </a:stretch>
          </a:blipFill>
        </p:spPr>
      </p:sp>
      <p:sp>
        <p:nvSpPr>
          <p:cNvPr name="TextBox 15" id="15"/>
          <p:cNvSpPr txBox="true"/>
          <p:nvPr/>
        </p:nvSpPr>
        <p:spPr>
          <a:xfrm rot="0">
            <a:off x="7487574" y="6856017"/>
            <a:ext cx="2668140" cy="600050"/>
          </a:xfrm>
          <a:prstGeom prst="rect">
            <a:avLst/>
          </a:prstGeom>
        </p:spPr>
        <p:txBody>
          <a:bodyPr anchor="t" rtlCol="false" tIns="0" lIns="0" bIns="0" rIns="0">
            <a:spAutoFit/>
          </a:bodyPr>
          <a:lstStyle/>
          <a:p>
            <a:pPr algn="l">
              <a:lnSpc>
                <a:spcPts val="4799"/>
              </a:lnSpc>
            </a:pPr>
            <a:r>
              <a:rPr lang="en-US" sz="3999" b="true">
                <a:solidFill>
                  <a:srgbClr val="FFFFFF"/>
                </a:solidFill>
                <a:latin typeface="Century Gothic Paneuropean Bold"/>
                <a:ea typeface="Century Gothic Paneuropean Bold"/>
                <a:cs typeface="Century Gothic Paneuropean Bold"/>
                <a:sym typeface="Century Gothic Paneuropean Bold"/>
              </a:rPr>
              <a:t>Evaluation</a:t>
            </a:r>
          </a:p>
        </p:txBody>
      </p:sp>
      <p:sp>
        <p:nvSpPr>
          <p:cNvPr name="TextBox 16" id="16"/>
          <p:cNvSpPr txBox="true"/>
          <p:nvPr/>
        </p:nvSpPr>
        <p:spPr>
          <a:xfrm rot="0">
            <a:off x="13185040" y="6819887"/>
            <a:ext cx="2428732" cy="867735"/>
          </a:xfrm>
          <a:prstGeom prst="rect">
            <a:avLst/>
          </a:prstGeom>
        </p:spPr>
        <p:txBody>
          <a:bodyPr anchor="t" rtlCol="false" tIns="0" lIns="0" bIns="0" rIns="0">
            <a:spAutoFit/>
          </a:bodyPr>
          <a:lstStyle/>
          <a:p>
            <a:pPr algn="l">
              <a:lnSpc>
                <a:spcPts val="4799"/>
              </a:lnSpc>
            </a:pPr>
            <a:r>
              <a:rPr lang="en-US" sz="3999" b="true">
                <a:solidFill>
                  <a:srgbClr val="FFFFFF"/>
                </a:solidFill>
                <a:latin typeface="Century Gothic Paneuropean Bold"/>
                <a:ea typeface="Century Gothic Paneuropean Bold"/>
                <a:cs typeface="Century Gothic Paneuropean Bold"/>
                <a:sym typeface="Century Gothic Paneuropean Bold"/>
              </a:rPr>
              <a:t>Modeling</a:t>
            </a:r>
          </a:p>
        </p:txBody>
      </p:sp>
      <p:sp>
        <p:nvSpPr>
          <p:cNvPr name="TextBox 17" id="17"/>
          <p:cNvSpPr txBox="true"/>
          <p:nvPr/>
        </p:nvSpPr>
        <p:spPr>
          <a:xfrm rot="0">
            <a:off x="12892535" y="2218538"/>
            <a:ext cx="3013742" cy="1192871"/>
          </a:xfrm>
          <a:prstGeom prst="rect">
            <a:avLst/>
          </a:prstGeom>
        </p:spPr>
        <p:txBody>
          <a:bodyPr anchor="t" rtlCol="false" tIns="0" lIns="0" bIns="0" rIns="0">
            <a:spAutoFit/>
          </a:bodyPr>
          <a:lstStyle/>
          <a:p>
            <a:pPr algn="ctr">
              <a:lnSpc>
                <a:spcPts val="4079"/>
              </a:lnSpc>
            </a:pPr>
            <a:r>
              <a:rPr lang="en-US" sz="3399" b="true">
                <a:solidFill>
                  <a:srgbClr val="FFFFFF"/>
                </a:solidFill>
                <a:latin typeface="Century Gothic Paneuropean Bold"/>
                <a:ea typeface="Century Gothic Paneuropean Bold"/>
                <a:cs typeface="Century Gothic Paneuropean Bold"/>
                <a:sym typeface="Century Gothic Paneuropean Bold"/>
              </a:rPr>
              <a:t>Data Preparation</a:t>
            </a:r>
          </a:p>
        </p:txBody>
      </p:sp>
      <p:sp>
        <p:nvSpPr>
          <p:cNvPr name="TextBox 18" id="18"/>
          <p:cNvSpPr txBox="true"/>
          <p:nvPr/>
        </p:nvSpPr>
        <p:spPr>
          <a:xfrm rot="0">
            <a:off x="7141973" y="2347252"/>
            <a:ext cx="3516939" cy="942950"/>
          </a:xfrm>
          <a:prstGeom prst="rect">
            <a:avLst/>
          </a:prstGeom>
        </p:spPr>
        <p:txBody>
          <a:bodyPr anchor="t" rtlCol="false" tIns="0" lIns="0" bIns="0" rIns="0">
            <a:spAutoFit/>
          </a:bodyPr>
          <a:lstStyle/>
          <a:p>
            <a:pPr algn="ctr">
              <a:lnSpc>
                <a:spcPts val="3719"/>
              </a:lnSpc>
            </a:pPr>
            <a:r>
              <a:rPr lang="en-US" sz="3099" b="true">
                <a:solidFill>
                  <a:srgbClr val="FFFFFF"/>
                </a:solidFill>
                <a:latin typeface="Century Gothic Paneuropean Bold"/>
                <a:ea typeface="Century Gothic Paneuropean Bold"/>
                <a:cs typeface="Century Gothic Paneuropean Bold"/>
                <a:sym typeface="Century Gothic Paneuropean Bold"/>
              </a:rPr>
              <a:t>Data Understanding</a:t>
            </a:r>
          </a:p>
        </p:txBody>
      </p:sp>
      <p:sp>
        <p:nvSpPr>
          <p:cNvPr name="Freeform 19" id="19"/>
          <p:cNvSpPr/>
          <p:nvPr/>
        </p:nvSpPr>
        <p:spPr>
          <a:xfrm flipH="false" flipV="false" rot="72191">
            <a:off x="11243526" y="2534478"/>
            <a:ext cx="891595" cy="635685"/>
          </a:xfrm>
          <a:custGeom>
            <a:avLst/>
            <a:gdLst/>
            <a:ahLst/>
            <a:cxnLst/>
            <a:rect r="r" b="b" t="t" l="l"/>
            <a:pathLst>
              <a:path h="635685" w="891595">
                <a:moveTo>
                  <a:pt x="0" y="0"/>
                </a:moveTo>
                <a:lnTo>
                  <a:pt x="891595" y="0"/>
                </a:lnTo>
                <a:lnTo>
                  <a:pt x="891595" y="635685"/>
                </a:lnTo>
                <a:lnTo>
                  <a:pt x="0" y="635685"/>
                </a:lnTo>
                <a:lnTo>
                  <a:pt x="0" y="0"/>
                </a:lnTo>
                <a:close/>
              </a:path>
            </a:pathLst>
          </a:custGeom>
          <a:blipFill>
            <a:blip r:embed="rId5">
              <a:extLst>
                <a:ext uri="{96DAC541-7B7A-43D3-8B79-37D633B846F1}">
                  <asvg:svgBlip xmlns:asvg="http://schemas.microsoft.com/office/drawing/2016/SVG/main" r:embed="rId6"/>
                </a:ext>
              </a:extLst>
            </a:blip>
            <a:stretch>
              <a:fillRect l="-14" t="0" r="-14" b="0"/>
            </a:stretch>
          </a:blipFill>
        </p:spPr>
      </p:sp>
      <p:sp>
        <p:nvSpPr>
          <p:cNvPr name="Freeform 20" id="20"/>
          <p:cNvSpPr/>
          <p:nvPr/>
        </p:nvSpPr>
        <p:spPr>
          <a:xfrm flipH="false" flipV="false" rot="5400000">
            <a:off x="14611061" y="5284650"/>
            <a:ext cx="983537" cy="701237"/>
          </a:xfrm>
          <a:custGeom>
            <a:avLst/>
            <a:gdLst/>
            <a:ahLst/>
            <a:cxnLst/>
            <a:rect r="r" b="b" t="t" l="l"/>
            <a:pathLst>
              <a:path h="701237" w="983537">
                <a:moveTo>
                  <a:pt x="0" y="0"/>
                </a:moveTo>
                <a:lnTo>
                  <a:pt x="983537" y="0"/>
                </a:lnTo>
                <a:lnTo>
                  <a:pt x="983537" y="701237"/>
                </a:lnTo>
                <a:lnTo>
                  <a:pt x="0" y="701237"/>
                </a:lnTo>
                <a:lnTo>
                  <a:pt x="0" y="0"/>
                </a:lnTo>
                <a:close/>
              </a:path>
            </a:pathLst>
          </a:custGeom>
          <a:blipFill>
            <a:blip r:embed="rId5">
              <a:extLst>
                <a:ext uri="{96DAC541-7B7A-43D3-8B79-37D633B846F1}">
                  <asvg:svgBlip xmlns:asvg="http://schemas.microsoft.com/office/drawing/2016/SVG/main" r:embed="rId6"/>
                </a:ext>
              </a:extLst>
            </a:blip>
            <a:stretch>
              <a:fillRect l="-100" t="0" r="-100" b="0"/>
            </a:stretch>
          </a:blipFill>
        </p:spPr>
      </p:sp>
      <p:sp>
        <p:nvSpPr>
          <p:cNvPr name="TextBox 21" id="21"/>
          <p:cNvSpPr txBox="true"/>
          <p:nvPr/>
        </p:nvSpPr>
        <p:spPr>
          <a:xfrm rot="0">
            <a:off x="6583484" y="3806468"/>
            <a:ext cx="5313873" cy="1819262"/>
          </a:xfrm>
          <a:prstGeom prst="rect">
            <a:avLst/>
          </a:prstGeom>
        </p:spPr>
        <p:txBody>
          <a:bodyPr anchor="t" rtlCol="false" tIns="0" lIns="0" bIns="0" rIns="0">
            <a:spAutoFit/>
          </a:bodyPr>
          <a:lstStyle/>
          <a:p>
            <a:pPr algn="l" marL="548412" indent="-182804" lvl="2">
              <a:lnSpc>
                <a:spcPts val="2878"/>
              </a:lnSpc>
              <a:buFont typeface="Arial"/>
              <a:buChar char="⚬"/>
            </a:pPr>
            <a:r>
              <a:rPr lang="en-US" sz="2399">
                <a:solidFill>
                  <a:srgbClr val="FFFFFF"/>
                </a:solidFill>
                <a:latin typeface="Arimo"/>
                <a:ea typeface="Arimo"/>
                <a:cs typeface="Arimo"/>
                <a:sym typeface="Arimo"/>
              </a:rPr>
              <a:t>Class balance of train / val / test</a:t>
            </a:r>
          </a:p>
          <a:p>
            <a:pPr algn="l" marL="548519" indent="-182840" lvl="2">
              <a:lnSpc>
                <a:spcPts val="2879"/>
              </a:lnSpc>
              <a:buFont typeface="Arial"/>
              <a:buChar char="⚬"/>
            </a:pPr>
            <a:r>
              <a:rPr lang="en-US" sz="2399">
                <a:solidFill>
                  <a:srgbClr val="FFFFFF"/>
                </a:solidFill>
                <a:latin typeface="Arimo"/>
                <a:ea typeface="Arimo"/>
                <a:cs typeface="Arimo"/>
                <a:sym typeface="Arimo"/>
              </a:rPr>
              <a:t>HSV </a:t>
            </a:r>
            <a:r>
              <a:rPr lang="en-US" sz="2399">
                <a:solidFill>
                  <a:srgbClr val="FFFFFF"/>
                </a:solidFill>
                <a:latin typeface="Arimo"/>
                <a:ea typeface="Arimo"/>
                <a:cs typeface="Arimo"/>
                <a:sym typeface="Arimo"/>
              </a:rPr>
              <a:t>m</a:t>
            </a:r>
            <a:r>
              <a:rPr lang="en-US" sz="2399">
                <a:solidFill>
                  <a:srgbClr val="FFFFFF"/>
                </a:solidFill>
                <a:latin typeface="Arimo"/>
                <a:ea typeface="Arimo"/>
                <a:cs typeface="Arimo"/>
                <a:sym typeface="Arimo"/>
              </a:rPr>
              <a:t>ean per </a:t>
            </a:r>
            <a:r>
              <a:rPr lang="en-US" sz="2399">
                <a:solidFill>
                  <a:srgbClr val="FFFFFF"/>
                </a:solidFill>
                <a:latin typeface="Arimo"/>
                <a:ea typeface="Arimo"/>
                <a:cs typeface="Arimo"/>
                <a:sym typeface="Arimo"/>
              </a:rPr>
              <a:t>p</a:t>
            </a:r>
            <a:r>
              <a:rPr lang="en-US" sz="2399">
                <a:solidFill>
                  <a:srgbClr val="FFFFFF"/>
                </a:solidFill>
                <a:latin typeface="Arimo"/>
                <a:ea typeface="Arimo"/>
                <a:cs typeface="Arimo"/>
                <a:sym typeface="Arimo"/>
              </a:rPr>
              <a:t>atch</a:t>
            </a:r>
            <a:r>
              <a:rPr lang="en-US" sz="2399">
                <a:solidFill>
                  <a:srgbClr val="FFFFFF"/>
                </a:solidFill>
                <a:latin typeface="Arimo"/>
                <a:ea typeface="Arimo"/>
                <a:cs typeface="Arimo"/>
                <a:sym typeface="Arimo"/>
              </a:rPr>
              <a:t> (pos vs neg)</a:t>
            </a:r>
          </a:p>
          <a:p>
            <a:pPr algn="l" marL="548412" indent="-182804" lvl="2">
              <a:lnSpc>
                <a:spcPts val="2878"/>
              </a:lnSpc>
              <a:buFont typeface="Arial"/>
              <a:buChar char="⚬"/>
            </a:pPr>
            <a:r>
              <a:rPr lang="en-US" sz="2399">
                <a:solidFill>
                  <a:srgbClr val="FFFFFF"/>
                </a:solidFill>
                <a:latin typeface="Arimo"/>
                <a:ea typeface="Arimo"/>
                <a:cs typeface="Arimo"/>
                <a:sym typeface="Arimo"/>
              </a:rPr>
              <a:t>RGB </a:t>
            </a:r>
            <a:r>
              <a:rPr lang="en-US" sz="2399">
                <a:solidFill>
                  <a:srgbClr val="FFFFFF"/>
                </a:solidFill>
                <a:latin typeface="Arimo"/>
                <a:ea typeface="Arimo"/>
                <a:cs typeface="Arimo"/>
                <a:sym typeface="Arimo"/>
              </a:rPr>
              <a:t>c</a:t>
            </a:r>
            <a:r>
              <a:rPr lang="en-US" sz="2399">
                <a:solidFill>
                  <a:srgbClr val="FFFFFF"/>
                </a:solidFill>
                <a:latin typeface="Arimo"/>
                <a:ea typeface="Arimo"/>
                <a:cs typeface="Arimo"/>
                <a:sym typeface="Arimo"/>
              </a:rPr>
              <a:t>hannel KDE </a:t>
            </a:r>
            <a:r>
              <a:rPr lang="en-US" sz="2399">
                <a:solidFill>
                  <a:srgbClr val="FFFFFF"/>
                </a:solidFill>
                <a:latin typeface="Arimo"/>
                <a:ea typeface="Arimo"/>
                <a:cs typeface="Arimo"/>
                <a:sym typeface="Arimo"/>
              </a:rPr>
              <a:t>→ sta</a:t>
            </a:r>
            <a:r>
              <a:rPr lang="en-US" sz="2399">
                <a:solidFill>
                  <a:srgbClr val="FFFFFF"/>
                </a:solidFill>
                <a:latin typeface="Arimo"/>
                <a:ea typeface="Arimo"/>
                <a:cs typeface="Arimo"/>
                <a:sym typeface="Arimo"/>
              </a:rPr>
              <a:t>i</a:t>
            </a:r>
            <a:r>
              <a:rPr lang="en-US" sz="2399">
                <a:solidFill>
                  <a:srgbClr val="FFFFFF"/>
                </a:solidFill>
                <a:latin typeface="Arimo"/>
                <a:ea typeface="Arimo"/>
                <a:cs typeface="Arimo"/>
                <a:sym typeface="Arimo"/>
              </a:rPr>
              <a:t>n inten</a:t>
            </a:r>
            <a:r>
              <a:rPr lang="en-US" sz="2399">
                <a:solidFill>
                  <a:srgbClr val="FFFFFF"/>
                </a:solidFill>
                <a:latin typeface="Arimo"/>
                <a:ea typeface="Arimo"/>
                <a:cs typeface="Arimo"/>
                <a:sym typeface="Arimo"/>
              </a:rPr>
              <a:t>s</a:t>
            </a:r>
            <a:r>
              <a:rPr lang="en-US" sz="2399">
                <a:solidFill>
                  <a:srgbClr val="FFFFFF"/>
                </a:solidFill>
                <a:latin typeface="Arimo"/>
                <a:ea typeface="Arimo"/>
                <a:cs typeface="Arimo"/>
                <a:sym typeface="Arimo"/>
              </a:rPr>
              <a:t>i</a:t>
            </a:r>
            <a:r>
              <a:rPr lang="en-US" sz="2399">
                <a:solidFill>
                  <a:srgbClr val="FFFFFF"/>
                </a:solidFill>
                <a:latin typeface="Arimo"/>
                <a:ea typeface="Arimo"/>
                <a:cs typeface="Arimo"/>
                <a:sym typeface="Arimo"/>
              </a:rPr>
              <a:t>t</a:t>
            </a:r>
            <a:r>
              <a:rPr lang="en-US" sz="2399">
                <a:solidFill>
                  <a:srgbClr val="FFFFFF"/>
                </a:solidFill>
                <a:latin typeface="Arimo"/>
                <a:ea typeface="Arimo"/>
                <a:cs typeface="Arimo"/>
                <a:sym typeface="Arimo"/>
              </a:rPr>
              <a:t>y va</a:t>
            </a:r>
            <a:r>
              <a:rPr lang="en-US" sz="2399">
                <a:solidFill>
                  <a:srgbClr val="FFFFFF"/>
                </a:solidFill>
                <a:latin typeface="Arimo"/>
                <a:ea typeface="Arimo"/>
                <a:cs typeface="Arimo"/>
                <a:sym typeface="Arimo"/>
              </a:rPr>
              <a:t>ri</a:t>
            </a:r>
            <a:r>
              <a:rPr lang="en-US" sz="2399">
                <a:solidFill>
                  <a:srgbClr val="FFFFFF"/>
                </a:solidFill>
                <a:latin typeface="Arimo"/>
                <a:ea typeface="Arimo"/>
                <a:cs typeface="Arimo"/>
                <a:sym typeface="Arimo"/>
              </a:rPr>
              <a:t>a</a:t>
            </a:r>
            <a:r>
              <a:rPr lang="en-US" sz="2399">
                <a:solidFill>
                  <a:srgbClr val="FFFFFF"/>
                </a:solidFill>
                <a:latin typeface="Arimo"/>
                <a:ea typeface="Arimo"/>
                <a:cs typeface="Arimo"/>
                <a:sym typeface="Arimo"/>
              </a:rPr>
              <a:t>tion</a:t>
            </a:r>
            <a:r>
              <a:rPr lang="en-US" sz="2399">
                <a:solidFill>
                  <a:srgbClr val="FFFFFF"/>
                </a:solidFill>
                <a:latin typeface="Arimo"/>
                <a:ea typeface="Arimo"/>
                <a:cs typeface="Arimo"/>
                <a:sym typeface="Arimo"/>
              </a:rPr>
              <a:t> &amp; color bias risk</a:t>
            </a:r>
          </a:p>
          <a:p>
            <a:pPr algn="l" marL="548411" indent="-182804" lvl="2">
              <a:lnSpc>
                <a:spcPts val="2879"/>
              </a:lnSpc>
              <a:buFont typeface="Arial"/>
              <a:buChar char="⚬"/>
            </a:pPr>
          </a:p>
        </p:txBody>
      </p:sp>
      <p:sp>
        <p:nvSpPr>
          <p:cNvPr name="Freeform 22" id="22"/>
          <p:cNvSpPr/>
          <p:nvPr/>
        </p:nvSpPr>
        <p:spPr>
          <a:xfrm flipH="false" flipV="true" rot="10694280">
            <a:off x="11066089" y="6810602"/>
            <a:ext cx="969010" cy="690880"/>
          </a:xfrm>
          <a:custGeom>
            <a:avLst/>
            <a:gdLst/>
            <a:ahLst/>
            <a:cxnLst/>
            <a:rect r="r" b="b" t="t" l="l"/>
            <a:pathLst>
              <a:path h="690880" w="969010">
                <a:moveTo>
                  <a:pt x="0" y="690880"/>
                </a:moveTo>
                <a:lnTo>
                  <a:pt x="969010" y="690880"/>
                </a:lnTo>
                <a:lnTo>
                  <a:pt x="969010" y="0"/>
                </a:lnTo>
                <a:lnTo>
                  <a:pt x="0" y="0"/>
                </a:lnTo>
                <a:lnTo>
                  <a:pt x="0" y="690880"/>
                </a:lnTo>
                <a:close/>
              </a:path>
            </a:pathLst>
          </a:custGeom>
          <a:blipFill>
            <a:blip r:embed="rId5">
              <a:extLst>
                <a:ext uri="{96DAC541-7B7A-43D3-8B79-37D633B846F1}">
                  <asvg:svgBlip xmlns:asvg="http://schemas.microsoft.com/office/drawing/2016/SVG/main" r:embed="rId6"/>
                </a:ext>
              </a:extLst>
            </a:blip>
            <a:stretch>
              <a:fillRect l="0" t="-190" r="0" b="-190"/>
            </a:stretch>
          </a:blipFill>
        </p:spPr>
      </p:sp>
      <p:sp>
        <p:nvSpPr>
          <p:cNvPr name="TextBox 23" id="23"/>
          <p:cNvSpPr txBox="true"/>
          <p:nvPr/>
        </p:nvSpPr>
        <p:spPr>
          <a:xfrm rot="0">
            <a:off x="11897357" y="3676650"/>
            <a:ext cx="6390643" cy="2543162"/>
          </a:xfrm>
          <a:prstGeom prst="rect">
            <a:avLst/>
          </a:prstGeom>
        </p:spPr>
        <p:txBody>
          <a:bodyPr anchor="t" rtlCol="false" tIns="0" lIns="0" bIns="0" rIns="0">
            <a:spAutoFit/>
          </a:bodyPr>
          <a:lstStyle/>
          <a:p>
            <a:pPr algn="l" marL="548412" indent="-182804" lvl="2">
              <a:lnSpc>
                <a:spcPts val="2878"/>
              </a:lnSpc>
              <a:buFont typeface="Arial"/>
              <a:buChar char="⚬"/>
            </a:pPr>
            <a:r>
              <a:rPr lang="en-US" sz="2399">
                <a:solidFill>
                  <a:srgbClr val="FFFFFF"/>
                </a:solidFill>
                <a:latin typeface="Arimo"/>
                <a:ea typeface="Arimo"/>
                <a:cs typeface="Arimo"/>
                <a:sym typeface="Arimo"/>
              </a:rPr>
              <a:t>Stratified 70 / 15 / 15 split (train / val / test)</a:t>
            </a:r>
          </a:p>
          <a:p>
            <a:pPr algn="l" marL="548412" indent="-182804" lvl="2">
              <a:lnSpc>
                <a:spcPts val="2878"/>
              </a:lnSpc>
              <a:buFont typeface="Arial"/>
              <a:buChar char="⚬"/>
            </a:pPr>
            <a:r>
              <a:rPr lang="en-US" sz="2399">
                <a:solidFill>
                  <a:srgbClr val="FFFFFF"/>
                </a:solidFill>
                <a:latin typeface="Arimo"/>
                <a:ea typeface="Arimo"/>
                <a:cs typeface="Arimo"/>
                <a:sym typeface="Arimo"/>
              </a:rPr>
              <a:t>2×2 c</a:t>
            </a:r>
            <a:r>
              <a:rPr lang="en-US" sz="2399">
                <a:solidFill>
                  <a:srgbClr val="FFFFFF"/>
                </a:solidFill>
                <a:latin typeface="Arimo"/>
                <a:ea typeface="Arimo"/>
                <a:cs typeface="Arimo"/>
                <a:sym typeface="Arimo"/>
              </a:rPr>
              <a:t>olor–stain design:</a:t>
            </a:r>
          </a:p>
          <a:p>
            <a:pPr algn="l" marL="1035889" indent="-345296" lvl="2">
              <a:lnSpc>
                <a:spcPts val="2878"/>
              </a:lnSpc>
              <a:buFont typeface="Arial"/>
              <a:buChar char="⚬"/>
            </a:pPr>
            <a:r>
              <a:rPr lang="en-US" sz="2399">
                <a:solidFill>
                  <a:srgbClr val="FFFFFF"/>
                </a:solidFill>
                <a:latin typeface="Arimo"/>
                <a:ea typeface="Arimo"/>
                <a:cs typeface="Arimo"/>
                <a:sym typeface="Arimo"/>
              </a:rPr>
              <a:t>Raw HCD vs Macenko-normalized</a:t>
            </a:r>
          </a:p>
          <a:p>
            <a:pPr algn="l" marL="1035889" indent="-345296" lvl="2">
              <a:lnSpc>
                <a:spcPts val="2878"/>
              </a:lnSpc>
              <a:buFont typeface="Arial"/>
              <a:buChar char="⚬"/>
            </a:pPr>
            <a:r>
              <a:rPr lang="en-US" sz="2399">
                <a:solidFill>
                  <a:srgbClr val="FFFFFF"/>
                </a:solidFill>
                <a:latin typeface="Arimo"/>
                <a:ea typeface="Arimo"/>
                <a:cs typeface="Arimo"/>
                <a:sym typeface="Arimo"/>
              </a:rPr>
              <a:t>With vs without color augmentation</a:t>
            </a:r>
          </a:p>
          <a:p>
            <a:pPr algn="l" marL="548412" indent="-182804" lvl="2">
              <a:lnSpc>
                <a:spcPts val="2878"/>
              </a:lnSpc>
              <a:buFont typeface="Arial"/>
              <a:buChar char="⚬"/>
            </a:pPr>
            <a:r>
              <a:rPr lang="en-US" sz="2399">
                <a:solidFill>
                  <a:srgbClr val="FFFFFF"/>
                </a:solidFill>
                <a:latin typeface="Arimo"/>
                <a:ea typeface="Arimo"/>
                <a:cs typeface="Arimo"/>
                <a:sym typeface="Arimo"/>
              </a:rPr>
              <a:t>Res</a:t>
            </a:r>
            <a:r>
              <a:rPr lang="en-US" sz="2399">
                <a:solidFill>
                  <a:srgbClr val="FFFFFF"/>
                </a:solidFill>
                <a:latin typeface="Arimo"/>
                <a:ea typeface="Arimo"/>
                <a:cs typeface="Arimo"/>
                <a:sym typeface="Arimo"/>
              </a:rPr>
              <a:t>ize to 256×256 &amp; normalize (mean, std)</a:t>
            </a:r>
          </a:p>
          <a:p>
            <a:pPr algn="l">
              <a:lnSpc>
                <a:spcPts val="2879"/>
              </a:lnSpc>
            </a:pPr>
          </a:p>
        </p:txBody>
      </p:sp>
      <p:sp>
        <p:nvSpPr>
          <p:cNvPr name="TextBox 24" id="24"/>
          <p:cNvSpPr txBox="true"/>
          <p:nvPr/>
        </p:nvSpPr>
        <p:spPr>
          <a:xfrm rot="0">
            <a:off x="7487574" y="8251537"/>
            <a:ext cx="2273093" cy="1819250"/>
          </a:xfrm>
          <a:prstGeom prst="rect">
            <a:avLst/>
          </a:prstGeom>
        </p:spPr>
        <p:txBody>
          <a:bodyPr anchor="t" rtlCol="false" tIns="0" lIns="0" bIns="0" rIns="0">
            <a:spAutoFit/>
          </a:bodyPr>
          <a:lstStyle/>
          <a:p>
            <a:pPr algn="l" marL="548518" indent="-182839" lvl="2">
              <a:lnSpc>
                <a:spcPts val="2879"/>
              </a:lnSpc>
              <a:buFont typeface="Arial"/>
              <a:buChar char="⚬"/>
            </a:pPr>
            <a:r>
              <a:rPr lang="en-US" sz="2399">
                <a:solidFill>
                  <a:srgbClr val="FFFFFF"/>
                </a:solidFill>
                <a:latin typeface="Arimo"/>
                <a:ea typeface="Arimo"/>
                <a:cs typeface="Arimo"/>
                <a:sym typeface="Arimo"/>
              </a:rPr>
              <a:t>Precision</a:t>
            </a:r>
          </a:p>
          <a:p>
            <a:pPr algn="l" marL="548518" indent="-182839" lvl="2">
              <a:lnSpc>
                <a:spcPts val="2879"/>
              </a:lnSpc>
              <a:buFont typeface="Arial"/>
              <a:buChar char="⚬"/>
            </a:pPr>
            <a:r>
              <a:rPr lang="en-US" sz="2399">
                <a:solidFill>
                  <a:srgbClr val="FFFFFF"/>
                </a:solidFill>
                <a:latin typeface="Arimo"/>
                <a:ea typeface="Arimo"/>
                <a:cs typeface="Arimo"/>
                <a:sym typeface="Arimo"/>
              </a:rPr>
              <a:t>Recall</a:t>
            </a:r>
          </a:p>
          <a:p>
            <a:pPr algn="l" marL="548412" indent="-182804" lvl="2">
              <a:lnSpc>
                <a:spcPts val="2878"/>
              </a:lnSpc>
              <a:buFont typeface="Arial"/>
              <a:buChar char="⚬"/>
            </a:pPr>
            <a:r>
              <a:rPr lang="en-US" sz="2399">
                <a:solidFill>
                  <a:srgbClr val="FFFFFF"/>
                </a:solidFill>
                <a:latin typeface="Arimo"/>
                <a:ea typeface="Arimo"/>
                <a:cs typeface="Arimo"/>
                <a:sym typeface="Arimo"/>
              </a:rPr>
              <a:t>AUROC</a:t>
            </a:r>
          </a:p>
          <a:p>
            <a:pPr algn="l" marL="548412" indent="-182804" lvl="2">
              <a:lnSpc>
                <a:spcPts val="2878"/>
              </a:lnSpc>
              <a:buFont typeface="Arial"/>
              <a:buChar char="⚬"/>
            </a:pPr>
            <a:r>
              <a:rPr lang="en-US" sz="2399">
                <a:solidFill>
                  <a:srgbClr val="FFFFFF"/>
                </a:solidFill>
                <a:latin typeface="Arimo"/>
                <a:ea typeface="Arimo"/>
                <a:cs typeface="Arimo"/>
                <a:sym typeface="Arimo"/>
              </a:rPr>
              <a:t>F1-Score</a:t>
            </a:r>
          </a:p>
          <a:p>
            <a:pPr algn="l">
              <a:lnSpc>
                <a:spcPts val="2879"/>
              </a:lnSpc>
            </a:pPr>
          </a:p>
        </p:txBody>
      </p:sp>
      <p:sp>
        <p:nvSpPr>
          <p:cNvPr name="Freeform 25" id="25"/>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6" id="26"/>
          <p:cNvGrpSpPr/>
          <p:nvPr/>
        </p:nvGrpSpPr>
        <p:grpSpPr>
          <a:xfrm rot="0">
            <a:off x="17761578" y="9713952"/>
            <a:ext cx="1268668" cy="2170263"/>
            <a:chOff x="0" y="0"/>
            <a:chExt cx="431800" cy="738664"/>
          </a:xfrm>
        </p:grpSpPr>
        <p:sp>
          <p:nvSpPr>
            <p:cNvPr name="Freeform 27" id="27"/>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28" id="28"/>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14</a:t>
              </a:r>
            </a:p>
          </p:txBody>
        </p:sp>
      </p:grpSp>
      <p:sp>
        <p:nvSpPr>
          <p:cNvPr name="Freeform 29" id="29"/>
          <p:cNvSpPr/>
          <p:nvPr/>
        </p:nvSpPr>
        <p:spPr>
          <a:xfrm flipH="false" flipV="false" rot="0">
            <a:off x="1697185" y="6343890"/>
            <a:ext cx="3359343" cy="1581575"/>
          </a:xfrm>
          <a:custGeom>
            <a:avLst/>
            <a:gdLst/>
            <a:ahLst/>
            <a:cxnLst/>
            <a:rect r="r" b="b" t="t" l="l"/>
            <a:pathLst>
              <a:path h="1581575" w="3359343">
                <a:moveTo>
                  <a:pt x="0" y="0"/>
                </a:moveTo>
                <a:lnTo>
                  <a:pt x="3359343" y="0"/>
                </a:lnTo>
                <a:lnTo>
                  <a:pt x="3359343" y="1581575"/>
                </a:lnTo>
                <a:lnTo>
                  <a:pt x="0" y="15815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0" id="30"/>
          <p:cNvSpPr txBox="true"/>
          <p:nvPr/>
        </p:nvSpPr>
        <p:spPr>
          <a:xfrm rot="0">
            <a:off x="1835938" y="6856017"/>
            <a:ext cx="3220590" cy="600050"/>
          </a:xfrm>
          <a:prstGeom prst="rect">
            <a:avLst/>
          </a:prstGeom>
        </p:spPr>
        <p:txBody>
          <a:bodyPr anchor="t" rtlCol="false" tIns="0" lIns="0" bIns="0" rIns="0">
            <a:spAutoFit/>
          </a:bodyPr>
          <a:lstStyle/>
          <a:p>
            <a:pPr algn="l">
              <a:lnSpc>
                <a:spcPts val="4799"/>
              </a:lnSpc>
            </a:pPr>
            <a:r>
              <a:rPr lang="en-US" sz="3999" b="true">
                <a:solidFill>
                  <a:srgbClr val="FFFFFF"/>
                </a:solidFill>
                <a:latin typeface="Century Gothic Paneuropean Bold"/>
                <a:ea typeface="Century Gothic Paneuropean Bold"/>
                <a:cs typeface="Century Gothic Paneuropean Bold"/>
                <a:sym typeface="Century Gothic Paneuropean Bold"/>
              </a:rPr>
              <a:t>Deployment</a:t>
            </a:r>
          </a:p>
        </p:txBody>
      </p:sp>
      <p:sp>
        <p:nvSpPr>
          <p:cNvPr name="TextBox 31" id="31"/>
          <p:cNvSpPr txBox="true"/>
          <p:nvPr/>
        </p:nvSpPr>
        <p:spPr>
          <a:xfrm rot="0">
            <a:off x="1222056" y="4219575"/>
            <a:ext cx="5998716" cy="1819262"/>
          </a:xfrm>
          <a:prstGeom prst="rect">
            <a:avLst/>
          </a:prstGeom>
        </p:spPr>
        <p:txBody>
          <a:bodyPr anchor="t" rtlCol="false" tIns="0" lIns="0" bIns="0" rIns="0">
            <a:spAutoFit/>
          </a:bodyPr>
          <a:lstStyle/>
          <a:p>
            <a:pPr algn="l" marL="548412" indent="-182804" lvl="2">
              <a:lnSpc>
                <a:spcPts val="2878"/>
              </a:lnSpc>
              <a:buFont typeface="Arial"/>
              <a:buChar char="⚬"/>
            </a:pPr>
            <a:r>
              <a:rPr lang="en-US" sz="2399">
                <a:solidFill>
                  <a:srgbClr val="FFFFFF"/>
                </a:solidFill>
                <a:latin typeface="Arimo"/>
                <a:ea typeface="Arimo"/>
                <a:cs typeface="Arimo"/>
                <a:sym typeface="Arimo"/>
              </a:rPr>
              <a:t>Kaggle Histopathologic Cancer Detection (HCD)</a:t>
            </a:r>
          </a:p>
          <a:p>
            <a:pPr algn="l" marL="548412" indent="-182804" lvl="2">
              <a:lnSpc>
                <a:spcPts val="2878"/>
              </a:lnSpc>
              <a:buFont typeface="Arial"/>
              <a:buChar char="⚬"/>
            </a:pPr>
            <a:r>
              <a:rPr lang="en-US" sz="2399">
                <a:solidFill>
                  <a:srgbClr val="FFFFFF"/>
                </a:solidFill>
                <a:latin typeface="Arimo"/>
                <a:ea typeface="Arimo"/>
                <a:cs typeface="Arimo"/>
                <a:sym typeface="Arimo"/>
              </a:rPr>
              <a:t>220k 96×96 H&amp;E lymph-node patches</a:t>
            </a:r>
          </a:p>
          <a:p>
            <a:pPr algn="l" marL="548412" indent="-182804" lvl="2">
              <a:lnSpc>
                <a:spcPts val="2879"/>
              </a:lnSpc>
              <a:buFont typeface="Arial"/>
              <a:buChar char="⚬"/>
            </a:pPr>
            <a:r>
              <a:rPr lang="en-US" sz="2399">
                <a:solidFill>
                  <a:srgbClr val="FFFFFF"/>
                </a:solidFill>
                <a:latin typeface="Arimo"/>
                <a:ea typeface="Arimo"/>
                <a:cs typeface="Arimo"/>
                <a:sym typeface="Arimo"/>
              </a:rPr>
              <a:t>Label = central region metastatic (1) vs non-metastatic (0)</a:t>
            </a:r>
          </a:p>
        </p:txBody>
      </p:sp>
      <p:sp>
        <p:nvSpPr>
          <p:cNvPr name="TextBox 32" id="32"/>
          <p:cNvSpPr txBox="true"/>
          <p:nvPr/>
        </p:nvSpPr>
        <p:spPr>
          <a:xfrm rot="0">
            <a:off x="1222056" y="8365822"/>
            <a:ext cx="5919917" cy="733412"/>
          </a:xfrm>
          <a:prstGeom prst="rect">
            <a:avLst/>
          </a:prstGeom>
        </p:spPr>
        <p:txBody>
          <a:bodyPr anchor="t" rtlCol="false" tIns="0" lIns="0" bIns="0" rIns="0">
            <a:spAutoFit/>
          </a:bodyPr>
          <a:lstStyle/>
          <a:p>
            <a:pPr algn="l" marL="548412" indent="-182804" lvl="2">
              <a:lnSpc>
                <a:spcPts val="2878"/>
              </a:lnSpc>
              <a:buFont typeface="Arial"/>
              <a:buChar char="⚬"/>
            </a:pPr>
            <a:r>
              <a:rPr lang="en-US" sz="2399">
                <a:solidFill>
                  <a:srgbClr val="FFFFFF"/>
                </a:solidFill>
                <a:latin typeface="Arimo"/>
                <a:ea typeface="Arimo"/>
                <a:cs typeface="Arimo"/>
                <a:sym typeface="Arimo"/>
              </a:rPr>
              <a:t>HCD Lymph N</a:t>
            </a:r>
            <a:r>
              <a:rPr lang="en-US" sz="2399">
                <a:solidFill>
                  <a:srgbClr val="FFFFFF"/>
                </a:solidFill>
                <a:latin typeface="Arimo"/>
                <a:ea typeface="Arimo"/>
                <a:cs typeface="Arimo"/>
                <a:sym typeface="Arimo"/>
              </a:rPr>
              <a:t>ode Cancer Assistant</a:t>
            </a:r>
          </a:p>
          <a:p>
            <a:pPr algn="l">
              <a:lnSpc>
                <a:spcPts val="2879"/>
              </a:lnSpc>
            </a:pPr>
          </a:p>
        </p:txBody>
      </p:sp>
      <p:sp>
        <p:nvSpPr>
          <p:cNvPr name="TextBox 33" id="33"/>
          <p:cNvSpPr txBox="true"/>
          <p:nvPr/>
        </p:nvSpPr>
        <p:spPr>
          <a:xfrm rot="0">
            <a:off x="11897357" y="8251537"/>
            <a:ext cx="4581223" cy="733412"/>
          </a:xfrm>
          <a:prstGeom prst="rect">
            <a:avLst/>
          </a:prstGeom>
        </p:spPr>
        <p:txBody>
          <a:bodyPr anchor="t" rtlCol="false" tIns="0" lIns="0" bIns="0" rIns="0">
            <a:spAutoFit/>
          </a:bodyPr>
          <a:lstStyle/>
          <a:p>
            <a:pPr algn="l" marL="548412" indent="-182804" lvl="2">
              <a:lnSpc>
                <a:spcPts val="2878"/>
              </a:lnSpc>
              <a:buFont typeface="Arial"/>
              <a:buChar char="⚬"/>
            </a:pPr>
            <a:r>
              <a:rPr lang="en-US" sz="2399">
                <a:solidFill>
                  <a:srgbClr val="FFFFFF"/>
                </a:solidFill>
                <a:latin typeface="Arimo"/>
                <a:ea typeface="Arimo"/>
                <a:cs typeface="Arimo"/>
                <a:sym typeface="Arimo"/>
              </a:rPr>
              <a:t>EfficientNetV2-S </a:t>
            </a:r>
          </a:p>
          <a:p>
            <a:pPr algn="l">
              <a:lnSpc>
                <a:spcPts val="2879"/>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9" cy="807910"/>
            <a:chOff x="0" y="0"/>
            <a:chExt cx="91439" cy="1077213"/>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0"/>
            <a:chOff x="0" y="0"/>
            <a:chExt cx="1238251" cy="1077213"/>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sp>
        <p:nvSpPr>
          <p:cNvPr name="Freeform 6" id="6"/>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28700" y="4967470"/>
            <a:ext cx="5815697" cy="3744735"/>
          </a:xfrm>
          <a:custGeom>
            <a:avLst/>
            <a:gdLst/>
            <a:ahLst/>
            <a:cxnLst/>
            <a:rect r="r" b="b" t="t" l="l"/>
            <a:pathLst>
              <a:path h="3744735" w="5815697">
                <a:moveTo>
                  <a:pt x="0" y="0"/>
                </a:moveTo>
                <a:lnTo>
                  <a:pt x="5815697" y="0"/>
                </a:lnTo>
                <a:lnTo>
                  <a:pt x="5815697" y="3744735"/>
                </a:lnTo>
                <a:lnTo>
                  <a:pt x="0" y="3744735"/>
                </a:lnTo>
                <a:lnTo>
                  <a:pt x="0" y="0"/>
                </a:lnTo>
                <a:close/>
              </a:path>
            </a:pathLst>
          </a:custGeom>
          <a:blipFill>
            <a:blip r:embed="rId5"/>
            <a:stretch>
              <a:fillRect l="0" t="-1120" r="0" b="-1120"/>
            </a:stretch>
          </a:blipFill>
        </p:spPr>
      </p:sp>
      <p:sp>
        <p:nvSpPr>
          <p:cNvPr name="TextBox 8" id="8"/>
          <p:cNvSpPr txBox="true"/>
          <p:nvPr/>
        </p:nvSpPr>
        <p:spPr>
          <a:xfrm rot="0">
            <a:off x="1222056" y="731735"/>
            <a:ext cx="16186334" cy="695300"/>
          </a:xfrm>
          <a:prstGeom prst="rect">
            <a:avLst/>
          </a:prstGeom>
        </p:spPr>
        <p:txBody>
          <a:bodyPr anchor="t" rtlCol="false" tIns="0" lIns="0" bIns="0" rIns="0">
            <a:spAutoFit/>
          </a:bodyPr>
          <a:lstStyle/>
          <a:p>
            <a:pPr algn="l">
              <a:lnSpc>
                <a:spcPts val="5398"/>
              </a:lnSpc>
            </a:pPr>
            <a:r>
              <a:rPr lang="en-US" sz="4498" b="true">
                <a:solidFill>
                  <a:srgbClr val="FFFFFF"/>
                </a:solidFill>
                <a:latin typeface="Arimo Bold"/>
                <a:ea typeface="Arimo Bold"/>
                <a:cs typeface="Arimo Bold"/>
                <a:sym typeface="Arimo Bold"/>
              </a:rPr>
              <a:t>Data Understanding</a:t>
            </a:r>
          </a:p>
        </p:txBody>
      </p:sp>
      <p:sp>
        <p:nvSpPr>
          <p:cNvPr name="TextBox 9" id="9"/>
          <p:cNvSpPr txBox="true"/>
          <p:nvPr/>
        </p:nvSpPr>
        <p:spPr>
          <a:xfrm rot="0">
            <a:off x="816875" y="1949652"/>
            <a:ext cx="6363206" cy="1695436"/>
          </a:xfrm>
          <a:prstGeom prst="rect">
            <a:avLst/>
          </a:prstGeom>
        </p:spPr>
        <p:txBody>
          <a:bodyPr anchor="t" rtlCol="false" tIns="0" lIns="0" bIns="0" rIns="0">
            <a:spAutoFit/>
          </a:bodyPr>
          <a:lstStyle/>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Moderate clas</a:t>
            </a:r>
            <a:r>
              <a:rPr lang="en-US" b="true" sz="2798">
                <a:solidFill>
                  <a:srgbClr val="FFFFFF"/>
                </a:solidFill>
                <a:latin typeface="Times New Roman Bold"/>
                <a:ea typeface="Times New Roman Bold"/>
                <a:cs typeface="Times New Roman Bold"/>
                <a:sym typeface="Times New Roman Bold"/>
              </a:rPr>
              <a:t>s imbalance</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Hue is not discriminative</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Brightness &amp; saturation shift</a:t>
            </a:r>
          </a:p>
          <a:p>
            <a:pPr algn="l" marL="604302" indent="-302151" lvl="1">
              <a:lnSpc>
                <a:spcPts val="3359"/>
              </a:lnSpc>
              <a:buFont typeface="Arial"/>
              <a:buChar char="•"/>
            </a:pPr>
            <a:r>
              <a:rPr lang="en-US" b="true" sz="2798">
                <a:solidFill>
                  <a:srgbClr val="FFFFFF"/>
                </a:solidFill>
                <a:latin typeface="Times New Roman Bold"/>
                <a:ea typeface="Times New Roman Bold"/>
                <a:cs typeface="Times New Roman Bold"/>
                <a:sym typeface="Times New Roman Bold"/>
              </a:rPr>
              <a:t>Stain intensity variation</a:t>
            </a:r>
          </a:p>
        </p:txBody>
      </p:sp>
      <p:grpSp>
        <p:nvGrpSpPr>
          <p:cNvPr name="Group 10" id="10"/>
          <p:cNvGrpSpPr/>
          <p:nvPr/>
        </p:nvGrpSpPr>
        <p:grpSpPr>
          <a:xfrm rot="0">
            <a:off x="17761578" y="9713952"/>
            <a:ext cx="1268668" cy="2170263"/>
            <a:chOff x="0" y="0"/>
            <a:chExt cx="431800" cy="738664"/>
          </a:xfrm>
        </p:grpSpPr>
        <p:sp>
          <p:nvSpPr>
            <p:cNvPr name="Freeform 11" id="11"/>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2" id="12"/>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15</a:t>
              </a:r>
            </a:p>
          </p:txBody>
        </p:sp>
      </p:grpSp>
      <p:sp>
        <p:nvSpPr>
          <p:cNvPr name="Freeform 13" id="13"/>
          <p:cNvSpPr/>
          <p:nvPr/>
        </p:nvSpPr>
        <p:spPr>
          <a:xfrm flipH="false" flipV="false" rot="0">
            <a:off x="7704024" y="3180200"/>
            <a:ext cx="9877473" cy="2674137"/>
          </a:xfrm>
          <a:custGeom>
            <a:avLst/>
            <a:gdLst/>
            <a:ahLst/>
            <a:cxnLst/>
            <a:rect r="r" b="b" t="t" l="l"/>
            <a:pathLst>
              <a:path h="2674137" w="9877473">
                <a:moveTo>
                  <a:pt x="0" y="0"/>
                </a:moveTo>
                <a:lnTo>
                  <a:pt x="9877474" y="0"/>
                </a:lnTo>
                <a:lnTo>
                  <a:pt x="9877474" y="2674138"/>
                </a:lnTo>
                <a:lnTo>
                  <a:pt x="0" y="2674138"/>
                </a:lnTo>
                <a:lnTo>
                  <a:pt x="0" y="0"/>
                </a:lnTo>
                <a:close/>
              </a:path>
            </a:pathLst>
          </a:custGeom>
          <a:blipFill>
            <a:blip r:embed="rId6"/>
            <a:stretch>
              <a:fillRect l="0" t="-4020" r="0" b="-4020"/>
            </a:stretch>
          </a:blipFill>
        </p:spPr>
      </p:sp>
      <p:sp>
        <p:nvSpPr>
          <p:cNvPr name="Freeform 14" id="14"/>
          <p:cNvSpPr/>
          <p:nvPr/>
        </p:nvSpPr>
        <p:spPr>
          <a:xfrm flipH="false" flipV="false" rot="0">
            <a:off x="10877940" y="6752081"/>
            <a:ext cx="4301832" cy="3532527"/>
          </a:xfrm>
          <a:custGeom>
            <a:avLst/>
            <a:gdLst/>
            <a:ahLst/>
            <a:cxnLst/>
            <a:rect r="r" b="b" t="t" l="l"/>
            <a:pathLst>
              <a:path h="3532527" w="4301832">
                <a:moveTo>
                  <a:pt x="0" y="0"/>
                </a:moveTo>
                <a:lnTo>
                  <a:pt x="4301832" y="0"/>
                </a:lnTo>
                <a:lnTo>
                  <a:pt x="4301832" y="3532526"/>
                </a:lnTo>
                <a:lnTo>
                  <a:pt x="0" y="3532526"/>
                </a:lnTo>
                <a:lnTo>
                  <a:pt x="0" y="0"/>
                </a:lnTo>
                <a:close/>
              </a:path>
            </a:pathLst>
          </a:custGeom>
          <a:blipFill>
            <a:blip r:embed="rId7"/>
            <a:stretch>
              <a:fillRect l="0" t="0" r="0" b="0"/>
            </a:stretch>
          </a:blipFill>
        </p:spPr>
      </p:sp>
      <p:sp>
        <p:nvSpPr>
          <p:cNvPr name="TextBox 15" id="15"/>
          <p:cNvSpPr txBox="true"/>
          <p:nvPr/>
        </p:nvSpPr>
        <p:spPr>
          <a:xfrm rot="0">
            <a:off x="402432" y="4326769"/>
            <a:ext cx="7068232" cy="371475"/>
          </a:xfrm>
          <a:prstGeom prst="rect">
            <a:avLst/>
          </a:prstGeom>
        </p:spPr>
        <p:txBody>
          <a:bodyPr anchor="t" rtlCol="false" tIns="0" lIns="0" bIns="0" rIns="0">
            <a:spAutoFit/>
          </a:bodyPr>
          <a:lstStyle/>
          <a:p>
            <a:pPr algn="ctr">
              <a:lnSpc>
                <a:spcPts val="2878"/>
              </a:lnSpc>
              <a:spcBef>
                <a:spcPct val="0"/>
              </a:spcBef>
            </a:pPr>
            <a:r>
              <a:rPr lang="en-US" sz="2399">
                <a:solidFill>
                  <a:srgbClr val="FFFFFF"/>
                </a:solidFill>
                <a:latin typeface="Arimo"/>
                <a:ea typeface="Arimo"/>
                <a:cs typeface="Arimo"/>
                <a:sym typeface="Arimo"/>
              </a:rPr>
              <a:t>Class balance bar chart</a:t>
            </a:r>
          </a:p>
        </p:txBody>
      </p:sp>
      <p:sp>
        <p:nvSpPr>
          <p:cNvPr name="TextBox 16" id="16"/>
          <p:cNvSpPr txBox="true"/>
          <p:nvPr/>
        </p:nvSpPr>
        <p:spPr>
          <a:xfrm rot="0">
            <a:off x="9687052" y="2435420"/>
            <a:ext cx="6271578" cy="371475"/>
          </a:xfrm>
          <a:prstGeom prst="rect">
            <a:avLst/>
          </a:prstGeom>
        </p:spPr>
        <p:txBody>
          <a:bodyPr anchor="t" rtlCol="false" tIns="0" lIns="0" bIns="0" rIns="0">
            <a:spAutoFit/>
          </a:bodyPr>
          <a:lstStyle/>
          <a:p>
            <a:pPr algn="ctr">
              <a:lnSpc>
                <a:spcPts val="2878"/>
              </a:lnSpc>
              <a:spcBef>
                <a:spcPct val="0"/>
              </a:spcBef>
            </a:pPr>
            <a:r>
              <a:rPr lang="en-US" sz="2399">
                <a:solidFill>
                  <a:srgbClr val="F9FAFC"/>
                </a:solidFill>
                <a:latin typeface="Arimo"/>
                <a:ea typeface="Arimo"/>
                <a:cs typeface="Arimo"/>
                <a:sym typeface="Arimo"/>
              </a:rPr>
              <a:t>HSV</a:t>
            </a:r>
            <a:r>
              <a:rPr lang="en-US" sz="2399">
                <a:solidFill>
                  <a:srgbClr val="F9FAFC"/>
                </a:solidFill>
                <a:latin typeface="Arimo"/>
                <a:ea typeface="Arimo"/>
                <a:cs typeface="Arimo"/>
                <a:sym typeface="Arimo"/>
              </a:rPr>
              <a:t> mean per patch distribution</a:t>
            </a:r>
            <a:r>
              <a:rPr lang="en-US" sz="2399">
                <a:solidFill>
                  <a:srgbClr val="000000"/>
                </a:solidFill>
                <a:latin typeface="Arimo"/>
                <a:ea typeface="Arimo"/>
                <a:cs typeface="Arimo"/>
                <a:sym typeface="Arimo"/>
              </a:rPr>
              <a:t>s</a:t>
            </a:r>
          </a:p>
        </p:txBody>
      </p:sp>
      <p:sp>
        <p:nvSpPr>
          <p:cNvPr name="TextBox 17" id="17"/>
          <p:cNvSpPr txBox="true"/>
          <p:nvPr/>
        </p:nvSpPr>
        <p:spPr>
          <a:xfrm rot="0">
            <a:off x="10782456" y="6112709"/>
            <a:ext cx="4397316" cy="371475"/>
          </a:xfrm>
          <a:prstGeom prst="rect">
            <a:avLst/>
          </a:prstGeom>
        </p:spPr>
        <p:txBody>
          <a:bodyPr anchor="t" rtlCol="false" tIns="0" lIns="0" bIns="0" rIns="0">
            <a:spAutoFit/>
          </a:bodyPr>
          <a:lstStyle/>
          <a:p>
            <a:pPr algn="ctr">
              <a:lnSpc>
                <a:spcPts val="2878"/>
              </a:lnSpc>
              <a:spcBef>
                <a:spcPct val="0"/>
              </a:spcBef>
            </a:pPr>
            <a:r>
              <a:rPr lang="en-US" sz="2399">
                <a:solidFill>
                  <a:srgbClr val="FFFFFF"/>
                </a:solidFill>
                <a:latin typeface="Arimo"/>
                <a:ea typeface="Arimo"/>
                <a:cs typeface="Arimo"/>
                <a:sym typeface="Arimo"/>
              </a:rPr>
              <a:t>RGB</a:t>
            </a:r>
            <a:r>
              <a:rPr lang="en-US" sz="2399">
                <a:solidFill>
                  <a:srgbClr val="FFFFFF"/>
                </a:solidFill>
                <a:latin typeface="Arimo"/>
                <a:ea typeface="Arimo"/>
                <a:cs typeface="Arimo"/>
                <a:sym typeface="Arimo"/>
              </a:rPr>
              <a:t> channel KDE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9" cy="807910"/>
            <a:chOff x="0" y="0"/>
            <a:chExt cx="91439" cy="1077213"/>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0"/>
            <a:chOff x="0" y="0"/>
            <a:chExt cx="1238251" cy="1077213"/>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sp>
        <p:nvSpPr>
          <p:cNvPr name="Freeform 6" id="6"/>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100136" y="4549835"/>
            <a:ext cx="5778057" cy="3214044"/>
          </a:xfrm>
          <a:custGeom>
            <a:avLst/>
            <a:gdLst/>
            <a:ahLst/>
            <a:cxnLst/>
            <a:rect r="r" b="b" t="t" l="l"/>
            <a:pathLst>
              <a:path h="3214044" w="5778057">
                <a:moveTo>
                  <a:pt x="0" y="0"/>
                </a:moveTo>
                <a:lnTo>
                  <a:pt x="5778057" y="0"/>
                </a:lnTo>
                <a:lnTo>
                  <a:pt x="5778057" y="3214044"/>
                </a:lnTo>
                <a:lnTo>
                  <a:pt x="0" y="3214044"/>
                </a:lnTo>
                <a:lnTo>
                  <a:pt x="0" y="0"/>
                </a:lnTo>
                <a:close/>
              </a:path>
            </a:pathLst>
          </a:custGeom>
          <a:blipFill>
            <a:blip r:embed="rId5"/>
            <a:stretch>
              <a:fillRect l="0" t="0" r="0" b="0"/>
            </a:stretch>
          </a:blipFill>
        </p:spPr>
      </p:sp>
      <p:sp>
        <p:nvSpPr>
          <p:cNvPr name="Freeform 8" id="8"/>
          <p:cNvSpPr/>
          <p:nvPr/>
        </p:nvSpPr>
        <p:spPr>
          <a:xfrm flipH="false" flipV="false" rot="0">
            <a:off x="1100136" y="7797518"/>
            <a:ext cx="5778057" cy="1848978"/>
          </a:xfrm>
          <a:custGeom>
            <a:avLst/>
            <a:gdLst/>
            <a:ahLst/>
            <a:cxnLst/>
            <a:rect r="r" b="b" t="t" l="l"/>
            <a:pathLst>
              <a:path h="1848978" w="5778057">
                <a:moveTo>
                  <a:pt x="0" y="0"/>
                </a:moveTo>
                <a:lnTo>
                  <a:pt x="5778057" y="0"/>
                </a:lnTo>
                <a:lnTo>
                  <a:pt x="5778057" y="1848978"/>
                </a:lnTo>
                <a:lnTo>
                  <a:pt x="0" y="1848978"/>
                </a:lnTo>
                <a:lnTo>
                  <a:pt x="0" y="0"/>
                </a:lnTo>
                <a:close/>
              </a:path>
            </a:pathLst>
          </a:custGeom>
          <a:blipFill>
            <a:blip r:embed="rId6"/>
            <a:stretch>
              <a:fillRect l="0" t="0" r="0" b="0"/>
            </a:stretch>
          </a:blipFill>
        </p:spPr>
      </p:sp>
      <p:sp>
        <p:nvSpPr>
          <p:cNvPr name="TextBox 9" id="9"/>
          <p:cNvSpPr txBox="true"/>
          <p:nvPr/>
        </p:nvSpPr>
        <p:spPr>
          <a:xfrm rot="0">
            <a:off x="1222056" y="665905"/>
            <a:ext cx="16186334" cy="695300"/>
          </a:xfrm>
          <a:prstGeom prst="rect">
            <a:avLst/>
          </a:prstGeom>
        </p:spPr>
        <p:txBody>
          <a:bodyPr anchor="t" rtlCol="false" tIns="0" lIns="0" bIns="0" rIns="0">
            <a:spAutoFit/>
          </a:bodyPr>
          <a:lstStyle/>
          <a:p>
            <a:pPr algn="l">
              <a:lnSpc>
                <a:spcPts val="5398"/>
              </a:lnSpc>
            </a:pPr>
            <a:r>
              <a:rPr lang="en-US" sz="4498" b="true">
                <a:solidFill>
                  <a:srgbClr val="FFFFFF"/>
                </a:solidFill>
                <a:latin typeface="Arimo Bold"/>
                <a:ea typeface="Arimo Bold"/>
                <a:cs typeface="Arimo Bold"/>
                <a:sym typeface="Arimo Bold"/>
              </a:rPr>
              <a:t>Data Preparation</a:t>
            </a:r>
          </a:p>
        </p:txBody>
      </p:sp>
      <p:sp>
        <p:nvSpPr>
          <p:cNvPr name="TextBox 10" id="10"/>
          <p:cNvSpPr txBox="true"/>
          <p:nvPr/>
        </p:nvSpPr>
        <p:spPr>
          <a:xfrm rot="0">
            <a:off x="1222056" y="1883257"/>
            <a:ext cx="11775414" cy="1276336"/>
          </a:xfrm>
          <a:prstGeom prst="rect">
            <a:avLst/>
          </a:prstGeom>
        </p:spPr>
        <p:txBody>
          <a:bodyPr anchor="t" rtlCol="false" tIns="0" lIns="0" bIns="0" rIns="0">
            <a:spAutoFit/>
          </a:bodyPr>
          <a:lstStyle/>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Stratified split</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Macenko stain normalization to reduce stain intensity variation</a:t>
            </a:r>
          </a:p>
          <a:p>
            <a:pPr algn="l" marL="604302" indent="-302151" lvl="1">
              <a:lnSpc>
                <a:spcPts val="3359"/>
              </a:lnSpc>
              <a:buFont typeface="Arial"/>
              <a:buChar char="•"/>
            </a:pPr>
            <a:r>
              <a:rPr lang="en-US" b="true" sz="2798">
                <a:solidFill>
                  <a:srgbClr val="FFFFFF"/>
                </a:solidFill>
                <a:latin typeface="Times New Roman Bold"/>
                <a:ea typeface="Times New Roman Bold"/>
                <a:cs typeface="Times New Roman Bold"/>
                <a:sym typeface="Times New Roman Bold"/>
              </a:rPr>
              <a:t>Careful color augmentation to simulate realistic stain differences</a:t>
            </a:r>
          </a:p>
        </p:txBody>
      </p:sp>
      <p:grpSp>
        <p:nvGrpSpPr>
          <p:cNvPr name="Group 11" id="11"/>
          <p:cNvGrpSpPr/>
          <p:nvPr/>
        </p:nvGrpSpPr>
        <p:grpSpPr>
          <a:xfrm rot="0">
            <a:off x="17761578" y="9713952"/>
            <a:ext cx="1268668" cy="2170263"/>
            <a:chOff x="0" y="0"/>
            <a:chExt cx="431800" cy="738664"/>
          </a:xfrm>
        </p:grpSpPr>
        <p:sp>
          <p:nvSpPr>
            <p:cNvPr name="Freeform 12" id="12"/>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3" id="13"/>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16</a:t>
              </a:r>
            </a:p>
          </p:txBody>
        </p:sp>
      </p:grpSp>
      <p:sp>
        <p:nvSpPr>
          <p:cNvPr name="Freeform 14" id="14"/>
          <p:cNvSpPr/>
          <p:nvPr/>
        </p:nvSpPr>
        <p:spPr>
          <a:xfrm flipH="false" flipV="false" rot="0">
            <a:off x="8321953" y="5595647"/>
            <a:ext cx="3971686" cy="3261421"/>
          </a:xfrm>
          <a:custGeom>
            <a:avLst/>
            <a:gdLst/>
            <a:ahLst/>
            <a:cxnLst/>
            <a:rect r="r" b="b" t="t" l="l"/>
            <a:pathLst>
              <a:path h="3261421" w="3971686">
                <a:moveTo>
                  <a:pt x="0" y="0"/>
                </a:moveTo>
                <a:lnTo>
                  <a:pt x="3971686" y="0"/>
                </a:lnTo>
                <a:lnTo>
                  <a:pt x="3971686" y="3261421"/>
                </a:lnTo>
                <a:lnTo>
                  <a:pt x="0" y="3261421"/>
                </a:lnTo>
                <a:lnTo>
                  <a:pt x="0" y="0"/>
                </a:lnTo>
                <a:close/>
              </a:path>
            </a:pathLst>
          </a:custGeom>
          <a:blipFill>
            <a:blip r:embed="rId7"/>
            <a:stretch>
              <a:fillRect l="0" t="0" r="0" b="0"/>
            </a:stretch>
          </a:blipFill>
        </p:spPr>
      </p:sp>
      <p:sp>
        <p:nvSpPr>
          <p:cNvPr name="Freeform 15" id="15"/>
          <p:cNvSpPr/>
          <p:nvPr/>
        </p:nvSpPr>
        <p:spPr>
          <a:xfrm flipH="false" flipV="false" rot="0">
            <a:off x="13905478" y="5595647"/>
            <a:ext cx="3510736" cy="3261421"/>
          </a:xfrm>
          <a:custGeom>
            <a:avLst/>
            <a:gdLst/>
            <a:ahLst/>
            <a:cxnLst/>
            <a:rect r="r" b="b" t="t" l="l"/>
            <a:pathLst>
              <a:path h="3261421" w="3510736">
                <a:moveTo>
                  <a:pt x="0" y="0"/>
                </a:moveTo>
                <a:lnTo>
                  <a:pt x="3510736" y="0"/>
                </a:lnTo>
                <a:lnTo>
                  <a:pt x="3510736" y="3261421"/>
                </a:lnTo>
                <a:lnTo>
                  <a:pt x="0" y="3261421"/>
                </a:lnTo>
                <a:lnTo>
                  <a:pt x="0" y="0"/>
                </a:lnTo>
                <a:close/>
              </a:path>
            </a:pathLst>
          </a:custGeom>
          <a:blipFill>
            <a:blip r:embed="rId8"/>
            <a:stretch>
              <a:fillRect l="0" t="-649" r="0" b="-649"/>
            </a:stretch>
          </a:blipFill>
        </p:spPr>
      </p:sp>
      <p:sp>
        <p:nvSpPr>
          <p:cNvPr name="Freeform 16" id="16"/>
          <p:cNvSpPr/>
          <p:nvPr/>
        </p:nvSpPr>
        <p:spPr>
          <a:xfrm flipH="false" flipV="false" rot="72191">
            <a:off x="12654882" y="6773454"/>
            <a:ext cx="891595" cy="635685"/>
          </a:xfrm>
          <a:custGeom>
            <a:avLst/>
            <a:gdLst/>
            <a:ahLst/>
            <a:cxnLst/>
            <a:rect r="r" b="b" t="t" l="l"/>
            <a:pathLst>
              <a:path h="635685" w="891595">
                <a:moveTo>
                  <a:pt x="0" y="0"/>
                </a:moveTo>
                <a:lnTo>
                  <a:pt x="891595" y="0"/>
                </a:lnTo>
                <a:lnTo>
                  <a:pt x="891595" y="635685"/>
                </a:lnTo>
                <a:lnTo>
                  <a:pt x="0" y="635685"/>
                </a:lnTo>
                <a:lnTo>
                  <a:pt x="0" y="0"/>
                </a:lnTo>
                <a:close/>
              </a:path>
            </a:pathLst>
          </a:custGeom>
          <a:blipFill>
            <a:blip r:embed="rId9">
              <a:extLst>
                <a:ext uri="{96DAC541-7B7A-43D3-8B79-37D633B846F1}">
                  <asvg:svgBlip xmlns:asvg="http://schemas.microsoft.com/office/drawing/2016/SVG/main" r:embed="rId10"/>
                </a:ext>
              </a:extLst>
            </a:blip>
            <a:stretch>
              <a:fillRect l="-14" t="0" r="-14" b="0"/>
            </a:stretch>
          </a:blipFill>
        </p:spPr>
      </p:sp>
      <p:sp>
        <p:nvSpPr>
          <p:cNvPr name="TextBox 17" id="17"/>
          <p:cNvSpPr txBox="true"/>
          <p:nvPr/>
        </p:nvSpPr>
        <p:spPr>
          <a:xfrm rot="0">
            <a:off x="1324540" y="3839181"/>
            <a:ext cx="5329249" cy="428625"/>
          </a:xfrm>
          <a:prstGeom prst="rect">
            <a:avLst/>
          </a:prstGeom>
        </p:spPr>
        <p:txBody>
          <a:bodyPr anchor="t" rtlCol="false" tIns="0" lIns="0" bIns="0" rIns="0">
            <a:spAutoFit/>
          </a:bodyPr>
          <a:lstStyle/>
          <a:p>
            <a:pPr algn="ctr">
              <a:lnSpc>
                <a:spcPts val="3240"/>
              </a:lnSpc>
              <a:spcBef>
                <a:spcPct val="0"/>
              </a:spcBef>
            </a:pPr>
            <a:r>
              <a:rPr lang="en-US" b="true" sz="2700">
                <a:solidFill>
                  <a:srgbClr val="FFFFFF"/>
                </a:solidFill>
                <a:latin typeface="Times New Roman Bold"/>
                <a:ea typeface="Times New Roman Bold"/>
                <a:cs typeface="Times New Roman Bold"/>
                <a:sym typeface="Times New Roman Bold"/>
              </a:rPr>
              <a:t> stratified 70/15/15 split</a:t>
            </a:r>
          </a:p>
        </p:txBody>
      </p:sp>
      <p:sp>
        <p:nvSpPr>
          <p:cNvPr name="TextBox 18" id="18"/>
          <p:cNvSpPr txBox="true"/>
          <p:nvPr/>
        </p:nvSpPr>
        <p:spPr>
          <a:xfrm rot="0">
            <a:off x="9373788" y="4714875"/>
            <a:ext cx="7453782" cy="428625"/>
          </a:xfrm>
          <a:prstGeom prst="rect">
            <a:avLst/>
          </a:prstGeom>
        </p:spPr>
        <p:txBody>
          <a:bodyPr anchor="t" rtlCol="false" tIns="0" lIns="0" bIns="0" rIns="0">
            <a:spAutoFit/>
          </a:bodyPr>
          <a:lstStyle/>
          <a:p>
            <a:pPr algn="ctr">
              <a:lnSpc>
                <a:spcPts val="3240"/>
              </a:lnSpc>
              <a:spcBef>
                <a:spcPct val="0"/>
              </a:spcBef>
            </a:pPr>
            <a:r>
              <a:rPr lang="en-US" b="true" sz="2700">
                <a:solidFill>
                  <a:srgbClr val="FFFFFF"/>
                </a:solidFill>
                <a:latin typeface="Times New Roman Bold"/>
                <a:ea typeface="Times New Roman Bold"/>
                <a:cs typeface="Times New Roman Bold"/>
                <a:sym typeface="Times New Roman Bold"/>
              </a:rPr>
              <a:t> Stain normalization &amp; Color enhancement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9" cy="807910"/>
            <a:chOff x="0" y="0"/>
            <a:chExt cx="91439" cy="1077213"/>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0"/>
            <a:chOff x="0" y="0"/>
            <a:chExt cx="1238251" cy="1077213"/>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sp>
        <p:nvSpPr>
          <p:cNvPr name="Freeform 6" id="6"/>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222056" y="665905"/>
            <a:ext cx="16186334" cy="695300"/>
          </a:xfrm>
          <a:prstGeom prst="rect">
            <a:avLst/>
          </a:prstGeom>
        </p:spPr>
        <p:txBody>
          <a:bodyPr anchor="t" rtlCol="false" tIns="0" lIns="0" bIns="0" rIns="0">
            <a:spAutoFit/>
          </a:bodyPr>
          <a:lstStyle/>
          <a:p>
            <a:pPr algn="l">
              <a:lnSpc>
                <a:spcPts val="5398"/>
              </a:lnSpc>
            </a:pPr>
            <a:r>
              <a:rPr lang="en-US" sz="4498" b="true">
                <a:solidFill>
                  <a:srgbClr val="FFFFFF"/>
                </a:solidFill>
                <a:latin typeface="Arimo Bold"/>
                <a:ea typeface="Arimo Bold"/>
                <a:cs typeface="Arimo Bold"/>
                <a:sym typeface="Arimo Bold"/>
              </a:rPr>
              <a:t>Data Preparation (Details)</a:t>
            </a:r>
          </a:p>
        </p:txBody>
      </p:sp>
      <p:sp>
        <p:nvSpPr>
          <p:cNvPr name="TextBox 8" id="8"/>
          <p:cNvSpPr txBox="true"/>
          <p:nvPr/>
        </p:nvSpPr>
        <p:spPr>
          <a:xfrm rot="0">
            <a:off x="442685" y="1899006"/>
            <a:ext cx="16186334" cy="1276336"/>
          </a:xfrm>
          <a:prstGeom prst="rect">
            <a:avLst/>
          </a:prstGeom>
        </p:spPr>
        <p:txBody>
          <a:bodyPr anchor="t" rtlCol="false" tIns="0" lIns="0" bIns="0" rIns="0">
            <a:spAutoFit/>
          </a:bodyPr>
          <a:lstStyle/>
          <a:p>
            <a:pPr algn="l" marL="604302" indent="-302151" lvl="1">
              <a:lnSpc>
                <a:spcPts val="3359"/>
              </a:lnSpc>
              <a:buFont typeface="Arial"/>
              <a:buChar char="•"/>
            </a:pPr>
            <a:r>
              <a:rPr lang="en-US" b="true" sz="2798">
                <a:solidFill>
                  <a:srgbClr val="FFFFFF"/>
                </a:solidFill>
                <a:latin typeface="Times New Roman Bold"/>
                <a:ea typeface="Times New Roman Bold"/>
                <a:cs typeface="Times New Roman Bold"/>
                <a:sym typeface="Times New Roman Bold"/>
              </a:rPr>
              <a:t> Raw patch → (optional) </a:t>
            </a:r>
            <a:r>
              <a:rPr lang="en-US" b="true" sz="2798">
                <a:solidFill>
                  <a:srgbClr val="FFFFFF"/>
                </a:solidFill>
                <a:latin typeface="Times New Roman Bold"/>
                <a:ea typeface="Times New Roman Bold"/>
                <a:cs typeface="Times New Roman Bold"/>
                <a:sym typeface="Times New Roman Bold"/>
              </a:rPr>
              <a:t>Macenko-normalized patch → Resize to 256×256 → Train loader (with / without color aug)</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 2×2 design: {Raw, Macenko} × {Color augmentation ON, Color augmentation OFF}</a:t>
            </a:r>
          </a:p>
        </p:txBody>
      </p:sp>
      <p:grpSp>
        <p:nvGrpSpPr>
          <p:cNvPr name="Group 9" id="9"/>
          <p:cNvGrpSpPr/>
          <p:nvPr/>
        </p:nvGrpSpPr>
        <p:grpSpPr>
          <a:xfrm rot="0">
            <a:off x="17761578" y="9713952"/>
            <a:ext cx="1268668" cy="2170263"/>
            <a:chOff x="0" y="0"/>
            <a:chExt cx="431800" cy="738664"/>
          </a:xfrm>
        </p:grpSpPr>
        <p:sp>
          <p:nvSpPr>
            <p:cNvPr name="Freeform 10" id="10"/>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1" id="11"/>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17</a:t>
              </a:r>
            </a:p>
          </p:txBody>
        </p:sp>
      </p:grpSp>
      <p:grpSp>
        <p:nvGrpSpPr>
          <p:cNvPr name="Group 12" id="12"/>
          <p:cNvGrpSpPr/>
          <p:nvPr/>
        </p:nvGrpSpPr>
        <p:grpSpPr>
          <a:xfrm rot="0">
            <a:off x="0" y="3666362"/>
            <a:ext cx="18288000" cy="5829300"/>
            <a:chOff x="0" y="0"/>
            <a:chExt cx="24384000" cy="7772400"/>
          </a:xfrm>
        </p:grpSpPr>
        <p:sp>
          <p:nvSpPr>
            <p:cNvPr name="Freeform 13" id="13"/>
            <p:cNvSpPr/>
            <p:nvPr/>
          </p:nvSpPr>
          <p:spPr>
            <a:xfrm flipH="false" flipV="false" rot="0">
              <a:off x="0" y="0"/>
              <a:ext cx="24384000" cy="7772400"/>
            </a:xfrm>
            <a:custGeom>
              <a:avLst/>
              <a:gdLst/>
              <a:ahLst/>
              <a:cxnLst/>
              <a:rect r="r" b="b" t="t" l="l"/>
              <a:pathLst>
                <a:path h="7772400" w="24384000">
                  <a:moveTo>
                    <a:pt x="0" y="0"/>
                  </a:moveTo>
                  <a:lnTo>
                    <a:pt x="24384000" y="0"/>
                  </a:lnTo>
                  <a:lnTo>
                    <a:pt x="24384000" y="7772400"/>
                  </a:lnTo>
                  <a:lnTo>
                    <a:pt x="0" y="7772400"/>
                  </a:lnTo>
                  <a:close/>
                </a:path>
              </a:pathLst>
            </a:custGeom>
            <a:solidFill>
              <a:srgbClr val="F7B902"/>
            </a:solidFill>
          </p:spPr>
        </p:sp>
      </p:grpSp>
      <p:sp>
        <p:nvSpPr>
          <p:cNvPr name="TextBox 14" id="14"/>
          <p:cNvSpPr txBox="true"/>
          <p:nvPr/>
        </p:nvSpPr>
        <p:spPr>
          <a:xfrm rot="0">
            <a:off x="171448" y="4198593"/>
            <a:ext cx="14513825" cy="3295650"/>
          </a:xfrm>
          <a:prstGeom prst="rect">
            <a:avLst/>
          </a:prstGeom>
        </p:spPr>
        <p:txBody>
          <a:bodyPr anchor="t" rtlCol="false" tIns="0" lIns="0" bIns="0" rIns="0">
            <a:spAutoFit/>
          </a:bodyPr>
          <a:lstStyle/>
          <a:p>
            <a:pPr algn="l">
              <a:lnSpc>
                <a:spcPts val="3240"/>
              </a:lnSpc>
            </a:pPr>
            <a:r>
              <a:rPr lang="en-US" sz="2700" b="true">
                <a:solidFill>
                  <a:srgbClr val="FFFFFF"/>
                </a:solidFill>
                <a:latin typeface="Times New Roman Bold"/>
                <a:ea typeface="Times New Roman Bold"/>
                <a:cs typeface="Times New Roman Bold"/>
                <a:sym typeface="Times New Roman Bold"/>
              </a:rPr>
              <a:t>Stain normalization – Macenko</a:t>
            </a:r>
          </a:p>
          <a:p>
            <a:pPr algn="l">
              <a:lnSpc>
                <a:spcPts val="3240"/>
              </a:lnSpc>
            </a:pPr>
            <a:r>
              <a:rPr lang="en-US" sz="2700" b="true">
                <a:solidFill>
                  <a:srgbClr val="FFFFFF"/>
                </a:solidFill>
                <a:latin typeface="Times New Roman Bold"/>
                <a:ea typeface="Times New Roman Bold"/>
                <a:cs typeface="Times New Roman Bold"/>
                <a:sym typeface="Times New Roman Bold"/>
              </a:rPr>
              <a:t>• Goal: reduce slide-to-slide stain intensity variation</a:t>
            </a:r>
          </a:p>
          <a:p>
            <a:pPr algn="l">
              <a:lnSpc>
                <a:spcPts val="3240"/>
              </a:lnSpc>
            </a:pPr>
            <a:r>
              <a:rPr lang="en-US" sz="2700" b="true">
                <a:solidFill>
                  <a:srgbClr val="FFFFFF"/>
                </a:solidFill>
                <a:latin typeface="Times New Roman Bold"/>
                <a:ea typeface="Times New Roman Bold"/>
                <a:cs typeface="Times New Roman Bold"/>
                <a:sym typeface="Times New Roman Bold"/>
              </a:rPr>
              <a:t>• Method (Macenko on H&amp;E patches):</a:t>
            </a:r>
          </a:p>
          <a:p>
            <a:pPr algn="l">
              <a:lnSpc>
                <a:spcPts val="3240"/>
              </a:lnSpc>
            </a:pPr>
            <a:r>
              <a:rPr lang="en-US" sz="2700" b="true">
                <a:solidFill>
                  <a:srgbClr val="FFFFFF"/>
                </a:solidFill>
                <a:latin typeface="Times New Roman Bold"/>
                <a:ea typeface="Times New Roman Bold"/>
                <a:cs typeface="Times New Roman Bold"/>
                <a:sym typeface="Times New Roman Bold"/>
              </a:rPr>
              <a:t>  – Convert RGB image to optical density (OD) space</a:t>
            </a:r>
          </a:p>
          <a:p>
            <a:pPr algn="l">
              <a:lnSpc>
                <a:spcPts val="3240"/>
              </a:lnSpc>
            </a:pPr>
            <a:r>
              <a:rPr lang="en-US" sz="2700" b="true">
                <a:solidFill>
                  <a:srgbClr val="FFFFFF"/>
                </a:solidFill>
                <a:latin typeface="Times New Roman Bold"/>
                <a:ea typeface="Times New Roman Bold"/>
                <a:cs typeface="Times New Roman Bold"/>
                <a:sym typeface="Times New Roman Bold"/>
              </a:rPr>
              <a:t>  – Estimate two stain basis vectors for Hematoxylin &amp; Eosin</a:t>
            </a:r>
          </a:p>
          <a:p>
            <a:pPr algn="l">
              <a:lnSpc>
                <a:spcPts val="3240"/>
              </a:lnSpc>
            </a:pPr>
            <a:r>
              <a:rPr lang="en-US" sz="2700" b="true">
                <a:solidFill>
                  <a:srgbClr val="FFFFFF"/>
                </a:solidFill>
                <a:latin typeface="Times New Roman Bold"/>
                <a:ea typeface="Times New Roman Bold"/>
                <a:cs typeface="Times New Roman Bold"/>
                <a:sym typeface="Times New Roman Bold"/>
              </a:rPr>
              <a:t>  – Project each patch onto this basis and align stain intensities</a:t>
            </a:r>
          </a:p>
          <a:p>
            <a:pPr algn="l">
              <a:lnSpc>
                <a:spcPts val="3240"/>
              </a:lnSpc>
            </a:pPr>
            <a:r>
              <a:rPr lang="en-US" sz="2700" b="true">
                <a:solidFill>
                  <a:srgbClr val="FFFFFF"/>
                </a:solidFill>
                <a:latin typeface="Times New Roman Bold"/>
                <a:ea typeface="Times New Roman Bold"/>
                <a:cs typeface="Times New Roman Bold"/>
                <a:sym typeface="Times New Roman Bold"/>
              </a:rPr>
              <a:t>  – Reconstruct a normalized RGB patch with consistent stain colorsColor augmentation strategy</a:t>
            </a:r>
          </a:p>
          <a:p>
            <a:pPr algn="l">
              <a:lnSpc>
                <a:spcPts val="3240"/>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9" cy="807910"/>
            <a:chOff x="0" y="0"/>
            <a:chExt cx="91439" cy="1077213"/>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0"/>
            <a:chOff x="0" y="0"/>
            <a:chExt cx="1238251" cy="1077213"/>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sp>
        <p:nvSpPr>
          <p:cNvPr name="Freeform 6" id="6"/>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222056" y="665905"/>
            <a:ext cx="16186334" cy="695300"/>
          </a:xfrm>
          <a:prstGeom prst="rect">
            <a:avLst/>
          </a:prstGeom>
        </p:spPr>
        <p:txBody>
          <a:bodyPr anchor="t" rtlCol="false" tIns="0" lIns="0" bIns="0" rIns="0">
            <a:spAutoFit/>
          </a:bodyPr>
          <a:lstStyle/>
          <a:p>
            <a:pPr algn="l">
              <a:lnSpc>
                <a:spcPts val="5398"/>
              </a:lnSpc>
            </a:pPr>
            <a:r>
              <a:rPr lang="en-US" sz="4498" b="true">
                <a:solidFill>
                  <a:srgbClr val="FFFFFF"/>
                </a:solidFill>
                <a:latin typeface="Arimo Bold"/>
                <a:ea typeface="Arimo Bold"/>
                <a:cs typeface="Arimo Bold"/>
                <a:sym typeface="Arimo Bold"/>
              </a:rPr>
              <a:t>Data Preparation (Details)</a:t>
            </a:r>
          </a:p>
        </p:txBody>
      </p:sp>
      <p:sp>
        <p:nvSpPr>
          <p:cNvPr name="TextBox 8" id="8"/>
          <p:cNvSpPr txBox="true"/>
          <p:nvPr/>
        </p:nvSpPr>
        <p:spPr>
          <a:xfrm rot="0">
            <a:off x="442685" y="1899006"/>
            <a:ext cx="16186334" cy="1276336"/>
          </a:xfrm>
          <a:prstGeom prst="rect">
            <a:avLst/>
          </a:prstGeom>
        </p:spPr>
        <p:txBody>
          <a:bodyPr anchor="t" rtlCol="false" tIns="0" lIns="0" bIns="0" rIns="0">
            <a:spAutoFit/>
          </a:bodyPr>
          <a:lstStyle/>
          <a:p>
            <a:pPr algn="l" marL="604302" indent="-302151" lvl="1">
              <a:lnSpc>
                <a:spcPts val="3359"/>
              </a:lnSpc>
              <a:buFont typeface="Arial"/>
              <a:buChar char="•"/>
            </a:pPr>
            <a:r>
              <a:rPr lang="en-US" b="true" sz="2798">
                <a:solidFill>
                  <a:srgbClr val="FFFFFF"/>
                </a:solidFill>
                <a:latin typeface="Times New Roman Bold"/>
                <a:ea typeface="Times New Roman Bold"/>
                <a:cs typeface="Times New Roman Bold"/>
                <a:sym typeface="Times New Roman Bold"/>
              </a:rPr>
              <a:t> Raw patch → (optional) </a:t>
            </a:r>
            <a:r>
              <a:rPr lang="en-US" b="true" sz="2798">
                <a:solidFill>
                  <a:srgbClr val="FFFFFF"/>
                </a:solidFill>
                <a:latin typeface="Times New Roman Bold"/>
                <a:ea typeface="Times New Roman Bold"/>
                <a:cs typeface="Times New Roman Bold"/>
                <a:sym typeface="Times New Roman Bold"/>
              </a:rPr>
              <a:t>Macenko-normalized patch → Resize to 256×256 → Train loader (with / without color aug)</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 2×2 design: {Raw, Macenko} × {Color augmentation ON, Color augmentation OFF}</a:t>
            </a:r>
          </a:p>
        </p:txBody>
      </p:sp>
      <p:grpSp>
        <p:nvGrpSpPr>
          <p:cNvPr name="Group 9" id="9"/>
          <p:cNvGrpSpPr/>
          <p:nvPr/>
        </p:nvGrpSpPr>
        <p:grpSpPr>
          <a:xfrm rot="0">
            <a:off x="17761578" y="9713952"/>
            <a:ext cx="1268668" cy="2170263"/>
            <a:chOff x="0" y="0"/>
            <a:chExt cx="431800" cy="738664"/>
          </a:xfrm>
        </p:grpSpPr>
        <p:sp>
          <p:nvSpPr>
            <p:cNvPr name="Freeform 10" id="10"/>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1" id="11"/>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18</a:t>
              </a:r>
            </a:p>
          </p:txBody>
        </p:sp>
      </p:grpSp>
      <p:grpSp>
        <p:nvGrpSpPr>
          <p:cNvPr name="Group 12" id="12"/>
          <p:cNvGrpSpPr/>
          <p:nvPr/>
        </p:nvGrpSpPr>
        <p:grpSpPr>
          <a:xfrm rot="0">
            <a:off x="0" y="3666362"/>
            <a:ext cx="18288000" cy="5829300"/>
            <a:chOff x="0" y="0"/>
            <a:chExt cx="24384000" cy="7772400"/>
          </a:xfrm>
        </p:grpSpPr>
        <p:sp>
          <p:nvSpPr>
            <p:cNvPr name="Freeform 13" id="13"/>
            <p:cNvSpPr/>
            <p:nvPr/>
          </p:nvSpPr>
          <p:spPr>
            <a:xfrm flipH="false" flipV="false" rot="0">
              <a:off x="0" y="0"/>
              <a:ext cx="24384000" cy="7772400"/>
            </a:xfrm>
            <a:custGeom>
              <a:avLst/>
              <a:gdLst/>
              <a:ahLst/>
              <a:cxnLst/>
              <a:rect r="r" b="b" t="t" l="l"/>
              <a:pathLst>
                <a:path h="7772400" w="24384000">
                  <a:moveTo>
                    <a:pt x="0" y="0"/>
                  </a:moveTo>
                  <a:lnTo>
                    <a:pt x="24384000" y="0"/>
                  </a:lnTo>
                  <a:lnTo>
                    <a:pt x="24384000" y="7772400"/>
                  </a:lnTo>
                  <a:lnTo>
                    <a:pt x="0" y="7772400"/>
                  </a:lnTo>
                  <a:close/>
                </a:path>
              </a:pathLst>
            </a:custGeom>
            <a:solidFill>
              <a:srgbClr val="F7B902"/>
            </a:solidFill>
          </p:spPr>
        </p:sp>
      </p:grpSp>
      <p:sp>
        <p:nvSpPr>
          <p:cNvPr name="TextBox 14" id="14"/>
          <p:cNvSpPr txBox="true"/>
          <p:nvPr/>
        </p:nvSpPr>
        <p:spPr>
          <a:xfrm rot="0">
            <a:off x="171448" y="4198593"/>
            <a:ext cx="14513825" cy="5343525"/>
          </a:xfrm>
          <a:prstGeom prst="rect">
            <a:avLst/>
          </a:prstGeom>
        </p:spPr>
        <p:txBody>
          <a:bodyPr anchor="t" rtlCol="false" tIns="0" lIns="0" bIns="0" rIns="0">
            <a:spAutoFit/>
          </a:bodyPr>
          <a:lstStyle/>
          <a:p>
            <a:pPr algn="l">
              <a:lnSpc>
                <a:spcPts val="3240"/>
              </a:lnSpc>
            </a:pPr>
            <a:r>
              <a:rPr lang="en-US" sz="2700" b="true">
                <a:solidFill>
                  <a:srgbClr val="FFFFFF"/>
                </a:solidFill>
                <a:latin typeface="Times New Roman Bold"/>
                <a:ea typeface="Times New Roman Bold"/>
                <a:cs typeface="Times New Roman Bold"/>
                <a:sym typeface="Times New Roman Bold"/>
              </a:rPr>
              <a:t>Color augmentation strategy</a:t>
            </a:r>
          </a:p>
          <a:p>
            <a:pPr algn="l">
              <a:lnSpc>
                <a:spcPts val="3240"/>
              </a:lnSpc>
            </a:pPr>
            <a:r>
              <a:rPr lang="en-US" sz="2700" b="true">
                <a:solidFill>
                  <a:srgbClr val="FFFFFF"/>
                </a:solidFill>
                <a:latin typeface="Times New Roman Bold"/>
                <a:ea typeface="Times New Roman Bold"/>
                <a:cs typeface="Times New Roman Bold"/>
                <a:sym typeface="Times New Roman Bold"/>
              </a:rPr>
              <a:t>• Raw HCD:</a:t>
            </a:r>
          </a:p>
          <a:p>
            <a:pPr algn="l">
              <a:lnSpc>
                <a:spcPts val="3240"/>
              </a:lnSpc>
            </a:pPr>
            <a:r>
              <a:rPr lang="en-US" sz="2700" b="true">
                <a:solidFill>
                  <a:srgbClr val="FFFFFF"/>
                </a:solidFill>
                <a:latin typeface="Times New Roman Bold"/>
                <a:ea typeface="Times New Roman Bold"/>
                <a:cs typeface="Times New Roman Bold"/>
                <a:sym typeface="Times New Roman Bold"/>
              </a:rPr>
              <a:t>  – OneOf three branches with moderate brightness/contrast + gamma</a:t>
            </a:r>
          </a:p>
          <a:p>
            <a:pPr algn="l">
              <a:lnSpc>
                <a:spcPts val="3240"/>
              </a:lnSpc>
            </a:pPr>
            <a:r>
              <a:rPr lang="en-US" sz="2700" b="true">
                <a:solidFill>
                  <a:srgbClr val="FFFFFF"/>
                </a:solidFill>
                <a:latin typeface="Times New Roman Bold"/>
                <a:ea typeface="Times New Roman Bold"/>
                <a:cs typeface="Times New Roman Bold"/>
                <a:sym typeface="Times New Roman Bold"/>
              </a:rPr>
              <a:t> </a:t>
            </a:r>
            <a:r>
              <a:rPr lang="en-US" sz="2700" b="true">
                <a:solidFill>
                  <a:srgbClr val="FFFFFF"/>
                </a:solidFill>
                <a:latin typeface="Times New Roman Bold"/>
                <a:ea typeface="Times New Roman Bold"/>
                <a:cs typeface="Times New Roman Bold"/>
                <a:sym typeface="Times New Roman Bold"/>
              </a:rPr>
              <a:t> – Sometimes add a small RGBShift</a:t>
            </a:r>
          </a:p>
          <a:p>
            <a:pPr algn="l">
              <a:lnSpc>
                <a:spcPts val="3240"/>
              </a:lnSpc>
            </a:pPr>
            <a:r>
              <a:rPr lang="en-US" sz="2700" b="true">
                <a:solidFill>
                  <a:srgbClr val="FFFFFF"/>
                </a:solidFill>
                <a:latin typeface="Times New Roman Bold"/>
                <a:ea typeface="Times New Roman Bold"/>
                <a:cs typeface="Times New Roman Bold"/>
                <a:sym typeface="Times New Roman Bold"/>
              </a:rPr>
              <a:t>  – 10% of patches keep almost original colors</a:t>
            </a:r>
          </a:p>
          <a:p>
            <a:pPr algn="l">
              <a:lnSpc>
                <a:spcPts val="3240"/>
              </a:lnSpc>
            </a:pPr>
            <a:r>
              <a:rPr lang="en-US" sz="2700" b="true">
                <a:solidFill>
                  <a:srgbClr val="FFFFFF"/>
                </a:solidFill>
                <a:latin typeface="Times New Roman Bold"/>
                <a:ea typeface="Times New Roman Bold"/>
                <a:cs typeface="Times New Roman Bold"/>
                <a:sym typeface="Times New Roman Bold"/>
              </a:rPr>
              <a:t>• Macenko-normalized:</a:t>
            </a:r>
          </a:p>
          <a:p>
            <a:pPr algn="l">
              <a:lnSpc>
                <a:spcPts val="3240"/>
              </a:lnSpc>
            </a:pPr>
            <a:r>
              <a:rPr lang="en-US" sz="2700" b="true">
                <a:solidFill>
                  <a:srgbClr val="FFFFFF"/>
                </a:solidFill>
                <a:latin typeface="Times New Roman Bold"/>
                <a:ea typeface="Times New Roman Bold"/>
                <a:cs typeface="Times New Roman Bold"/>
                <a:sym typeface="Times New Roman Bold"/>
              </a:rPr>
              <a:t>  – Already standardized, so we apply gentler color changes</a:t>
            </a:r>
          </a:p>
          <a:p>
            <a:pPr algn="l">
              <a:lnSpc>
                <a:spcPts val="3240"/>
              </a:lnSpc>
            </a:pPr>
            <a:r>
              <a:rPr lang="en-US" sz="2700" b="true">
                <a:solidFill>
                  <a:srgbClr val="FFFFFF"/>
                </a:solidFill>
                <a:latin typeface="Times New Roman Bold"/>
                <a:ea typeface="Times New Roman Bold"/>
                <a:cs typeface="Times New Roman Bold"/>
                <a:sym typeface="Times New Roman Bold"/>
              </a:rPr>
              <a:t>  – Only small brightness/contrast and slight gamma variation</a:t>
            </a:r>
          </a:p>
          <a:p>
            <a:pPr algn="l">
              <a:lnSpc>
                <a:spcPts val="3240"/>
              </a:lnSpc>
            </a:pPr>
            <a:r>
              <a:rPr lang="en-US" sz="2700" b="true">
                <a:solidFill>
                  <a:srgbClr val="FFFFFF"/>
                </a:solidFill>
                <a:latin typeface="Times New Roman Bold"/>
                <a:ea typeface="Times New Roman Bold"/>
                <a:cs typeface="Times New Roman Bold"/>
                <a:sym typeface="Times New Roman Bold"/>
              </a:rPr>
              <a:t>• Purpose:</a:t>
            </a:r>
          </a:p>
          <a:p>
            <a:pPr algn="l">
              <a:lnSpc>
                <a:spcPts val="3240"/>
              </a:lnSpc>
            </a:pPr>
            <a:r>
              <a:rPr lang="en-US" sz="2700" b="true">
                <a:solidFill>
                  <a:srgbClr val="FFFFFF"/>
                </a:solidFill>
                <a:latin typeface="Times New Roman Bold"/>
                <a:ea typeface="Times New Roman Bold"/>
                <a:cs typeface="Times New Roman Bold"/>
                <a:sym typeface="Times New Roman Bold"/>
              </a:rPr>
              <a:t>  – Simulate realistic stain differences while avoiding unrealistic colors</a:t>
            </a:r>
          </a:p>
          <a:p>
            <a:pPr algn="l">
              <a:lnSpc>
                <a:spcPts val="3240"/>
              </a:lnSpc>
            </a:pPr>
            <a:r>
              <a:rPr lang="en-US" sz="2700" b="true">
                <a:solidFill>
                  <a:srgbClr val="FFFFFF"/>
                </a:solidFill>
                <a:latin typeface="Times New Roman Bold"/>
                <a:ea typeface="Times New Roman Bold"/>
                <a:cs typeface="Times New Roman Bold"/>
                <a:sym typeface="Times New Roman Bold"/>
              </a:rPr>
              <a:t>  – Supports our 2×2 design: Raw vs Macenko × with vs without color augmentation</a:t>
            </a:r>
          </a:p>
          <a:p>
            <a:pPr algn="l">
              <a:lnSpc>
                <a:spcPts val="3240"/>
              </a:lnSpc>
            </a:pPr>
          </a:p>
          <a:p>
            <a:pPr algn="l">
              <a:lnSpc>
                <a:spcPts val="324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9" cy="807910"/>
            <a:chOff x="0" y="0"/>
            <a:chExt cx="91439" cy="1077213"/>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0"/>
            <a:chOff x="0" y="0"/>
            <a:chExt cx="1238251" cy="1077213"/>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sp>
        <p:nvSpPr>
          <p:cNvPr name="Freeform 6" id="6"/>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222056" y="665905"/>
            <a:ext cx="16186334" cy="695300"/>
          </a:xfrm>
          <a:prstGeom prst="rect">
            <a:avLst/>
          </a:prstGeom>
        </p:spPr>
        <p:txBody>
          <a:bodyPr anchor="t" rtlCol="false" tIns="0" lIns="0" bIns="0" rIns="0">
            <a:spAutoFit/>
          </a:bodyPr>
          <a:lstStyle/>
          <a:p>
            <a:pPr algn="l">
              <a:lnSpc>
                <a:spcPts val="5398"/>
              </a:lnSpc>
            </a:pPr>
            <a:r>
              <a:rPr lang="en-US" sz="4498" b="true">
                <a:solidFill>
                  <a:srgbClr val="FFFFFF"/>
                </a:solidFill>
                <a:latin typeface="Arimo Bold"/>
                <a:ea typeface="Arimo Bold"/>
                <a:cs typeface="Arimo Bold"/>
                <a:sym typeface="Arimo Bold"/>
              </a:rPr>
              <a:t>Data Modeling</a:t>
            </a:r>
          </a:p>
        </p:txBody>
      </p:sp>
      <p:grpSp>
        <p:nvGrpSpPr>
          <p:cNvPr name="Group 8" id="8"/>
          <p:cNvGrpSpPr/>
          <p:nvPr/>
        </p:nvGrpSpPr>
        <p:grpSpPr>
          <a:xfrm rot="0">
            <a:off x="17761578" y="9713952"/>
            <a:ext cx="1268668" cy="2170263"/>
            <a:chOff x="0" y="0"/>
            <a:chExt cx="431800" cy="738664"/>
          </a:xfrm>
        </p:grpSpPr>
        <p:sp>
          <p:nvSpPr>
            <p:cNvPr name="Freeform 9" id="9"/>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0" id="10"/>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19</a:t>
              </a:r>
            </a:p>
          </p:txBody>
        </p:sp>
      </p:grpSp>
      <p:sp>
        <p:nvSpPr>
          <p:cNvPr name="TextBox 11" id="11"/>
          <p:cNvSpPr txBox="true"/>
          <p:nvPr/>
        </p:nvSpPr>
        <p:spPr>
          <a:xfrm rot="0">
            <a:off x="283334" y="2960141"/>
            <a:ext cx="11775414" cy="5886436"/>
          </a:xfrm>
          <a:prstGeom prst="rect">
            <a:avLst/>
          </a:prstGeom>
        </p:spPr>
        <p:txBody>
          <a:bodyPr anchor="t" rtlCol="false" tIns="0" lIns="0" bIns="0" rIns="0">
            <a:spAutoFit/>
          </a:bodyPr>
          <a:lstStyle/>
          <a:p>
            <a:pPr algn="l">
              <a:lnSpc>
                <a:spcPts val="3358"/>
              </a:lnSpc>
            </a:pPr>
            <a:r>
              <a:rPr lang="en-US" sz="2798" b="true">
                <a:solidFill>
                  <a:srgbClr val="FFFFFF"/>
                </a:solidFill>
                <a:latin typeface="Times New Roman Bold"/>
                <a:ea typeface="Times New Roman Bold"/>
                <a:cs typeface="Times New Roman Bold"/>
                <a:sym typeface="Times New Roman Bold"/>
              </a:rPr>
              <a:t>Model structure</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EfficientNetV2-S patch classifier (ImageNet-1k pretrained)</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Input: 256×256 H&amp;E patch → EfficientNetV2-S backbone → GAP → FC(1) → Sigmoid</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Output: cancer probability (binary metastasis prediction)</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Loss: class-balanced BCEWithLogits to up-weight metastatic patches</a:t>
            </a:r>
          </a:p>
          <a:p>
            <a:pPr algn="l">
              <a:lnSpc>
                <a:spcPts val="3358"/>
              </a:lnSpc>
            </a:pPr>
          </a:p>
          <a:p>
            <a:pPr algn="l">
              <a:lnSpc>
                <a:spcPts val="3358"/>
              </a:lnSpc>
            </a:pPr>
            <a:r>
              <a:rPr lang="en-US" sz="2798" b="true">
                <a:solidFill>
                  <a:srgbClr val="FFFFFF"/>
                </a:solidFill>
                <a:latin typeface="Times New Roman Bold"/>
                <a:ea typeface="Times New Roman Bold"/>
                <a:cs typeface="Times New Roman Bold"/>
                <a:sym typeface="Times New Roman Bold"/>
              </a:rPr>
              <a:t>Modeling parameters</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Optimizer: AdamW, base LR = 3e-4, cosine LR schedule</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Batch: 64 / GPU, grad accumulation = 4 (global batch ≈ 1.8k)</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Epochs: 12, weight decay = 1e-4</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Loss weight: pos_weight_scale = 1.5</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Training: 256×256 input, channels-last + AMP, DDP on 8 GPUs</a:t>
            </a:r>
          </a:p>
          <a:p>
            <a:pPr algn="l">
              <a:lnSpc>
                <a:spcPts val="3359"/>
              </a:lnSpc>
            </a:pPr>
          </a:p>
        </p:txBody>
      </p:sp>
      <p:grpSp>
        <p:nvGrpSpPr>
          <p:cNvPr name="Group 12" id="12"/>
          <p:cNvGrpSpPr/>
          <p:nvPr/>
        </p:nvGrpSpPr>
        <p:grpSpPr>
          <a:xfrm rot="0">
            <a:off x="12290481" y="8427477"/>
            <a:ext cx="2696152" cy="859398"/>
            <a:chOff x="0" y="0"/>
            <a:chExt cx="24384000" cy="7772400"/>
          </a:xfrm>
        </p:grpSpPr>
        <p:sp>
          <p:nvSpPr>
            <p:cNvPr name="Freeform 13" id="13"/>
            <p:cNvSpPr/>
            <p:nvPr/>
          </p:nvSpPr>
          <p:spPr>
            <a:xfrm flipH="false" flipV="false" rot="0">
              <a:off x="0" y="0"/>
              <a:ext cx="24384000" cy="7772400"/>
            </a:xfrm>
            <a:custGeom>
              <a:avLst/>
              <a:gdLst/>
              <a:ahLst/>
              <a:cxnLst/>
              <a:rect r="r" b="b" t="t" l="l"/>
              <a:pathLst>
                <a:path h="7772400" w="24384000">
                  <a:moveTo>
                    <a:pt x="0" y="0"/>
                  </a:moveTo>
                  <a:lnTo>
                    <a:pt x="24384000" y="0"/>
                  </a:lnTo>
                  <a:lnTo>
                    <a:pt x="24384000" y="7772400"/>
                  </a:lnTo>
                  <a:lnTo>
                    <a:pt x="0" y="7772400"/>
                  </a:lnTo>
                  <a:close/>
                </a:path>
              </a:pathLst>
            </a:custGeom>
            <a:solidFill>
              <a:srgbClr val="F7B902"/>
            </a:solidFill>
          </p:spPr>
        </p:sp>
      </p:grpSp>
      <p:sp>
        <p:nvSpPr>
          <p:cNvPr name="TextBox 14" id="14"/>
          <p:cNvSpPr txBox="true"/>
          <p:nvPr/>
        </p:nvSpPr>
        <p:spPr>
          <a:xfrm rot="0">
            <a:off x="12290481" y="8695251"/>
            <a:ext cx="2696152" cy="304800"/>
          </a:xfrm>
          <a:prstGeom prst="rect">
            <a:avLst/>
          </a:prstGeom>
        </p:spPr>
        <p:txBody>
          <a:bodyPr anchor="t" rtlCol="false" tIns="0" lIns="0" bIns="0" rIns="0">
            <a:spAutoFit/>
          </a:bodyPr>
          <a:lstStyle/>
          <a:p>
            <a:pPr algn="ctr">
              <a:lnSpc>
                <a:spcPts val="2279"/>
              </a:lnSpc>
              <a:spcBef>
                <a:spcPct val="0"/>
              </a:spcBef>
            </a:pPr>
            <a:r>
              <a:rPr lang="en-US" b="true" sz="1899">
                <a:solidFill>
                  <a:srgbClr val="FFFFFF"/>
                </a:solidFill>
                <a:latin typeface="Times New Roman Bold"/>
                <a:ea typeface="Times New Roman Bold"/>
                <a:cs typeface="Times New Roman Bold"/>
                <a:sym typeface="Times New Roman Bold"/>
              </a:rPr>
              <a:t>256×256 H&amp;E patch</a:t>
            </a:r>
          </a:p>
        </p:txBody>
      </p:sp>
      <p:grpSp>
        <p:nvGrpSpPr>
          <p:cNvPr name="Group 15" id="15"/>
          <p:cNvGrpSpPr/>
          <p:nvPr/>
        </p:nvGrpSpPr>
        <p:grpSpPr>
          <a:xfrm rot="0">
            <a:off x="12058748" y="6660188"/>
            <a:ext cx="3159619" cy="1007129"/>
            <a:chOff x="0" y="0"/>
            <a:chExt cx="24384000" cy="7772400"/>
          </a:xfrm>
        </p:grpSpPr>
        <p:sp>
          <p:nvSpPr>
            <p:cNvPr name="Freeform 16" id="16"/>
            <p:cNvSpPr/>
            <p:nvPr/>
          </p:nvSpPr>
          <p:spPr>
            <a:xfrm flipH="false" flipV="false" rot="0">
              <a:off x="0" y="0"/>
              <a:ext cx="24384000" cy="7772400"/>
            </a:xfrm>
            <a:custGeom>
              <a:avLst/>
              <a:gdLst/>
              <a:ahLst/>
              <a:cxnLst/>
              <a:rect r="r" b="b" t="t" l="l"/>
              <a:pathLst>
                <a:path h="7772400" w="24384000">
                  <a:moveTo>
                    <a:pt x="0" y="0"/>
                  </a:moveTo>
                  <a:lnTo>
                    <a:pt x="24384000" y="0"/>
                  </a:lnTo>
                  <a:lnTo>
                    <a:pt x="24384000" y="7772400"/>
                  </a:lnTo>
                  <a:lnTo>
                    <a:pt x="0" y="7772400"/>
                  </a:lnTo>
                  <a:close/>
                </a:path>
              </a:pathLst>
            </a:custGeom>
            <a:solidFill>
              <a:srgbClr val="F7B902"/>
            </a:solidFill>
          </p:spPr>
        </p:sp>
      </p:grpSp>
      <p:sp>
        <p:nvSpPr>
          <p:cNvPr name="TextBox 17" id="17"/>
          <p:cNvSpPr txBox="true"/>
          <p:nvPr/>
        </p:nvSpPr>
        <p:spPr>
          <a:xfrm rot="0">
            <a:off x="12020361" y="7001828"/>
            <a:ext cx="3236393" cy="304800"/>
          </a:xfrm>
          <a:prstGeom prst="rect">
            <a:avLst/>
          </a:prstGeom>
        </p:spPr>
        <p:txBody>
          <a:bodyPr anchor="t" rtlCol="false" tIns="0" lIns="0" bIns="0" rIns="0">
            <a:spAutoFit/>
          </a:bodyPr>
          <a:lstStyle/>
          <a:p>
            <a:pPr algn="ctr">
              <a:lnSpc>
                <a:spcPts val="2279"/>
              </a:lnSpc>
              <a:spcBef>
                <a:spcPct val="0"/>
              </a:spcBef>
            </a:pPr>
            <a:r>
              <a:rPr lang="en-US" b="true" sz="1899">
                <a:solidFill>
                  <a:srgbClr val="FFFFFF"/>
                </a:solidFill>
                <a:latin typeface="Times New Roman Bold"/>
                <a:ea typeface="Times New Roman Bold"/>
                <a:cs typeface="Times New Roman Bold"/>
                <a:sym typeface="Times New Roman Bold"/>
              </a:rPr>
              <a:t>EfficientNetV2-S backbone</a:t>
            </a:r>
          </a:p>
        </p:txBody>
      </p:sp>
      <p:grpSp>
        <p:nvGrpSpPr>
          <p:cNvPr name="Group 18" id="18"/>
          <p:cNvGrpSpPr/>
          <p:nvPr/>
        </p:nvGrpSpPr>
        <p:grpSpPr>
          <a:xfrm rot="0">
            <a:off x="12020361" y="4870863"/>
            <a:ext cx="3159619" cy="1007129"/>
            <a:chOff x="0" y="0"/>
            <a:chExt cx="24384000" cy="7772400"/>
          </a:xfrm>
        </p:grpSpPr>
        <p:sp>
          <p:nvSpPr>
            <p:cNvPr name="Freeform 19" id="19"/>
            <p:cNvSpPr/>
            <p:nvPr/>
          </p:nvSpPr>
          <p:spPr>
            <a:xfrm flipH="false" flipV="false" rot="0">
              <a:off x="0" y="0"/>
              <a:ext cx="24384000" cy="7772400"/>
            </a:xfrm>
            <a:custGeom>
              <a:avLst/>
              <a:gdLst/>
              <a:ahLst/>
              <a:cxnLst/>
              <a:rect r="r" b="b" t="t" l="l"/>
              <a:pathLst>
                <a:path h="7772400" w="24384000">
                  <a:moveTo>
                    <a:pt x="0" y="0"/>
                  </a:moveTo>
                  <a:lnTo>
                    <a:pt x="24384000" y="0"/>
                  </a:lnTo>
                  <a:lnTo>
                    <a:pt x="24384000" y="7772400"/>
                  </a:lnTo>
                  <a:lnTo>
                    <a:pt x="0" y="7772400"/>
                  </a:lnTo>
                  <a:close/>
                </a:path>
              </a:pathLst>
            </a:custGeom>
            <a:solidFill>
              <a:srgbClr val="F7B902"/>
            </a:solidFill>
          </p:spPr>
        </p:sp>
      </p:grpSp>
      <p:sp>
        <p:nvSpPr>
          <p:cNvPr name="TextBox 20" id="20"/>
          <p:cNvSpPr txBox="true"/>
          <p:nvPr/>
        </p:nvSpPr>
        <p:spPr>
          <a:xfrm rot="0">
            <a:off x="12058748" y="5212502"/>
            <a:ext cx="3236393" cy="304800"/>
          </a:xfrm>
          <a:prstGeom prst="rect">
            <a:avLst/>
          </a:prstGeom>
        </p:spPr>
        <p:txBody>
          <a:bodyPr anchor="t" rtlCol="false" tIns="0" lIns="0" bIns="0" rIns="0">
            <a:spAutoFit/>
          </a:bodyPr>
          <a:lstStyle/>
          <a:p>
            <a:pPr algn="ctr">
              <a:lnSpc>
                <a:spcPts val="2279"/>
              </a:lnSpc>
              <a:spcBef>
                <a:spcPct val="0"/>
              </a:spcBef>
            </a:pPr>
            <a:r>
              <a:rPr lang="en-US" b="true" sz="1899">
                <a:solidFill>
                  <a:srgbClr val="FFFFFF"/>
                </a:solidFill>
                <a:latin typeface="Times New Roman Bold"/>
                <a:ea typeface="Times New Roman Bold"/>
                <a:cs typeface="Times New Roman Bold"/>
                <a:sym typeface="Times New Roman Bold"/>
              </a:rPr>
              <a:t>Global Average Pooling</a:t>
            </a:r>
          </a:p>
        </p:txBody>
      </p:sp>
      <p:grpSp>
        <p:nvGrpSpPr>
          <p:cNvPr name="Group 21" id="21"/>
          <p:cNvGrpSpPr/>
          <p:nvPr/>
        </p:nvGrpSpPr>
        <p:grpSpPr>
          <a:xfrm rot="0">
            <a:off x="12588360" y="3633590"/>
            <a:ext cx="2023621" cy="645029"/>
            <a:chOff x="0" y="0"/>
            <a:chExt cx="24384000" cy="7772400"/>
          </a:xfrm>
        </p:grpSpPr>
        <p:sp>
          <p:nvSpPr>
            <p:cNvPr name="Freeform 22" id="22"/>
            <p:cNvSpPr/>
            <p:nvPr/>
          </p:nvSpPr>
          <p:spPr>
            <a:xfrm flipH="false" flipV="false" rot="0">
              <a:off x="0" y="0"/>
              <a:ext cx="24384000" cy="7772400"/>
            </a:xfrm>
            <a:custGeom>
              <a:avLst/>
              <a:gdLst/>
              <a:ahLst/>
              <a:cxnLst/>
              <a:rect r="r" b="b" t="t" l="l"/>
              <a:pathLst>
                <a:path h="7772400" w="24384000">
                  <a:moveTo>
                    <a:pt x="0" y="0"/>
                  </a:moveTo>
                  <a:lnTo>
                    <a:pt x="24384000" y="0"/>
                  </a:lnTo>
                  <a:lnTo>
                    <a:pt x="24384000" y="7772400"/>
                  </a:lnTo>
                  <a:lnTo>
                    <a:pt x="0" y="7772400"/>
                  </a:lnTo>
                  <a:close/>
                </a:path>
              </a:pathLst>
            </a:custGeom>
            <a:solidFill>
              <a:srgbClr val="F7B902"/>
            </a:solidFill>
          </p:spPr>
        </p:sp>
      </p:grpSp>
      <p:sp>
        <p:nvSpPr>
          <p:cNvPr name="TextBox 23" id="23"/>
          <p:cNvSpPr txBox="true"/>
          <p:nvPr/>
        </p:nvSpPr>
        <p:spPr>
          <a:xfrm rot="0">
            <a:off x="12252094" y="3756710"/>
            <a:ext cx="2696152" cy="304800"/>
          </a:xfrm>
          <a:prstGeom prst="rect">
            <a:avLst/>
          </a:prstGeom>
        </p:spPr>
        <p:txBody>
          <a:bodyPr anchor="t" rtlCol="false" tIns="0" lIns="0" bIns="0" rIns="0">
            <a:spAutoFit/>
          </a:bodyPr>
          <a:lstStyle/>
          <a:p>
            <a:pPr algn="ctr">
              <a:lnSpc>
                <a:spcPts val="2279"/>
              </a:lnSpc>
              <a:spcBef>
                <a:spcPct val="0"/>
              </a:spcBef>
            </a:pPr>
            <a:r>
              <a:rPr lang="en-US" b="true" sz="1899">
                <a:solidFill>
                  <a:srgbClr val="FFFFFF"/>
                </a:solidFill>
                <a:latin typeface="Times New Roman Bold"/>
                <a:ea typeface="Times New Roman Bold"/>
                <a:cs typeface="Times New Roman Bold"/>
                <a:sym typeface="Times New Roman Bold"/>
              </a:rPr>
              <a:t>FC (1)</a:t>
            </a:r>
          </a:p>
        </p:txBody>
      </p:sp>
      <p:grpSp>
        <p:nvGrpSpPr>
          <p:cNvPr name="Group 24" id="24"/>
          <p:cNvGrpSpPr/>
          <p:nvPr/>
        </p:nvGrpSpPr>
        <p:grpSpPr>
          <a:xfrm rot="0">
            <a:off x="12588360" y="2321378"/>
            <a:ext cx="2023621" cy="645029"/>
            <a:chOff x="0" y="0"/>
            <a:chExt cx="24384000" cy="7772400"/>
          </a:xfrm>
        </p:grpSpPr>
        <p:sp>
          <p:nvSpPr>
            <p:cNvPr name="Freeform 25" id="25"/>
            <p:cNvSpPr/>
            <p:nvPr/>
          </p:nvSpPr>
          <p:spPr>
            <a:xfrm flipH="false" flipV="false" rot="0">
              <a:off x="0" y="0"/>
              <a:ext cx="24384000" cy="7772400"/>
            </a:xfrm>
            <a:custGeom>
              <a:avLst/>
              <a:gdLst/>
              <a:ahLst/>
              <a:cxnLst/>
              <a:rect r="r" b="b" t="t" l="l"/>
              <a:pathLst>
                <a:path h="7772400" w="24384000">
                  <a:moveTo>
                    <a:pt x="0" y="0"/>
                  </a:moveTo>
                  <a:lnTo>
                    <a:pt x="24384000" y="0"/>
                  </a:lnTo>
                  <a:lnTo>
                    <a:pt x="24384000" y="7772400"/>
                  </a:lnTo>
                  <a:lnTo>
                    <a:pt x="0" y="7772400"/>
                  </a:lnTo>
                  <a:close/>
                </a:path>
              </a:pathLst>
            </a:custGeom>
            <a:solidFill>
              <a:srgbClr val="F7B902"/>
            </a:solidFill>
          </p:spPr>
        </p:sp>
      </p:grpSp>
      <p:sp>
        <p:nvSpPr>
          <p:cNvPr name="TextBox 26" id="26"/>
          <p:cNvSpPr txBox="true"/>
          <p:nvPr/>
        </p:nvSpPr>
        <p:spPr>
          <a:xfrm rot="0">
            <a:off x="12252094" y="2481968"/>
            <a:ext cx="2696152" cy="304800"/>
          </a:xfrm>
          <a:prstGeom prst="rect">
            <a:avLst/>
          </a:prstGeom>
        </p:spPr>
        <p:txBody>
          <a:bodyPr anchor="t" rtlCol="false" tIns="0" lIns="0" bIns="0" rIns="0">
            <a:spAutoFit/>
          </a:bodyPr>
          <a:lstStyle/>
          <a:p>
            <a:pPr algn="ctr">
              <a:lnSpc>
                <a:spcPts val="2279"/>
              </a:lnSpc>
              <a:spcBef>
                <a:spcPct val="0"/>
              </a:spcBef>
            </a:pPr>
            <a:r>
              <a:rPr lang="en-US" b="true" sz="1899">
                <a:solidFill>
                  <a:srgbClr val="FFFFFF"/>
                </a:solidFill>
                <a:latin typeface="Times New Roman Bold"/>
                <a:ea typeface="Times New Roman Bold"/>
                <a:cs typeface="Times New Roman Bold"/>
                <a:sym typeface="Times New Roman Bold"/>
              </a:rPr>
              <a:t>Sigmoid</a:t>
            </a:r>
          </a:p>
        </p:txBody>
      </p:sp>
      <p:sp>
        <p:nvSpPr>
          <p:cNvPr name="Freeform 27" id="27"/>
          <p:cNvSpPr/>
          <p:nvPr/>
        </p:nvSpPr>
        <p:spPr>
          <a:xfrm flipH="false" flipV="true" rot="-5503186">
            <a:off x="13291722" y="7827481"/>
            <a:ext cx="616896" cy="439832"/>
          </a:xfrm>
          <a:custGeom>
            <a:avLst/>
            <a:gdLst/>
            <a:ahLst/>
            <a:cxnLst/>
            <a:rect r="r" b="b" t="t" l="l"/>
            <a:pathLst>
              <a:path h="439832" w="616896">
                <a:moveTo>
                  <a:pt x="0" y="439832"/>
                </a:moveTo>
                <a:lnTo>
                  <a:pt x="616897" y="439832"/>
                </a:lnTo>
                <a:lnTo>
                  <a:pt x="616897" y="0"/>
                </a:lnTo>
                <a:lnTo>
                  <a:pt x="0" y="0"/>
                </a:lnTo>
                <a:lnTo>
                  <a:pt x="0" y="439832"/>
                </a:lnTo>
                <a:close/>
              </a:path>
            </a:pathLst>
          </a:custGeom>
          <a:blipFill>
            <a:blip r:embed="rId5">
              <a:extLst>
                <a:ext uri="{96DAC541-7B7A-43D3-8B79-37D633B846F1}">
                  <asvg:svgBlip xmlns:asvg="http://schemas.microsoft.com/office/drawing/2016/SVG/main" r:embed="rId6"/>
                </a:ext>
              </a:extLst>
            </a:blip>
            <a:stretch>
              <a:fillRect l="0" t="-190" r="0" b="-190"/>
            </a:stretch>
          </a:blipFill>
        </p:spPr>
      </p:sp>
      <p:sp>
        <p:nvSpPr>
          <p:cNvPr name="Freeform 28" id="28"/>
          <p:cNvSpPr/>
          <p:nvPr/>
        </p:nvSpPr>
        <p:spPr>
          <a:xfrm flipH="false" flipV="true" rot="-5503186">
            <a:off x="13291722" y="6049174"/>
            <a:ext cx="616896" cy="439832"/>
          </a:xfrm>
          <a:custGeom>
            <a:avLst/>
            <a:gdLst/>
            <a:ahLst/>
            <a:cxnLst/>
            <a:rect r="r" b="b" t="t" l="l"/>
            <a:pathLst>
              <a:path h="439832" w="616896">
                <a:moveTo>
                  <a:pt x="0" y="439832"/>
                </a:moveTo>
                <a:lnTo>
                  <a:pt x="616897" y="439832"/>
                </a:lnTo>
                <a:lnTo>
                  <a:pt x="616897" y="0"/>
                </a:lnTo>
                <a:lnTo>
                  <a:pt x="0" y="0"/>
                </a:lnTo>
                <a:lnTo>
                  <a:pt x="0" y="439832"/>
                </a:lnTo>
                <a:close/>
              </a:path>
            </a:pathLst>
          </a:custGeom>
          <a:blipFill>
            <a:blip r:embed="rId5">
              <a:extLst>
                <a:ext uri="{96DAC541-7B7A-43D3-8B79-37D633B846F1}">
                  <asvg:svgBlip xmlns:asvg="http://schemas.microsoft.com/office/drawing/2016/SVG/main" r:embed="rId6"/>
                </a:ext>
              </a:extLst>
            </a:blip>
            <a:stretch>
              <a:fillRect l="0" t="-190" r="0" b="-190"/>
            </a:stretch>
          </a:blipFill>
        </p:spPr>
      </p:sp>
      <p:sp>
        <p:nvSpPr>
          <p:cNvPr name="Freeform 29" id="29"/>
          <p:cNvSpPr/>
          <p:nvPr/>
        </p:nvSpPr>
        <p:spPr>
          <a:xfrm flipH="false" flipV="true" rot="-5503186">
            <a:off x="13291722" y="4373613"/>
            <a:ext cx="616896" cy="439832"/>
          </a:xfrm>
          <a:custGeom>
            <a:avLst/>
            <a:gdLst/>
            <a:ahLst/>
            <a:cxnLst/>
            <a:rect r="r" b="b" t="t" l="l"/>
            <a:pathLst>
              <a:path h="439832" w="616896">
                <a:moveTo>
                  <a:pt x="0" y="439832"/>
                </a:moveTo>
                <a:lnTo>
                  <a:pt x="616897" y="439832"/>
                </a:lnTo>
                <a:lnTo>
                  <a:pt x="616897" y="0"/>
                </a:lnTo>
                <a:lnTo>
                  <a:pt x="0" y="0"/>
                </a:lnTo>
                <a:lnTo>
                  <a:pt x="0" y="439832"/>
                </a:lnTo>
                <a:close/>
              </a:path>
            </a:pathLst>
          </a:custGeom>
          <a:blipFill>
            <a:blip r:embed="rId5">
              <a:extLst>
                <a:ext uri="{96DAC541-7B7A-43D3-8B79-37D633B846F1}">
                  <asvg:svgBlip xmlns:asvg="http://schemas.microsoft.com/office/drawing/2016/SVG/main" r:embed="rId6"/>
                </a:ext>
              </a:extLst>
            </a:blip>
            <a:stretch>
              <a:fillRect l="0" t="-190" r="0" b="-190"/>
            </a:stretch>
          </a:blipFill>
        </p:spPr>
      </p:sp>
      <p:sp>
        <p:nvSpPr>
          <p:cNvPr name="Freeform 30" id="30"/>
          <p:cNvSpPr/>
          <p:nvPr/>
        </p:nvSpPr>
        <p:spPr>
          <a:xfrm flipH="false" flipV="true" rot="-5503186">
            <a:off x="13291722" y="3061401"/>
            <a:ext cx="616896" cy="439832"/>
          </a:xfrm>
          <a:custGeom>
            <a:avLst/>
            <a:gdLst/>
            <a:ahLst/>
            <a:cxnLst/>
            <a:rect r="r" b="b" t="t" l="l"/>
            <a:pathLst>
              <a:path h="439832" w="616896">
                <a:moveTo>
                  <a:pt x="0" y="439831"/>
                </a:moveTo>
                <a:lnTo>
                  <a:pt x="616897" y="439831"/>
                </a:lnTo>
                <a:lnTo>
                  <a:pt x="616897" y="0"/>
                </a:lnTo>
                <a:lnTo>
                  <a:pt x="0" y="0"/>
                </a:lnTo>
                <a:lnTo>
                  <a:pt x="0" y="439831"/>
                </a:lnTo>
                <a:close/>
              </a:path>
            </a:pathLst>
          </a:custGeom>
          <a:blipFill>
            <a:blip r:embed="rId5">
              <a:extLst>
                <a:ext uri="{96DAC541-7B7A-43D3-8B79-37D633B846F1}">
                  <asvg:svgBlip xmlns:asvg="http://schemas.microsoft.com/office/drawing/2016/SVG/main" r:embed="rId6"/>
                </a:ext>
              </a:extLst>
            </a:blip>
            <a:stretch>
              <a:fillRect l="0" t="-190" r="0" b="-190"/>
            </a:stretch>
          </a:blipFill>
        </p:spPr>
      </p:sp>
      <p:sp>
        <p:nvSpPr>
          <p:cNvPr name="Freeform 31" id="31"/>
          <p:cNvSpPr/>
          <p:nvPr/>
        </p:nvSpPr>
        <p:spPr>
          <a:xfrm flipH="false" flipV="true" rot="-5503186">
            <a:off x="13291722" y="1786553"/>
            <a:ext cx="616896" cy="439832"/>
          </a:xfrm>
          <a:custGeom>
            <a:avLst/>
            <a:gdLst/>
            <a:ahLst/>
            <a:cxnLst/>
            <a:rect r="r" b="b" t="t" l="l"/>
            <a:pathLst>
              <a:path h="439832" w="616896">
                <a:moveTo>
                  <a:pt x="0" y="439832"/>
                </a:moveTo>
                <a:lnTo>
                  <a:pt x="616897" y="439832"/>
                </a:lnTo>
                <a:lnTo>
                  <a:pt x="616897" y="0"/>
                </a:lnTo>
                <a:lnTo>
                  <a:pt x="0" y="0"/>
                </a:lnTo>
                <a:lnTo>
                  <a:pt x="0" y="439832"/>
                </a:lnTo>
                <a:close/>
              </a:path>
            </a:pathLst>
          </a:custGeom>
          <a:blipFill>
            <a:blip r:embed="rId5">
              <a:extLst>
                <a:ext uri="{96DAC541-7B7A-43D3-8B79-37D633B846F1}">
                  <asvg:svgBlip xmlns:asvg="http://schemas.microsoft.com/office/drawing/2016/SVG/main" r:embed="rId6"/>
                </a:ext>
              </a:extLst>
            </a:blip>
            <a:stretch>
              <a:fillRect l="0" t="-190" r="0" b="-190"/>
            </a:stretch>
          </a:blipFill>
        </p:spPr>
      </p:sp>
      <p:sp>
        <p:nvSpPr>
          <p:cNvPr name="TextBox 32" id="32"/>
          <p:cNvSpPr txBox="true"/>
          <p:nvPr/>
        </p:nvSpPr>
        <p:spPr>
          <a:xfrm rot="0">
            <a:off x="12252094" y="1320085"/>
            <a:ext cx="2696152" cy="304800"/>
          </a:xfrm>
          <a:prstGeom prst="rect">
            <a:avLst/>
          </a:prstGeom>
        </p:spPr>
        <p:txBody>
          <a:bodyPr anchor="t" rtlCol="false" tIns="0" lIns="0" bIns="0" rIns="0">
            <a:spAutoFit/>
          </a:bodyPr>
          <a:lstStyle/>
          <a:p>
            <a:pPr algn="ctr">
              <a:lnSpc>
                <a:spcPts val="2279"/>
              </a:lnSpc>
              <a:spcBef>
                <a:spcPct val="0"/>
              </a:spcBef>
            </a:pPr>
            <a:r>
              <a:rPr lang="en-US" b="true" sz="1899">
                <a:solidFill>
                  <a:srgbClr val="FFFFFF"/>
                </a:solidFill>
                <a:latin typeface="Times New Roman Bold"/>
                <a:ea typeface="Times New Roman Bold"/>
                <a:cs typeface="Times New Roman Bold"/>
                <a:sym typeface="Times New Roman Bold"/>
              </a:rPr>
              <a:t>Cancer probability</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sp>
        <p:nvSpPr>
          <p:cNvPr name="Freeform 2" id="2"/>
          <p:cNvSpPr/>
          <p:nvPr/>
        </p:nvSpPr>
        <p:spPr>
          <a:xfrm flipH="false" flipV="false" rot="0">
            <a:off x="5943602" y="2836061"/>
            <a:ext cx="3210210" cy="3011436"/>
          </a:xfrm>
          <a:custGeom>
            <a:avLst/>
            <a:gdLst/>
            <a:ahLst/>
            <a:cxnLst/>
            <a:rect r="r" b="b" t="t" l="l"/>
            <a:pathLst>
              <a:path h="3011436" w="3210210">
                <a:moveTo>
                  <a:pt x="0" y="0"/>
                </a:moveTo>
                <a:lnTo>
                  <a:pt x="3210210" y="0"/>
                </a:lnTo>
                <a:lnTo>
                  <a:pt x="3210210" y="3011435"/>
                </a:lnTo>
                <a:lnTo>
                  <a:pt x="0" y="30114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9332962" y="2836061"/>
            <a:ext cx="3011436" cy="3199428"/>
          </a:xfrm>
          <a:custGeom>
            <a:avLst/>
            <a:gdLst/>
            <a:ahLst/>
            <a:cxnLst/>
            <a:rect r="r" b="b" t="t" l="l"/>
            <a:pathLst>
              <a:path h="3199428" w="3011436">
                <a:moveTo>
                  <a:pt x="0" y="0"/>
                </a:moveTo>
                <a:lnTo>
                  <a:pt x="3011436" y="0"/>
                </a:lnTo>
                <a:lnTo>
                  <a:pt x="3011436" y="3199427"/>
                </a:lnTo>
                <a:lnTo>
                  <a:pt x="0" y="31994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9147926" y="6225422"/>
            <a:ext cx="3196473" cy="3011436"/>
          </a:xfrm>
          <a:custGeom>
            <a:avLst/>
            <a:gdLst/>
            <a:ahLst/>
            <a:cxnLst/>
            <a:rect r="r" b="b" t="t" l="l"/>
            <a:pathLst>
              <a:path h="3011436" w="3196473">
                <a:moveTo>
                  <a:pt x="0" y="0"/>
                </a:moveTo>
                <a:lnTo>
                  <a:pt x="3196472" y="0"/>
                </a:lnTo>
                <a:lnTo>
                  <a:pt x="3196472" y="3011436"/>
                </a:lnTo>
                <a:lnTo>
                  <a:pt x="0" y="30114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5936932" y="6047240"/>
            <a:ext cx="3030486" cy="3199143"/>
          </a:xfrm>
          <a:custGeom>
            <a:avLst/>
            <a:gdLst/>
            <a:ahLst/>
            <a:cxnLst/>
            <a:rect r="r" b="b" t="t" l="l"/>
            <a:pathLst>
              <a:path h="3199143" w="3030486">
                <a:moveTo>
                  <a:pt x="0" y="0"/>
                </a:moveTo>
                <a:lnTo>
                  <a:pt x="3030486" y="0"/>
                </a:lnTo>
                <a:lnTo>
                  <a:pt x="3030486" y="3199143"/>
                </a:lnTo>
                <a:lnTo>
                  <a:pt x="0" y="31991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6185795" y="3281119"/>
            <a:ext cx="2461368" cy="553998"/>
            <a:chOff x="0" y="0"/>
            <a:chExt cx="3281824" cy="738664"/>
          </a:xfrm>
        </p:grpSpPr>
        <p:sp>
          <p:nvSpPr>
            <p:cNvPr name="Freeform 7" id="7"/>
            <p:cNvSpPr/>
            <p:nvPr/>
          </p:nvSpPr>
          <p:spPr>
            <a:xfrm flipH="false" flipV="false" rot="0">
              <a:off x="0" y="0"/>
              <a:ext cx="3281824" cy="738664"/>
            </a:xfrm>
            <a:custGeom>
              <a:avLst/>
              <a:gdLst/>
              <a:ahLst/>
              <a:cxnLst/>
              <a:rect r="r" b="b" t="t" l="l"/>
              <a:pathLst>
                <a:path h="738664" w="3281824">
                  <a:moveTo>
                    <a:pt x="0" y="0"/>
                  </a:moveTo>
                  <a:lnTo>
                    <a:pt x="3281824" y="0"/>
                  </a:lnTo>
                  <a:lnTo>
                    <a:pt x="3281824" y="738664"/>
                  </a:lnTo>
                  <a:lnTo>
                    <a:pt x="0" y="738664"/>
                  </a:lnTo>
                  <a:close/>
                </a:path>
              </a:pathLst>
            </a:custGeom>
            <a:solidFill>
              <a:srgbClr val="000000">
                <a:alpha val="0"/>
              </a:srgbClr>
            </a:solidFill>
          </p:spPr>
        </p:sp>
        <p:sp>
          <p:nvSpPr>
            <p:cNvPr name="TextBox 8" id="8"/>
            <p:cNvSpPr txBox="true"/>
            <p:nvPr/>
          </p:nvSpPr>
          <p:spPr>
            <a:xfrm>
              <a:off x="0" y="-19050"/>
              <a:ext cx="3281824" cy="757714"/>
            </a:xfrm>
            <a:prstGeom prst="rect">
              <a:avLst/>
            </a:prstGeom>
          </p:spPr>
          <p:txBody>
            <a:bodyPr anchor="t" rtlCol="false" tIns="0" lIns="0" bIns="0" rIns="0"/>
            <a:lstStyle/>
            <a:p>
              <a:pPr algn="ctr">
                <a:lnSpc>
                  <a:spcPts val="3240"/>
                </a:lnSpc>
              </a:pPr>
              <a:r>
                <a:rPr lang="en-US" b="true" sz="2700">
                  <a:solidFill>
                    <a:srgbClr val="FFFFFF"/>
                  </a:solidFill>
                  <a:latin typeface="Times New Roman Bold"/>
                  <a:ea typeface="Times New Roman Bold"/>
                  <a:cs typeface="Times New Roman Bold"/>
                  <a:sym typeface="Times New Roman Bold"/>
                </a:rPr>
                <a:t>AUROC</a:t>
              </a:r>
            </a:p>
          </p:txBody>
        </p:sp>
      </p:grpSp>
      <p:grpSp>
        <p:nvGrpSpPr>
          <p:cNvPr name="Group 9" id="9"/>
          <p:cNvGrpSpPr/>
          <p:nvPr/>
        </p:nvGrpSpPr>
        <p:grpSpPr>
          <a:xfrm rot="0">
            <a:off x="0" y="619125"/>
            <a:ext cx="68578" cy="807913"/>
            <a:chOff x="0" y="0"/>
            <a:chExt cx="91438" cy="1077218"/>
          </a:xfrm>
        </p:grpSpPr>
        <p:sp>
          <p:nvSpPr>
            <p:cNvPr name="Freeform 10" id="10"/>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11" id="11"/>
          <p:cNvGrpSpPr/>
          <p:nvPr/>
        </p:nvGrpSpPr>
        <p:grpSpPr>
          <a:xfrm rot="0">
            <a:off x="171448" y="619125"/>
            <a:ext cx="928688" cy="807913"/>
            <a:chOff x="0" y="0"/>
            <a:chExt cx="1238250" cy="1077218"/>
          </a:xfrm>
        </p:grpSpPr>
        <p:sp>
          <p:nvSpPr>
            <p:cNvPr name="Freeform 12" id="12"/>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13" id="13"/>
          <p:cNvGrpSpPr/>
          <p:nvPr/>
        </p:nvGrpSpPr>
        <p:grpSpPr>
          <a:xfrm rot="0">
            <a:off x="1239796" y="619125"/>
            <a:ext cx="16186334" cy="950830"/>
            <a:chOff x="0" y="0"/>
            <a:chExt cx="13920207" cy="817711"/>
          </a:xfrm>
        </p:grpSpPr>
        <p:sp>
          <p:nvSpPr>
            <p:cNvPr name="Freeform 14" id="14"/>
            <p:cNvSpPr/>
            <p:nvPr/>
          </p:nvSpPr>
          <p:spPr>
            <a:xfrm flipH="false" flipV="false" rot="0">
              <a:off x="0" y="0"/>
              <a:ext cx="13920208" cy="817711"/>
            </a:xfrm>
            <a:custGeom>
              <a:avLst/>
              <a:gdLst/>
              <a:ahLst/>
              <a:cxnLst/>
              <a:rect r="r" b="b" t="t" l="l"/>
              <a:pathLst>
                <a:path h="817711" w="13920208">
                  <a:moveTo>
                    <a:pt x="0" y="0"/>
                  </a:moveTo>
                  <a:lnTo>
                    <a:pt x="13920208" y="0"/>
                  </a:lnTo>
                  <a:lnTo>
                    <a:pt x="13920208" y="817711"/>
                  </a:lnTo>
                  <a:lnTo>
                    <a:pt x="0" y="817711"/>
                  </a:lnTo>
                  <a:close/>
                </a:path>
              </a:pathLst>
            </a:custGeom>
            <a:solidFill>
              <a:srgbClr val="000000">
                <a:alpha val="0"/>
              </a:srgbClr>
            </a:solidFill>
          </p:spPr>
        </p:sp>
        <p:sp>
          <p:nvSpPr>
            <p:cNvPr name="TextBox 15" id="15"/>
            <p:cNvSpPr txBox="true"/>
            <p:nvPr/>
          </p:nvSpPr>
          <p:spPr>
            <a:xfrm>
              <a:off x="0" y="-19050"/>
              <a:ext cx="13920207"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Evaluation </a:t>
              </a:r>
            </a:p>
          </p:txBody>
        </p:sp>
      </p:grpSp>
      <p:grpSp>
        <p:nvGrpSpPr>
          <p:cNvPr name="Group 16" id="16"/>
          <p:cNvGrpSpPr/>
          <p:nvPr/>
        </p:nvGrpSpPr>
        <p:grpSpPr>
          <a:xfrm rot="0">
            <a:off x="635792" y="1885231"/>
            <a:ext cx="2389245" cy="3157880"/>
            <a:chOff x="0" y="0"/>
            <a:chExt cx="2054745" cy="2715769"/>
          </a:xfrm>
        </p:grpSpPr>
        <p:sp>
          <p:nvSpPr>
            <p:cNvPr name="Freeform 17" id="17"/>
            <p:cNvSpPr/>
            <p:nvPr/>
          </p:nvSpPr>
          <p:spPr>
            <a:xfrm flipH="false" flipV="false" rot="0">
              <a:off x="0" y="0"/>
              <a:ext cx="2054745" cy="2715769"/>
            </a:xfrm>
            <a:custGeom>
              <a:avLst/>
              <a:gdLst/>
              <a:ahLst/>
              <a:cxnLst/>
              <a:rect r="r" b="b" t="t" l="l"/>
              <a:pathLst>
                <a:path h="2715769" w="2054745">
                  <a:moveTo>
                    <a:pt x="0" y="0"/>
                  </a:moveTo>
                  <a:lnTo>
                    <a:pt x="2054745" y="0"/>
                  </a:lnTo>
                  <a:lnTo>
                    <a:pt x="2054745" y="2715769"/>
                  </a:lnTo>
                  <a:lnTo>
                    <a:pt x="0" y="2715769"/>
                  </a:lnTo>
                  <a:close/>
                </a:path>
              </a:pathLst>
            </a:custGeom>
            <a:solidFill>
              <a:srgbClr val="000000">
                <a:alpha val="0"/>
              </a:srgbClr>
            </a:solidFill>
          </p:spPr>
        </p:sp>
        <p:sp>
          <p:nvSpPr>
            <p:cNvPr name="TextBox 18" id="18"/>
            <p:cNvSpPr txBox="true"/>
            <p:nvPr/>
          </p:nvSpPr>
          <p:spPr>
            <a:xfrm>
              <a:off x="0" y="-28575"/>
              <a:ext cx="2054745" cy="2744344"/>
            </a:xfrm>
            <a:prstGeom prst="rect">
              <a:avLst/>
            </a:prstGeom>
          </p:spPr>
          <p:txBody>
            <a:bodyPr anchor="t" rtlCol="false" tIns="0" lIns="0" bIns="0" rIns="0"/>
            <a:lstStyle/>
            <a:p>
              <a:pPr algn="l">
                <a:lnSpc>
                  <a:spcPts val="3600"/>
                </a:lnSpc>
              </a:pPr>
              <a:r>
                <a:rPr lang="en-US" sz="3000" b="true">
                  <a:solidFill>
                    <a:srgbClr val="FFFFFF"/>
                  </a:solidFill>
                  <a:latin typeface="Times New Roman Bold"/>
                  <a:ea typeface="Times New Roman Bold"/>
                  <a:cs typeface="Times New Roman Bold"/>
                  <a:sym typeface="Times New Roman Bold"/>
                </a:rPr>
                <a:t>Metrics</a:t>
              </a:r>
            </a:p>
            <a:p>
              <a:pPr algn="l" marL="647700" indent="-323850" lvl="1">
                <a:lnSpc>
                  <a:spcPts val="3600"/>
                </a:lnSpc>
                <a:buFont typeface="Arial"/>
                <a:buChar char="•"/>
              </a:pPr>
              <a:r>
                <a:rPr lang="en-US" b="true" sz="3000">
                  <a:solidFill>
                    <a:srgbClr val="FFFFFF"/>
                  </a:solidFill>
                  <a:latin typeface="Times New Roman Bold"/>
                  <a:ea typeface="Times New Roman Bold"/>
                  <a:cs typeface="Times New Roman Bold"/>
                  <a:sym typeface="Times New Roman Bold"/>
                </a:rPr>
                <a:t>AUROC</a:t>
              </a:r>
            </a:p>
            <a:p>
              <a:pPr algn="l" marL="647700" indent="-323850" lvl="1">
                <a:lnSpc>
                  <a:spcPts val="3600"/>
                </a:lnSpc>
                <a:buFont typeface="Arial"/>
                <a:buChar char="•"/>
              </a:pPr>
              <a:r>
                <a:rPr lang="en-US" b="true" sz="3000">
                  <a:solidFill>
                    <a:srgbClr val="FFFFFF"/>
                  </a:solidFill>
                  <a:latin typeface="Times New Roman Bold"/>
                  <a:ea typeface="Times New Roman Bold"/>
                  <a:cs typeface="Times New Roman Bold"/>
                  <a:sym typeface="Times New Roman Bold"/>
                </a:rPr>
                <a:t>F1-score</a:t>
              </a:r>
            </a:p>
            <a:p>
              <a:pPr algn="l" marL="647700" indent="-323850" lvl="1">
                <a:lnSpc>
                  <a:spcPts val="3600"/>
                </a:lnSpc>
                <a:buFont typeface="Arial"/>
                <a:buChar char="•"/>
              </a:pPr>
              <a:r>
                <a:rPr lang="en-US" b="true" sz="3000">
                  <a:solidFill>
                    <a:srgbClr val="FFFFFF"/>
                  </a:solidFill>
                  <a:latin typeface="Times New Roman Bold"/>
                  <a:ea typeface="Times New Roman Bold"/>
                  <a:cs typeface="Times New Roman Bold"/>
                  <a:sym typeface="Times New Roman Bold"/>
                </a:rPr>
                <a:t>Precision</a:t>
              </a:r>
            </a:p>
            <a:p>
              <a:pPr algn="l" marL="647700" indent="-323850" lvl="1">
                <a:lnSpc>
                  <a:spcPts val="3600"/>
                </a:lnSpc>
                <a:buFont typeface="Arial"/>
                <a:buChar char="•"/>
              </a:pPr>
              <a:r>
                <a:rPr lang="en-US" b="true" sz="3000">
                  <a:solidFill>
                    <a:srgbClr val="FFFFFF"/>
                  </a:solidFill>
                  <a:latin typeface="Times New Roman Bold"/>
                  <a:ea typeface="Times New Roman Bold"/>
                  <a:cs typeface="Times New Roman Bold"/>
                  <a:sym typeface="Times New Roman Bold"/>
                </a:rPr>
                <a:t>recall</a:t>
              </a:r>
            </a:p>
            <a:p>
              <a:pPr algn="l">
                <a:lnSpc>
                  <a:spcPts val="5399"/>
                </a:lnSpc>
              </a:pPr>
            </a:p>
          </p:txBody>
        </p:sp>
      </p:grpSp>
      <p:grpSp>
        <p:nvGrpSpPr>
          <p:cNvPr name="Group 19" id="19"/>
          <p:cNvGrpSpPr/>
          <p:nvPr/>
        </p:nvGrpSpPr>
        <p:grpSpPr>
          <a:xfrm rot="0">
            <a:off x="9614864" y="3281119"/>
            <a:ext cx="2461368" cy="553998"/>
            <a:chOff x="0" y="0"/>
            <a:chExt cx="3281824" cy="738664"/>
          </a:xfrm>
        </p:grpSpPr>
        <p:sp>
          <p:nvSpPr>
            <p:cNvPr name="Freeform 20" id="20"/>
            <p:cNvSpPr/>
            <p:nvPr/>
          </p:nvSpPr>
          <p:spPr>
            <a:xfrm flipH="false" flipV="false" rot="0">
              <a:off x="0" y="0"/>
              <a:ext cx="3281824" cy="738664"/>
            </a:xfrm>
            <a:custGeom>
              <a:avLst/>
              <a:gdLst/>
              <a:ahLst/>
              <a:cxnLst/>
              <a:rect r="r" b="b" t="t" l="l"/>
              <a:pathLst>
                <a:path h="738664" w="3281824">
                  <a:moveTo>
                    <a:pt x="0" y="0"/>
                  </a:moveTo>
                  <a:lnTo>
                    <a:pt x="3281824" y="0"/>
                  </a:lnTo>
                  <a:lnTo>
                    <a:pt x="3281824" y="738664"/>
                  </a:lnTo>
                  <a:lnTo>
                    <a:pt x="0" y="738664"/>
                  </a:lnTo>
                  <a:close/>
                </a:path>
              </a:pathLst>
            </a:custGeom>
            <a:solidFill>
              <a:srgbClr val="000000">
                <a:alpha val="0"/>
              </a:srgbClr>
            </a:solidFill>
          </p:spPr>
        </p:sp>
        <p:sp>
          <p:nvSpPr>
            <p:cNvPr name="TextBox 21" id="21"/>
            <p:cNvSpPr txBox="true"/>
            <p:nvPr/>
          </p:nvSpPr>
          <p:spPr>
            <a:xfrm>
              <a:off x="0" y="-19050"/>
              <a:ext cx="3281824" cy="757714"/>
            </a:xfrm>
            <a:prstGeom prst="rect">
              <a:avLst/>
            </a:prstGeom>
          </p:spPr>
          <p:txBody>
            <a:bodyPr anchor="t" rtlCol="false" tIns="0" lIns="0" bIns="0" rIns="0"/>
            <a:lstStyle/>
            <a:p>
              <a:pPr algn="ctr">
                <a:lnSpc>
                  <a:spcPts val="3240"/>
                </a:lnSpc>
              </a:pPr>
              <a:r>
                <a:rPr lang="en-US" b="true" sz="2700">
                  <a:solidFill>
                    <a:srgbClr val="000000"/>
                  </a:solidFill>
                  <a:latin typeface="Times New Roman Bold"/>
                  <a:ea typeface="Times New Roman Bold"/>
                  <a:cs typeface="Times New Roman Bold"/>
                  <a:sym typeface="Times New Roman Bold"/>
                </a:rPr>
                <a:t>F1-score</a:t>
              </a:r>
            </a:p>
          </p:txBody>
        </p:sp>
      </p:grpSp>
      <p:grpSp>
        <p:nvGrpSpPr>
          <p:cNvPr name="Group 22" id="22"/>
          <p:cNvGrpSpPr/>
          <p:nvPr/>
        </p:nvGrpSpPr>
        <p:grpSpPr>
          <a:xfrm rot="0">
            <a:off x="9614864" y="6551121"/>
            <a:ext cx="2461368" cy="553998"/>
            <a:chOff x="0" y="0"/>
            <a:chExt cx="3281824" cy="738664"/>
          </a:xfrm>
        </p:grpSpPr>
        <p:sp>
          <p:nvSpPr>
            <p:cNvPr name="Freeform 23" id="23"/>
            <p:cNvSpPr/>
            <p:nvPr/>
          </p:nvSpPr>
          <p:spPr>
            <a:xfrm flipH="false" flipV="false" rot="0">
              <a:off x="0" y="0"/>
              <a:ext cx="3281824" cy="738664"/>
            </a:xfrm>
            <a:custGeom>
              <a:avLst/>
              <a:gdLst/>
              <a:ahLst/>
              <a:cxnLst/>
              <a:rect r="r" b="b" t="t" l="l"/>
              <a:pathLst>
                <a:path h="738664" w="3281824">
                  <a:moveTo>
                    <a:pt x="0" y="0"/>
                  </a:moveTo>
                  <a:lnTo>
                    <a:pt x="3281824" y="0"/>
                  </a:lnTo>
                  <a:lnTo>
                    <a:pt x="3281824" y="738664"/>
                  </a:lnTo>
                  <a:lnTo>
                    <a:pt x="0" y="738664"/>
                  </a:lnTo>
                  <a:close/>
                </a:path>
              </a:pathLst>
            </a:custGeom>
            <a:solidFill>
              <a:srgbClr val="000000">
                <a:alpha val="0"/>
              </a:srgbClr>
            </a:solidFill>
          </p:spPr>
        </p:sp>
        <p:sp>
          <p:nvSpPr>
            <p:cNvPr name="TextBox 24" id="24"/>
            <p:cNvSpPr txBox="true"/>
            <p:nvPr/>
          </p:nvSpPr>
          <p:spPr>
            <a:xfrm>
              <a:off x="0" y="-19050"/>
              <a:ext cx="3281824" cy="757714"/>
            </a:xfrm>
            <a:prstGeom prst="rect">
              <a:avLst/>
            </a:prstGeom>
          </p:spPr>
          <p:txBody>
            <a:bodyPr anchor="t" rtlCol="false" tIns="0" lIns="0" bIns="0" rIns="0"/>
            <a:lstStyle/>
            <a:p>
              <a:pPr algn="ctr">
                <a:lnSpc>
                  <a:spcPts val="3240"/>
                </a:lnSpc>
              </a:pPr>
              <a:r>
                <a:rPr lang="en-US" sz="2700" b="true">
                  <a:solidFill>
                    <a:srgbClr val="FFFFFF"/>
                  </a:solidFill>
                  <a:latin typeface="Times New Roman Bold"/>
                  <a:ea typeface="Times New Roman Bold"/>
                  <a:cs typeface="Times New Roman Bold"/>
                  <a:sym typeface="Times New Roman Bold"/>
                </a:rPr>
                <a:t>Precision</a:t>
              </a:r>
            </a:p>
          </p:txBody>
        </p:sp>
      </p:grpSp>
      <p:sp>
        <p:nvSpPr>
          <p:cNvPr name="Freeform 25" id="25"/>
          <p:cNvSpPr/>
          <p:nvPr/>
        </p:nvSpPr>
        <p:spPr>
          <a:xfrm flipH="false" flipV="false" rot="0">
            <a:off x="10179051" y="4073674"/>
            <a:ext cx="1207028" cy="1207028"/>
          </a:xfrm>
          <a:custGeom>
            <a:avLst/>
            <a:gdLst/>
            <a:ahLst/>
            <a:cxnLst/>
            <a:rect r="r" b="b" t="t" l="l"/>
            <a:pathLst>
              <a:path h="1207028" w="1207028">
                <a:moveTo>
                  <a:pt x="0" y="0"/>
                </a:moveTo>
                <a:lnTo>
                  <a:pt x="1207028" y="0"/>
                </a:lnTo>
                <a:lnTo>
                  <a:pt x="1207028" y="1207027"/>
                </a:lnTo>
                <a:lnTo>
                  <a:pt x="0" y="1207027"/>
                </a:lnTo>
                <a:lnTo>
                  <a:pt x="0" y="0"/>
                </a:lnTo>
                <a:close/>
              </a:path>
            </a:pathLst>
          </a:custGeom>
          <a:blipFill>
            <a:blip r:embed="rId11"/>
            <a:stretch>
              <a:fillRect l="0" t="0" r="0" b="0"/>
            </a:stretch>
          </a:blipFill>
        </p:spPr>
      </p:sp>
      <p:sp>
        <p:nvSpPr>
          <p:cNvPr name="Freeform 26" id="26"/>
          <p:cNvSpPr/>
          <p:nvPr/>
        </p:nvSpPr>
        <p:spPr>
          <a:xfrm flipH="false" flipV="false" rot="0">
            <a:off x="6766921" y="4027630"/>
            <a:ext cx="1253071" cy="1253071"/>
          </a:xfrm>
          <a:custGeom>
            <a:avLst/>
            <a:gdLst/>
            <a:ahLst/>
            <a:cxnLst/>
            <a:rect r="r" b="b" t="t" l="l"/>
            <a:pathLst>
              <a:path h="1253071" w="1253071">
                <a:moveTo>
                  <a:pt x="0" y="0"/>
                </a:moveTo>
                <a:lnTo>
                  <a:pt x="1253071" y="0"/>
                </a:lnTo>
                <a:lnTo>
                  <a:pt x="1253071" y="1253071"/>
                </a:lnTo>
                <a:lnTo>
                  <a:pt x="0" y="1253071"/>
                </a:lnTo>
                <a:lnTo>
                  <a:pt x="0" y="0"/>
                </a:lnTo>
                <a:close/>
              </a:path>
            </a:pathLst>
          </a:custGeom>
          <a:blipFill>
            <a:blip r:embed="rId12"/>
            <a:stretch>
              <a:fillRect l="0" t="0" r="0" b="0"/>
            </a:stretch>
          </a:blipFill>
        </p:spPr>
      </p:sp>
      <p:sp>
        <p:nvSpPr>
          <p:cNvPr name="Freeform 27" id="27"/>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28" id="28"/>
          <p:cNvGrpSpPr/>
          <p:nvPr/>
        </p:nvGrpSpPr>
        <p:grpSpPr>
          <a:xfrm rot="0">
            <a:off x="17761578" y="9713952"/>
            <a:ext cx="1268668" cy="2170263"/>
            <a:chOff x="0" y="0"/>
            <a:chExt cx="431800" cy="738664"/>
          </a:xfrm>
        </p:grpSpPr>
        <p:sp>
          <p:nvSpPr>
            <p:cNvPr name="Freeform 29" id="29"/>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30" id="30"/>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20</a:t>
              </a:r>
            </a:p>
          </p:txBody>
        </p:sp>
      </p:grpSp>
      <p:sp>
        <p:nvSpPr>
          <p:cNvPr name="Freeform 31" id="31"/>
          <p:cNvSpPr/>
          <p:nvPr/>
        </p:nvSpPr>
        <p:spPr>
          <a:xfrm flipH="false" flipV="false" rot="0">
            <a:off x="10179051" y="7357294"/>
            <a:ext cx="1392869" cy="1392869"/>
          </a:xfrm>
          <a:custGeom>
            <a:avLst/>
            <a:gdLst/>
            <a:ahLst/>
            <a:cxnLst/>
            <a:rect r="r" b="b" t="t" l="l"/>
            <a:pathLst>
              <a:path h="1392869" w="1392869">
                <a:moveTo>
                  <a:pt x="0" y="0"/>
                </a:moveTo>
                <a:lnTo>
                  <a:pt x="1392869" y="0"/>
                </a:lnTo>
                <a:lnTo>
                  <a:pt x="1392869" y="1392869"/>
                </a:lnTo>
                <a:lnTo>
                  <a:pt x="0" y="1392869"/>
                </a:lnTo>
                <a:lnTo>
                  <a:pt x="0" y="0"/>
                </a:lnTo>
                <a:close/>
              </a:path>
            </a:pathLst>
          </a:custGeom>
          <a:blipFill>
            <a:blip r:embed="rId15"/>
            <a:stretch>
              <a:fillRect l="0" t="0" r="0" b="0"/>
            </a:stretch>
          </a:blipFill>
        </p:spPr>
      </p:sp>
      <p:grpSp>
        <p:nvGrpSpPr>
          <p:cNvPr name="Group 32" id="32"/>
          <p:cNvGrpSpPr/>
          <p:nvPr/>
        </p:nvGrpSpPr>
        <p:grpSpPr>
          <a:xfrm rot="0">
            <a:off x="6122811" y="6551121"/>
            <a:ext cx="2461368" cy="553998"/>
            <a:chOff x="0" y="0"/>
            <a:chExt cx="3281824" cy="738664"/>
          </a:xfrm>
        </p:grpSpPr>
        <p:sp>
          <p:nvSpPr>
            <p:cNvPr name="Freeform 33" id="33"/>
            <p:cNvSpPr/>
            <p:nvPr/>
          </p:nvSpPr>
          <p:spPr>
            <a:xfrm flipH="false" flipV="false" rot="0">
              <a:off x="0" y="0"/>
              <a:ext cx="3281824" cy="738664"/>
            </a:xfrm>
            <a:custGeom>
              <a:avLst/>
              <a:gdLst/>
              <a:ahLst/>
              <a:cxnLst/>
              <a:rect r="r" b="b" t="t" l="l"/>
              <a:pathLst>
                <a:path h="738664" w="3281824">
                  <a:moveTo>
                    <a:pt x="0" y="0"/>
                  </a:moveTo>
                  <a:lnTo>
                    <a:pt x="3281824" y="0"/>
                  </a:lnTo>
                  <a:lnTo>
                    <a:pt x="3281824" y="738664"/>
                  </a:lnTo>
                  <a:lnTo>
                    <a:pt x="0" y="738664"/>
                  </a:lnTo>
                  <a:close/>
                </a:path>
              </a:pathLst>
            </a:custGeom>
            <a:solidFill>
              <a:srgbClr val="000000">
                <a:alpha val="0"/>
              </a:srgbClr>
            </a:solidFill>
          </p:spPr>
        </p:sp>
        <p:sp>
          <p:nvSpPr>
            <p:cNvPr name="TextBox 34" id="34"/>
            <p:cNvSpPr txBox="true"/>
            <p:nvPr/>
          </p:nvSpPr>
          <p:spPr>
            <a:xfrm>
              <a:off x="0" y="-19050"/>
              <a:ext cx="3281824" cy="757714"/>
            </a:xfrm>
            <a:prstGeom prst="rect">
              <a:avLst/>
            </a:prstGeom>
          </p:spPr>
          <p:txBody>
            <a:bodyPr anchor="t" rtlCol="false" tIns="0" lIns="0" bIns="0" rIns="0"/>
            <a:lstStyle/>
            <a:p>
              <a:pPr algn="ctr">
                <a:lnSpc>
                  <a:spcPts val="3240"/>
                </a:lnSpc>
              </a:pPr>
              <a:r>
                <a:rPr lang="en-US" sz="2700" b="true">
                  <a:solidFill>
                    <a:srgbClr val="000000"/>
                  </a:solidFill>
                  <a:latin typeface="Times New Roman Bold"/>
                  <a:ea typeface="Times New Roman Bold"/>
                  <a:cs typeface="Times New Roman Bold"/>
                  <a:sym typeface="Times New Roman Bold"/>
                </a:rPr>
                <a:t>recall</a:t>
              </a:r>
            </a:p>
          </p:txBody>
        </p:sp>
      </p:grpSp>
      <p:sp>
        <p:nvSpPr>
          <p:cNvPr name="Freeform 35" id="35"/>
          <p:cNvSpPr/>
          <p:nvPr/>
        </p:nvSpPr>
        <p:spPr>
          <a:xfrm flipH="false" flipV="false" rot="0">
            <a:off x="6686998" y="7387231"/>
            <a:ext cx="1332994" cy="1332994"/>
          </a:xfrm>
          <a:custGeom>
            <a:avLst/>
            <a:gdLst/>
            <a:ahLst/>
            <a:cxnLst/>
            <a:rect r="r" b="b" t="t" l="l"/>
            <a:pathLst>
              <a:path h="1332994" w="1332994">
                <a:moveTo>
                  <a:pt x="0" y="0"/>
                </a:moveTo>
                <a:lnTo>
                  <a:pt x="1332994" y="0"/>
                </a:lnTo>
                <a:lnTo>
                  <a:pt x="1332994" y="1332994"/>
                </a:lnTo>
                <a:lnTo>
                  <a:pt x="0" y="1332994"/>
                </a:lnTo>
                <a:lnTo>
                  <a:pt x="0" y="0"/>
                </a:lnTo>
                <a:close/>
              </a:path>
            </a:pathLst>
          </a:custGeom>
          <a:blipFill>
            <a:blip r:embed="rId16"/>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9" cy="807910"/>
            <a:chOff x="0" y="0"/>
            <a:chExt cx="91439" cy="1077213"/>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0"/>
            <a:chOff x="0" y="0"/>
            <a:chExt cx="1238251" cy="1077213"/>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sp>
        <p:nvSpPr>
          <p:cNvPr name="Freeform 6" id="6"/>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7761578" y="9713952"/>
            <a:ext cx="1268668" cy="2170263"/>
            <a:chOff x="0" y="0"/>
            <a:chExt cx="431800" cy="738664"/>
          </a:xfrm>
        </p:grpSpPr>
        <p:sp>
          <p:nvSpPr>
            <p:cNvPr name="Freeform 8" id="8"/>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9" id="9"/>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21</a:t>
              </a:r>
            </a:p>
          </p:txBody>
        </p:sp>
      </p:grpSp>
      <p:sp>
        <p:nvSpPr>
          <p:cNvPr name="Freeform 10" id="10"/>
          <p:cNvSpPr/>
          <p:nvPr/>
        </p:nvSpPr>
        <p:spPr>
          <a:xfrm flipH="false" flipV="false" rot="0">
            <a:off x="0" y="5890158"/>
            <a:ext cx="7906939" cy="3745912"/>
          </a:xfrm>
          <a:custGeom>
            <a:avLst/>
            <a:gdLst/>
            <a:ahLst/>
            <a:cxnLst/>
            <a:rect r="r" b="b" t="t" l="l"/>
            <a:pathLst>
              <a:path h="3745912" w="7906939">
                <a:moveTo>
                  <a:pt x="0" y="0"/>
                </a:moveTo>
                <a:lnTo>
                  <a:pt x="7906939" y="0"/>
                </a:lnTo>
                <a:lnTo>
                  <a:pt x="7906939" y="3745912"/>
                </a:lnTo>
                <a:lnTo>
                  <a:pt x="0" y="3745912"/>
                </a:lnTo>
                <a:lnTo>
                  <a:pt x="0" y="0"/>
                </a:lnTo>
                <a:close/>
              </a:path>
            </a:pathLst>
          </a:custGeom>
          <a:blipFill>
            <a:blip r:embed="rId5"/>
            <a:stretch>
              <a:fillRect l="0" t="0" r="0" b="0"/>
            </a:stretch>
          </a:blipFill>
        </p:spPr>
      </p:sp>
      <p:sp>
        <p:nvSpPr>
          <p:cNvPr name="Freeform 11" id="11"/>
          <p:cNvSpPr/>
          <p:nvPr/>
        </p:nvSpPr>
        <p:spPr>
          <a:xfrm flipH="false" flipV="false" rot="0">
            <a:off x="9315223" y="5890158"/>
            <a:ext cx="8187787" cy="3745912"/>
          </a:xfrm>
          <a:custGeom>
            <a:avLst/>
            <a:gdLst/>
            <a:ahLst/>
            <a:cxnLst/>
            <a:rect r="r" b="b" t="t" l="l"/>
            <a:pathLst>
              <a:path h="3745912" w="8187787">
                <a:moveTo>
                  <a:pt x="0" y="0"/>
                </a:moveTo>
                <a:lnTo>
                  <a:pt x="8187787" y="0"/>
                </a:lnTo>
                <a:lnTo>
                  <a:pt x="8187787" y="3745912"/>
                </a:lnTo>
                <a:lnTo>
                  <a:pt x="0" y="3745912"/>
                </a:lnTo>
                <a:lnTo>
                  <a:pt x="0" y="0"/>
                </a:lnTo>
                <a:close/>
              </a:path>
            </a:pathLst>
          </a:custGeom>
          <a:blipFill>
            <a:blip r:embed="rId6"/>
            <a:stretch>
              <a:fillRect l="0" t="0" r="0" b="0"/>
            </a:stretch>
          </a:blipFill>
        </p:spPr>
      </p:sp>
      <p:sp>
        <p:nvSpPr>
          <p:cNvPr name="TextBox 12" id="12"/>
          <p:cNvSpPr txBox="true"/>
          <p:nvPr/>
        </p:nvSpPr>
        <p:spPr>
          <a:xfrm rot="0">
            <a:off x="1222056" y="665905"/>
            <a:ext cx="16186334" cy="695300"/>
          </a:xfrm>
          <a:prstGeom prst="rect">
            <a:avLst/>
          </a:prstGeom>
        </p:spPr>
        <p:txBody>
          <a:bodyPr anchor="t" rtlCol="false" tIns="0" lIns="0" bIns="0" rIns="0">
            <a:spAutoFit/>
          </a:bodyPr>
          <a:lstStyle/>
          <a:p>
            <a:pPr algn="l">
              <a:lnSpc>
                <a:spcPts val="5398"/>
              </a:lnSpc>
            </a:pPr>
            <a:r>
              <a:rPr lang="en-US" sz="4498" b="true">
                <a:solidFill>
                  <a:srgbClr val="FFFFFF"/>
                </a:solidFill>
                <a:latin typeface="Arimo Bold"/>
                <a:ea typeface="Arimo Bold"/>
                <a:cs typeface="Arimo Bold"/>
                <a:sym typeface="Arimo Bold"/>
              </a:rPr>
              <a:t>Deployment</a:t>
            </a:r>
          </a:p>
        </p:txBody>
      </p:sp>
      <p:sp>
        <p:nvSpPr>
          <p:cNvPr name="TextBox 13" id="13"/>
          <p:cNvSpPr txBox="true"/>
          <p:nvPr/>
        </p:nvSpPr>
        <p:spPr>
          <a:xfrm rot="0">
            <a:off x="635792" y="2047850"/>
            <a:ext cx="16186334" cy="3371850"/>
          </a:xfrm>
          <a:prstGeom prst="rect">
            <a:avLst/>
          </a:prstGeom>
        </p:spPr>
        <p:txBody>
          <a:bodyPr anchor="t" rtlCol="false" tIns="0" lIns="0" bIns="0" rIns="0">
            <a:spAutoFit/>
          </a:bodyPr>
          <a:lstStyle/>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Web-based assistant for lymph node H&amp;E patch analysis</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Backend: EfficientNetV2-S patch classifier (Im</a:t>
            </a:r>
            <a:r>
              <a:rPr lang="en-US" b="true" sz="2798">
                <a:solidFill>
                  <a:srgbClr val="FFFFFF"/>
                </a:solidFill>
                <a:latin typeface="Times New Roman Bold"/>
                <a:ea typeface="Times New Roman Bold"/>
                <a:cs typeface="Times New Roman Bold"/>
                <a:sym typeface="Times New Roman Bold"/>
              </a:rPr>
              <a:t>ageNet-1k pretrained, fine-tuned on HCD)</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Workflow: Upload patch → Preprocess (256×256, normalize) → Model inference</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Outputs:</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Patch-level cancer probability + Positive / Negative</a:t>
            </a:r>
            <a:r>
              <a:rPr lang="en-US" b="true" sz="2798">
                <a:solidFill>
                  <a:srgbClr val="FFFFFF"/>
                </a:solidFill>
                <a:latin typeface="Times New Roman Bold"/>
                <a:ea typeface="Times New Roman Bold"/>
                <a:cs typeface="Times New Roman Bold"/>
                <a:sym typeface="Times New Roman Bold"/>
              </a:rPr>
              <a:t> label</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Grad-CAM heatmap highlighting regions contributing to the prediction</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Optional “Generate AI Explanation (beta)” for text summary</a:t>
            </a:r>
          </a:p>
          <a:p>
            <a:pPr algn="l">
              <a:lnSpc>
                <a:spcPts val="3358"/>
              </a:lnSpc>
            </a:pPr>
          </a:p>
        </p:txBody>
      </p:sp>
      <p:sp>
        <p:nvSpPr>
          <p:cNvPr name="Freeform 14" id="14"/>
          <p:cNvSpPr/>
          <p:nvPr/>
        </p:nvSpPr>
        <p:spPr>
          <a:xfrm flipH="false" flipV="true" rot="-108453">
            <a:off x="8302633" y="7543198"/>
            <a:ext cx="616896" cy="439832"/>
          </a:xfrm>
          <a:custGeom>
            <a:avLst/>
            <a:gdLst/>
            <a:ahLst/>
            <a:cxnLst/>
            <a:rect r="r" b="b" t="t" l="l"/>
            <a:pathLst>
              <a:path h="439832" w="616896">
                <a:moveTo>
                  <a:pt x="0" y="439832"/>
                </a:moveTo>
                <a:lnTo>
                  <a:pt x="616896" y="439832"/>
                </a:lnTo>
                <a:lnTo>
                  <a:pt x="616896" y="0"/>
                </a:lnTo>
                <a:lnTo>
                  <a:pt x="0" y="0"/>
                </a:lnTo>
                <a:lnTo>
                  <a:pt x="0" y="439832"/>
                </a:lnTo>
                <a:close/>
              </a:path>
            </a:pathLst>
          </a:custGeom>
          <a:blipFill>
            <a:blip r:embed="rId7">
              <a:extLst>
                <a:ext uri="{96DAC541-7B7A-43D3-8B79-37D633B846F1}">
                  <asvg:svgBlip xmlns:asvg="http://schemas.microsoft.com/office/drawing/2016/SVG/main" r:embed="rId8"/>
                </a:ext>
              </a:extLst>
            </a:blip>
            <a:stretch>
              <a:fillRect l="0" t="-190" r="0" b="-19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6843252" y="575187"/>
            <a:ext cx="4601496" cy="1206475"/>
            <a:chOff x="0" y="0"/>
            <a:chExt cx="6135328" cy="1608634"/>
          </a:xfrm>
        </p:grpSpPr>
        <p:sp>
          <p:nvSpPr>
            <p:cNvPr name="Freeform 3" id="3"/>
            <p:cNvSpPr/>
            <p:nvPr/>
          </p:nvSpPr>
          <p:spPr>
            <a:xfrm flipH="false" flipV="false" rot="0">
              <a:off x="0" y="0"/>
              <a:ext cx="6135328" cy="1608634"/>
            </a:xfrm>
            <a:custGeom>
              <a:avLst/>
              <a:gdLst/>
              <a:ahLst/>
              <a:cxnLst/>
              <a:rect r="r" b="b" t="t" l="l"/>
              <a:pathLst>
                <a:path h="1608634" w="6135328">
                  <a:moveTo>
                    <a:pt x="0" y="0"/>
                  </a:moveTo>
                  <a:lnTo>
                    <a:pt x="6135328" y="0"/>
                  </a:lnTo>
                  <a:lnTo>
                    <a:pt x="6135328" y="1608634"/>
                  </a:lnTo>
                  <a:lnTo>
                    <a:pt x="0" y="1608634"/>
                  </a:lnTo>
                  <a:close/>
                </a:path>
              </a:pathLst>
            </a:custGeom>
            <a:solidFill>
              <a:srgbClr val="000000">
                <a:alpha val="0"/>
              </a:srgbClr>
            </a:solidFill>
          </p:spPr>
        </p:sp>
        <p:sp>
          <p:nvSpPr>
            <p:cNvPr name="TextBox 4" id="4"/>
            <p:cNvSpPr txBox="true"/>
            <p:nvPr/>
          </p:nvSpPr>
          <p:spPr>
            <a:xfrm>
              <a:off x="0" y="-38100"/>
              <a:ext cx="6135328" cy="1646734"/>
            </a:xfrm>
            <a:prstGeom prst="rect">
              <a:avLst/>
            </a:prstGeom>
          </p:spPr>
          <p:txBody>
            <a:bodyPr anchor="t" rtlCol="false" tIns="0" lIns="0" bIns="0" rIns="0"/>
            <a:lstStyle/>
            <a:p>
              <a:pPr algn="ctr">
                <a:lnSpc>
                  <a:spcPts val="7200"/>
                </a:lnSpc>
              </a:pPr>
              <a:r>
                <a:rPr lang="en-US" sz="6000">
                  <a:solidFill>
                    <a:srgbClr val="F7B902"/>
                  </a:solidFill>
                  <a:latin typeface="Times New Roman"/>
                  <a:ea typeface="Times New Roman"/>
                  <a:cs typeface="Times New Roman"/>
                  <a:sym typeface="Times New Roman"/>
                </a:rPr>
                <a:t>CONTENT</a:t>
              </a:r>
            </a:p>
          </p:txBody>
        </p:sp>
      </p:grpSp>
      <p:grpSp>
        <p:nvGrpSpPr>
          <p:cNvPr name="Group 5" id="5"/>
          <p:cNvGrpSpPr/>
          <p:nvPr/>
        </p:nvGrpSpPr>
        <p:grpSpPr>
          <a:xfrm rot="0">
            <a:off x="8486775" y="1637016"/>
            <a:ext cx="1314450" cy="68578"/>
            <a:chOff x="0" y="0"/>
            <a:chExt cx="1752600" cy="91438"/>
          </a:xfrm>
        </p:grpSpPr>
        <p:sp>
          <p:nvSpPr>
            <p:cNvPr name="Freeform 6" id="6"/>
            <p:cNvSpPr/>
            <p:nvPr/>
          </p:nvSpPr>
          <p:spPr>
            <a:xfrm flipH="false" flipV="false" rot="0">
              <a:off x="0" y="0"/>
              <a:ext cx="1752600" cy="91440"/>
            </a:xfrm>
            <a:custGeom>
              <a:avLst/>
              <a:gdLst/>
              <a:ahLst/>
              <a:cxnLst/>
              <a:rect r="r" b="b" t="t" l="l"/>
              <a:pathLst>
                <a:path h="91440" w="1752600">
                  <a:moveTo>
                    <a:pt x="0" y="0"/>
                  </a:moveTo>
                  <a:lnTo>
                    <a:pt x="1752600" y="0"/>
                  </a:lnTo>
                  <a:lnTo>
                    <a:pt x="1752600" y="91440"/>
                  </a:lnTo>
                  <a:lnTo>
                    <a:pt x="0" y="91440"/>
                  </a:lnTo>
                  <a:close/>
                </a:path>
              </a:pathLst>
            </a:custGeom>
            <a:solidFill>
              <a:srgbClr val="F7B902"/>
            </a:solidFill>
          </p:spPr>
        </p:sp>
      </p:grpSp>
      <p:sp>
        <p:nvSpPr>
          <p:cNvPr name="Freeform 7" id="7"/>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7761578" y="9713952"/>
            <a:ext cx="1268668" cy="2170263"/>
            <a:chOff x="0" y="0"/>
            <a:chExt cx="431800" cy="738664"/>
          </a:xfrm>
        </p:grpSpPr>
        <p:sp>
          <p:nvSpPr>
            <p:cNvPr name="Freeform 9" id="9"/>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0" id="10"/>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22</a:t>
              </a:r>
            </a:p>
          </p:txBody>
        </p:sp>
      </p:grpSp>
      <p:grpSp>
        <p:nvGrpSpPr>
          <p:cNvPr name="Group 11" id="11"/>
          <p:cNvGrpSpPr/>
          <p:nvPr/>
        </p:nvGrpSpPr>
        <p:grpSpPr>
          <a:xfrm rot="0">
            <a:off x="642895" y="7390629"/>
            <a:ext cx="2405241" cy="718170"/>
            <a:chOff x="0" y="0"/>
            <a:chExt cx="3206988" cy="957560"/>
          </a:xfrm>
        </p:grpSpPr>
        <p:sp>
          <p:nvSpPr>
            <p:cNvPr name="Freeform 12" id="12"/>
            <p:cNvSpPr/>
            <p:nvPr/>
          </p:nvSpPr>
          <p:spPr>
            <a:xfrm flipH="false" flipV="false" rot="0">
              <a:off x="0" y="0"/>
              <a:ext cx="3206988" cy="957560"/>
            </a:xfrm>
            <a:custGeom>
              <a:avLst/>
              <a:gdLst/>
              <a:ahLst/>
              <a:cxnLst/>
              <a:rect r="r" b="b" t="t" l="l"/>
              <a:pathLst>
                <a:path h="957560" w="3206988">
                  <a:moveTo>
                    <a:pt x="0" y="0"/>
                  </a:moveTo>
                  <a:lnTo>
                    <a:pt x="3206988" y="0"/>
                  </a:lnTo>
                  <a:lnTo>
                    <a:pt x="3206988" y="957560"/>
                  </a:lnTo>
                  <a:lnTo>
                    <a:pt x="0" y="957560"/>
                  </a:lnTo>
                  <a:close/>
                </a:path>
              </a:pathLst>
            </a:custGeom>
            <a:solidFill>
              <a:srgbClr val="000000">
                <a:alpha val="0"/>
              </a:srgbClr>
            </a:solidFill>
          </p:spPr>
        </p:sp>
        <p:sp>
          <p:nvSpPr>
            <p:cNvPr name="TextBox 13" id="13"/>
            <p:cNvSpPr txBox="true"/>
            <p:nvPr/>
          </p:nvSpPr>
          <p:spPr>
            <a:xfrm>
              <a:off x="0" y="-28575"/>
              <a:ext cx="3206988" cy="986135"/>
            </a:xfrm>
            <a:prstGeom prst="rect">
              <a:avLst/>
            </a:prstGeom>
          </p:spPr>
          <p:txBody>
            <a:bodyPr anchor="t" rtlCol="false" tIns="0" lIns="0" bIns="0" rIns="0"/>
            <a:lstStyle/>
            <a:p>
              <a:pPr algn="ctr">
                <a:lnSpc>
                  <a:spcPts val="4320"/>
                </a:lnSpc>
              </a:pPr>
              <a:r>
                <a:rPr lang="en-US" sz="3600">
                  <a:solidFill>
                    <a:srgbClr val="FFFFFF">
                      <a:alpha val="23922"/>
                    </a:srgbClr>
                  </a:solidFill>
                  <a:latin typeface="Times New Roman"/>
                  <a:ea typeface="Times New Roman"/>
                  <a:cs typeface="Times New Roman"/>
                  <a:sym typeface="Times New Roman"/>
                </a:rPr>
                <a:t>Introduction</a:t>
              </a:r>
            </a:p>
          </p:txBody>
        </p:sp>
      </p:grpSp>
      <p:grpSp>
        <p:nvGrpSpPr>
          <p:cNvPr name="Group 14" id="14"/>
          <p:cNvGrpSpPr/>
          <p:nvPr/>
        </p:nvGrpSpPr>
        <p:grpSpPr>
          <a:xfrm rot="0">
            <a:off x="4179017" y="7156475"/>
            <a:ext cx="2654710" cy="1261095"/>
            <a:chOff x="0" y="0"/>
            <a:chExt cx="3539614" cy="1681460"/>
          </a:xfrm>
        </p:grpSpPr>
        <p:sp>
          <p:nvSpPr>
            <p:cNvPr name="Freeform 15" id="15"/>
            <p:cNvSpPr/>
            <p:nvPr/>
          </p:nvSpPr>
          <p:spPr>
            <a:xfrm flipH="false" flipV="false" rot="0">
              <a:off x="0" y="0"/>
              <a:ext cx="3539614" cy="1681460"/>
            </a:xfrm>
            <a:custGeom>
              <a:avLst/>
              <a:gdLst/>
              <a:ahLst/>
              <a:cxnLst/>
              <a:rect r="r" b="b" t="t" l="l"/>
              <a:pathLst>
                <a:path h="1681460" w="3539614">
                  <a:moveTo>
                    <a:pt x="0" y="0"/>
                  </a:moveTo>
                  <a:lnTo>
                    <a:pt x="3539614" y="0"/>
                  </a:lnTo>
                  <a:lnTo>
                    <a:pt x="3539614" y="1681460"/>
                  </a:lnTo>
                  <a:lnTo>
                    <a:pt x="0" y="1681460"/>
                  </a:lnTo>
                  <a:close/>
                </a:path>
              </a:pathLst>
            </a:custGeom>
            <a:solidFill>
              <a:srgbClr val="000000">
                <a:alpha val="0"/>
              </a:srgbClr>
            </a:solidFill>
          </p:spPr>
        </p:sp>
        <p:sp>
          <p:nvSpPr>
            <p:cNvPr name="TextBox 16" id="16"/>
            <p:cNvSpPr txBox="true"/>
            <p:nvPr/>
          </p:nvSpPr>
          <p:spPr>
            <a:xfrm>
              <a:off x="0" y="-28575"/>
              <a:ext cx="3539614" cy="1710035"/>
            </a:xfrm>
            <a:prstGeom prst="rect">
              <a:avLst/>
            </a:prstGeom>
          </p:spPr>
          <p:txBody>
            <a:bodyPr anchor="t" rtlCol="false" tIns="0" lIns="0" bIns="0" rIns="0"/>
            <a:lstStyle/>
            <a:p>
              <a:pPr algn="ctr">
                <a:lnSpc>
                  <a:spcPts val="4320"/>
                </a:lnSpc>
              </a:pPr>
              <a:r>
                <a:rPr lang="en-US" sz="3600">
                  <a:solidFill>
                    <a:srgbClr val="FFFFFF">
                      <a:alpha val="23922"/>
                    </a:srgbClr>
                  </a:solidFill>
                  <a:latin typeface="Times New Roman"/>
                  <a:ea typeface="Times New Roman"/>
                  <a:cs typeface="Times New Roman"/>
                  <a:sym typeface="Times New Roman"/>
                </a:rPr>
                <a:t>Problem Setting</a:t>
              </a:r>
            </a:p>
          </p:txBody>
        </p:sp>
      </p:grpSp>
      <p:grpSp>
        <p:nvGrpSpPr>
          <p:cNvPr name="Group 17" id="17"/>
          <p:cNvGrpSpPr/>
          <p:nvPr/>
        </p:nvGrpSpPr>
        <p:grpSpPr>
          <a:xfrm rot="0">
            <a:off x="11366546" y="7068390"/>
            <a:ext cx="2763519" cy="1261095"/>
            <a:chOff x="0" y="0"/>
            <a:chExt cx="3684692" cy="1681460"/>
          </a:xfrm>
        </p:grpSpPr>
        <p:sp>
          <p:nvSpPr>
            <p:cNvPr name="Freeform 18" id="18"/>
            <p:cNvSpPr/>
            <p:nvPr/>
          </p:nvSpPr>
          <p:spPr>
            <a:xfrm flipH="false" flipV="false" rot="0">
              <a:off x="0" y="0"/>
              <a:ext cx="3684692" cy="1681460"/>
            </a:xfrm>
            <a:custGeom>
              <a:avLst/>
              <a:gdLst/>
              <a:ahLst/>
              <a:cxnLst/>
              <a:rect r="r" b="b" t="t" l="l"/>
              <a:pathLst>
                <a:path h="1681460" w="3684692">
                  <a:moveTo>
                    <a:pt x="0" y="0"/>
                  </a:moveTo>
                  <a:lnTo>
                    <a:pt x="3684692" y="0"/>
                  </a:lnTo>
                  <a:lnTo>
                    <a:pt x="3684692" y="1681460"/>
                  </a:lnTo>
                  <a:lnTo>
                    <a:pt x="0" y="1681460"/>
                  </a:lnTo>
                  <a:close/>
                </a:path>
              </a:pathLst>
            </a:custGeom>
            <a:solidFill>
              <a:srgbClr val="000000">
                <a:alpha val="0"/>
              </a:srgbClr>
            </a:solidFill>
          </p:spPr>
        </p:sp>
        <p:sp>
          <p:nvSpPr>
            <p:cNvPr name="TextBox 19" id="19"/>
            <p:cNvSpPr txBox="true"/>
            <p:nvPr/>
          </p:nvSpPr>
          <p:spPr>
            <a:xfrm>
              <a:off x="0" y="-28575"/>
              <a:ext cx="3684692" cy="1710035"/>
            </a:xfrm>
            <a:prstGeom prst="rect">
              <a:avLst/>
            </a:prstGeom>
          </p:spPr>
          <p:txBody>
            <a:bodyPr anchor="t" rtlCol="false" tIns="0" lIns="0" bIns="0" rIns="0"/>
            <a:lstStyle/>
            <a:p>
              <a:pPr algn="ctr">
                <a:lnSpc>
                  <a:spcPts val="4320"/>
                </a:lnSpc>
              </a:pPr>
              <a:r>
                <a:rPr lang="en-US" sz="3600">
                  <a:solidFill>
                    <a:srgbClr val="FFFFFF"/>
                  </a:solidFill>
                  <a:latin typeface="Times New Roman"/>
                  <a:ea typeface="Times New Roman"/>
                  <a:cs typeface="Times New Roman"/>
                  <a:sym typeface="Times New Roman"/>
                </a:rPr>
                <a:t>Experimental Setting </a:t>
              </a:r>
            </a:p>
          </p:txBody>
        </p:sp>
      </p:grpSp>
      <p:grpSp>
        <p:nvGrpSpPr>
          <p:cNvPr name="Group 20" id="20"/>
          <p:cNvGrpSpPr/>
          <p:nvPr/>
        </p:nvGrpSpPr>
        <p:grpSpPr>
          <a:xfrm rot="0">
            <a:off x="518161" y="4281678"/>
            <a:ext cx="2654710" cy="2654710"/>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23922"/>
              </a:srgbClr>
            </a:solidFill>
          </p:spPr>
        </p:sp>
        <p:sp>
          <p:nvSpPr>
            <p:cNvPr name="TextBox 22" id="22"/>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grpSp>
        <p:nvGrpSpPr>
          <p:cNvPr name="Group 23" id="23"/>
          <p:cNvGrpSpPr/>
          <p:nvPr/>
        </p:nvGrpSpPr>
        <p:grpSpPr>
          <a:xfrm rot="0">
            <a:off x="4176840" y="4281678"/>
            <a:ext cx="2654710" cy="2654710"/>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23922"/>
              </a:srgbClr>
            </a:solidFill>
          </p:spPr>
        </p:sp>
        <p:sp>
          <p:nvSpPr>
            <p:cNvPr name="TextBox 25" id="25"/>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grpSp>
        <p:nvGrpSpPr>
          <p:cNvPr name="Group 26" id="26"/>
          <p:cNvGrpSpPr/>
          <p:nvPr/>
        </p:nvGrpSpPr>
        <p:grpSpPr>
          <a:xfrm rot="0">
            <a:off x="11330146" y="4281678"/>
            <a:ext cx="2654710" cy="2654710"/>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solidFill>
          </p:spPr>
        </p:sp>
        <p:sp>
          <p:nvSpPr>
            <p:cNvPr name="TextBox 28" id="28"/>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grpSp>
        <p:nvGrpSpPr>
          <p:cNvPr name="Group 29" id="29"/>
          <p:cNvGrpSpPr/>
          <p:nvPr/>
        </p:nvGrpSpPr>
        <p:grpSpPr>
          <a:xfrm rot="0">
            <a:off x="14970752" y="4281678"/>
            <a:ext cx="2654710" cy="2654710"/>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23922"/>
              </a:srgbClr>
            </a:solidFill>
          </p:spPr>
        </p:sp>
        <p:sp>
          <p:nvSpPr>
            <p:cNvPr name="TextBox 31" id="31"/>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32" id="32"/>
          <p:cNvSpPr/>
          <p:nvPr/>
        </p:nvSpPr>
        <p:spPr>
          <a:xfrm flipH="false" flipV="false" rot="0">
            <a:off x="1125180" y="4888698"/>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4">
              <a:alphaModFix amt="24000"/>
            </a:blip>
            <a:stretch>
              <a:fillRect l="0" t="0" r="0" b="0"/>
            </a:stretch>
          </a:blipFill>
        </p:spPr>
      </p:sp>
      <p:sp>
        <p:nvSpPr>
          <p:cNvPr name="Freeform 33" id="33"/>
          <p:cNvSpPr/>
          <p:nvPr/>
        </p:nvSpPr>
        <p:spPr>
          <a:xfrm flipH="false" flipV="false" rot="0">
            <a:off x="4783860" y="4888698"/>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5">
              <a:alphaModFix amt="24000"/>
            </a:blip>
            <a:stretch>
              <a:fillRect l="0" t="0" r="0" b="0"/>
            </a:stretch>
          </a:blipFill>
        </p:spPr>
      </p:sp>
      <p:sp>
        <p:nvSpPr>
          <p:cNvPr name="Freeform 34" id="34"/>
          <p:cNvSpPr/>
          <p:nvPr/>
        </p:nvSpPr>
        <p:spPr>
          <a:xfrm flipH="false" flipV="false" rot="0">
            <a:off x="11937166" y="4888698"/>
            <a:ext cx="1440671" cy="1440671"/>
          </a:xfrm>
          <a:custGeom>
            <a:avLst/>
            <a:gdLst/>
            <a:ahLst/>
            <a:cxnLst/>
            <a:rect r="r" b="b" t="t" l="l"/>
            <a:pathLst>
              <a:path h="1440671" w="1440671">
                <a:moveTo>
                  <a:pt x="0" y="0"/>
                </a:moveTo>
                <a:lnTo>
                  <a:pt x="1440670" y="0"/>
                </a:lnTo>
                <a:lnTo>
                  <a:pt x="1440670" y="1440671"/>
                </a:lnTo>
                <a:lnTo>
                  <a:pt x="0" y="1440671"/>
                </a:lnTo>
                <a:lnTo>
                  <a:pt x="0" y="0"/>
                </a:lnTo>
                <a:close/>
              </a:path>
            </a:pathLst>
          </a:custGeom>
          <a:blipFill>
            <a:blip r:embed="rId6"/>
            <a:stretch>
              <a:fillRect l="0" t="0" r="0" b="0"/>
            </a:stretch>
          </a:blipFill>
        </p:spPr>
      </p:sp>
      <p:sp>
        <p:nvSpPr>
          <p:cNvPr name="Freeform 35" id="35"/>
          <p:cNvSpPr/>
          <p:nvPr/>
        </p:nvSpPr>
        <p:spPr>
          <a:xfrm flipH="false" flipV="false" rot="0">
            <a:off x="15582528" y="4888698"/>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7">
              <a:alphaModFix amt="24000"/>
            </a:blip>
            <a:stretch>
              <a:fillRect l="0" t="0" r="0" b="0"/>
            </a:stretch>
          </a:blipFill>
        </p:spPr>
      </p:sp>
      <p:grpSp>
        <p:nvGrpSpPr>
          <p:cNvPr name="Group 36" id="36"/>
          <p:cNvGrpSpPr/>
          <p:nvPr/>
        </p:nvGrpSpPr>
        <p:grpSpPr>
          <a:xfrm rot="0">
            <a:off x="15033119" y="7156475"/>
            <a:ext cx="2529977" cy="1261095"/>
            <a:chOff x="0" y="0"/>
            <a:chExt cx="3373302" cy="1681460"/>
          </a:xfrm>
        </p:grpSpPr>
        <p:sp>
          <p:nvSpPr>
            <p:cNvPr name="Freeform 37" id="37"/>
            <p:cNvSpPr/>
            <p:nvPr/>
          </p:nvSpPr>
          <p:spPr>
            <a:xfrm flipH="false" flipV="false" rot="0">
              <a:off x="0" y="0"/>
              <a:ext cx="3373302" cy="1681460"/>
            </a:xfrm>
            <a:custGeom>
              <a:avLst/>
              <a:gdLst/>
              <a:ahLst/>
              <a:cxnLst/>
              <a:rect r="r" b="b" t="t" l="l"/>
              <a:pathLst>
                <a:path h="1681460" w="3373302">
                  <a:moveTo>
                    <a:pt x="0" y="0"/>
                  </a:moveTo>
                  <a:lnTo>
                    <a:pt x="3373302" y="0"/>
                  </a:lnTo>
                  <a:lnTo>
                    <a:pt x="3373302" y="1681460"/>
                  </a:lnTo>
                  <a:lnTo>
                    <a:pt x="0" y="1681460"/>
                  </a:lnTo>
                  <a:close/>
                </a:path>
              </a:pathLst>
            </a:custGeom>
            <a:solidFill>
              <a:srgbClr val="000000">
                <a:alpha val="0"/>
              </a:srgbClr>
            </a:solidFill>
          </p:spPr>
        </p:sp>
        <p:sp>
          <p:nvSpPr>
            <p:cNvPr name="TextBox 38" id="38"/>
            <p:cNvSpPr txBox="true"/>
            <p:nvPr/>
          </p:nvSpPr>
          <p:spPr>
            <a:xfrm>
              <a:off x="0" y="-28575"/>
              <a:ext cx="3373302" cy="1710035"/>
            </a:xfrm>
            <a:prstGeom prst="rect">
              <a:avLst/>
            </a:prstGeom>
          </p:spPr>
          <p:txBody>
            <a:bodyPr anchor="t" rtlCol="false" tIns="0" lIns="0" bIns="0" rIns="0"/>
            <a:lstStyle/>
            <a:p>
              <a:pPr algn="ctr">
                <a:lnSpc>
                  <a:spcPts val="4320"/>
                </a:lnSpc>
              </a:pPr>
              <a:r>
                <a:rPr lang="en-US" sz="3600">
                  <a:solidFill>
                    <a:srgbClr val="FFFFFF">
                      <a:alpha val="23922"/>
                    </a:srgbClr>
                  </a:solidFill>
                  <a:latin typeface="Times New Roman"/>
                  <a:ea typeface="Times New Roman"/>
                  <a:cs typeface="Times New Roman"/>
                  <a:sym typeface="Times New Roman"/>
                </a:rPr>
                <a:t>Experimental Results </a:t>
              </a:r>
            </a:p>
          </p:txBody>
        </p:sp>
      </p:grpSp>
      <p:grpSp>
        <p:nvGrpSpPr>
          <p:cNvPr name="Group 39" id="39"/>
          <p:cNvGrpSpPr/>
          <p:nvPr/>
        </p:nvGrpSpPr>
        <p:grpSpPr>
          <a:xfrm rot="0">
            <a:off x="7808782" y="7130192"/>
            <a:ext cx="2654710" cy="1261095"/>
            <a:chOff x="0" y="0"/>
            <a:chExt cx="3539614" cy="1681460"/>
          </a:xfrm>
        </p:grpSpPr>
        <p:sp>
          <p:nvSpPr>
            <p:cNvPr name="Freeform 40" id="40"/>
            <p:cNvSpPr/>
            <p:nvPr/>
          </p:nvSpPr>
          <p:spPr>
            <a:xfrm flipH="false" flipV="false" rot="0">
              <a:off x="0" y="0"/>
              <a:ext cx="3539614" cy="1681460"/>
            </a:xfrm>
            <a:custGeom>
              <a:avLst/>
              <a:gdLst/>
              <a:ahLst/>
              <a:cxnLst/>
              <a:rect r="r" b="b" t="t" l="l"/>
              <a:pathLst>
                <a:path h="1681460" w="3539614">
                  <a:moveTo>
                    <a:pt x="0" y="0"/>
                  </a:moveTo>
                  <a:lnTo>
                    <a:pt x="3539614" y="0"/>
                  </a:lnTo>
                  <a:lnTo>
                    <a:pt x="3539614" y="1681460"/>
                  </a:lnTo>
                  <a:lnTo>
                    <a:pt x="0" y="1681460"/>
                  </a:lnTo>
                  <a:close/>
                </a:path>
              </a:pathLst>
            </a:custGeom>
            <a:solidFill>
              <a:srgbClr val="000000">
                <a:alpha val="0"/>
              </a:srgbClr>
            </a:solidFill>
          </p:spPr>
        </p:sp>
        <p:sp>
          <p:nvSpPr>
            <p:cNvPr name="TextBox 41" id="41"/>
            <p:cNvSpPr txBox="true"/>
            <p:nvPr/>
          </p:nvSpPr>
          <p:spPr>
            <a:xfrm>
              <a:off x="0" y="-28575"/>
              <a:ext cx="3539614" cy="1710035"/>
            </a:xfrm>
            <a:prstGeom prst="rect">
              <a:avLst/>
            </a:prstGeom>
          </p:spPr>
          <p:txBody>
            <a:bodyPr anchor="t" rtlCol="false" tIns="0" lIns="0" bIns="0" rIns="0"/>
            <a:lstStyle/>
            <a:p>
              <a:pPr algn="ctr">
                <a:lnSpc>
                  <a:spcPts val="4320"/>
                </a:lnSpc>
              </a:pPr>
              <a:r>
                <a:rPr lang="en-US" sz="3600">
                  <a:solidFill>
                    <a:srgbClr val="FFFFFF">
                      <a:alpha val="23922"/>
                    </a:srgbClr>
                  </a:solidFill>
                  <a:latin typeface="Times New Roman"/>
                  <a:ea typeface="Times New Roman"/>
                  <a:cs typeface="Times New Roman"/>
                  <a:sym typeface="Times New Roman"/>
                </a:rPr>
                <a:t>Proposed Methods</a:t>
              </a:r>
            </a:p>
          </p:txBody>
        </p:sp>
      </p:grpSp>
      <p:grpSp>
        <p:nvGrpSpPr>
          <p:cNvPr name="Group 42" id="42"/>
          <p:cNvGrpSpPr/>
          <p:nvPr/>
        </p:nvGrpSpPr>
        <p:grpSpPr>
          <a:xfrm rot="0">
            <a:off x="7806605" y="4255395"/>
            <a:ext cx="2654710" cy="2654710"/>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23922"/>
              </a:srgbClr>
            </a:solidFill>
          </p:spPr>
        </p:sp>
        <p:sp>
          <p:nvSpPr>
            <p:cNvPr name="TextBox 44" id="44"/>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45" id="45"/>
          <p:cNvSpPr/>
          <p:nvPr/>
        </p:nvSpPr>
        <p:spPr>
          <a:xfrm flipH="false" flipV="false" rot="0">
            <a:off x="8304091" y="4824315"/>
            <a:ext cx="1659740" cy="1703091"/>
          </a:xfrm>
          <a:custGeom>
            <a:avLst/>
            <a:gdLst/>
            <a:ahLst/>
            <a:cxnLst/>
            <a:rect r="r" b="b" t="t" l="l"/>
            <a:pathLst>
              <a:path h="1703091" w="1659740">
                <a:moveTo>
                  <a:pt x="0" y="0"/>
                </a:moveTo>
                <a:lnTo>
                  <a:pt x="1659740" y="0"/>
                </a:lnTo>
                <a:lnTo>
                  <a:pt x="1659740" y="1703091"/>
                </a:lnTo>
                <a:lnTo>
                  <a:pt x="0" y="1703091"/>
                </a:lnTo>
                <a:lnTo>
                  <a:pt x="0" y="0"/>
                </a:lnTo>
                <a:close/>
              </a:path>
            </a:pathLst>
          </a:custGeom>
          <a:blipFill>
            <a:blip r:embed="rId8">
              <a:alphaModFix amt="24000"/>
              <a:extLst>
                <a:ext uri="{96DAC541-7B7A-43D3-8B79-37D633B846F1}">
                  <asvg:svgBlip xmlns:asvg="http://schemas.microsoft.com/office/drawing/2016/SVG/main" r:embed="rId9"/>
                </a:ext>
              </a:extLst>
            </a:blip>
            <a:stretch>
              <a:fillRect l="0" t="0" r="0" b="0"/>
            </a:stretch>
          </a:blipFill>
        </p:spPr>
      </p:sp>
      <p:grpSp>
        <p:nvGrpSpPr>
          <p:cNvPr name="Group 46" id="46"/>
          <p:cNvGrpSpPr/>
          <p:nvPr/>
        </p:nvGrpSpPr>
        <p:grpSpPr>
          <a:xfrm rot="0">
            <a:off x="11330146" y="8461487"/>
            <a:ext cx="3702973" cy="1898427"/>
            <a:chOff x="0" y="0"/>
            <a:chExt cx="4937298" cy="2531236"/>
          </a:xfrm>
        </p:grpSpPr>
        <p:sp>
          <p:nvSpPr>
            <p:cNvPr name="Freeform 47" id="47"/>
            <p:cNvSpPr/>
            <p:nvPr/>
          </p:nvSpPr>
          <p:spPr>
            <a:xfrm flipH="false" flipV="false" rot="0">
              <a:off x="0" y="0"/>
              <a:ext cx="4937298" cy="2531236"/>
            </a:xfrm>
            <a:custGeom>
              <a:avLst/>
              <a:gdLst/>
              <a:ahLst/>
              <a:cxnLst/>
              <a:rect r="r" b="b" t="t" l="l"/>
              <a:pathLst>
                <a:path h="2531236" w="4937298">
                  <a:moveTo>
                    <a:pt x="0" y="0"/>
                  </a:moveTo>
                  <a:lnTo>
                    <a:pt x="4937298" y="0"/>
                  </a:lnTo>
                  <a:lnTo>
                    <a:pt x="4937298" y="2531236"/>
                  </a:lnTo>
                  <a:lnTo>
                    <a:pt x="0" y="2531236"/>
                  </a:lnTo>
                  <a:close/>
                </a:path>
              </a:pathLst>
            </a:custGeom>
            <a:solidFill>
              <a:srgbClr val="000000">
                <a:alpha val="0"/>
              </a:srgbClr>
            </a:solidFill>
          </p:spPr>
        </p:sp>
        <p:sp>
          <p:nvSpPr>
            <p:cNvPr name="TextBox 48" id="48"/>
            <p:cNvSpPr txBox="true"/>
            <p:nvPr/>
          </p:nvSpPr>
          <p:spPr>
            <a:xfrm>
              <a:off x="0" y="-19050"/>
              <a:ext cx="4937298" cy="2550286"/>
            </a:xfrm>
            <a:prstGeom prst="rect">
              <a:avLst/>
            </a:prstGeom>
          </p:spPr>
          <p:txBody>
            <a:bodyPr anchor="t" rtlCol="false" tIns="0" lIns="0" bIns="0" rIns="0"/>
            <a:lstStyle/>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Datasets </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Baseline</a:t>
              </a:r>
              <a:r>
                <a:rPr lang="en-US" b="true" sz="2000">
                  <a:solidFill>
                    <a:srgbClr val="FFFFFF"/>
                  </a:solidFill>
                  <a:latin typeface="Times New Roman Bold"/>
                  <a:ea typeface="Times New Roman Bold"/>
                  <a:cs typeface="Times New Roman Bold"/>
                  <a:sym typeface="Times New Roman Bold"/>
                </a:rPr>
                <a:t> &amp; SOTA Methods </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Evaluation Strategy</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Environment </a:t>
              </a:r>
            </a:p>
            <a:p>
              <a:pPr algn="l">
                <a:lnSpc>
                  <a:spcPts val="4320"/>
                </a:lnSpc>
              </a:pP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8" cy="807913"/>
            <a:chOff x="0" y="0"/>
            <a:chExt cx="91438" cy="1077218"/>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3"/>
            <a:chOff x="0" y="0"/>
            <a:chExt cx="1238250" cy="1077218"/>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6" id="6"/>
          <p:cNvGrpSpPr/>
          <p:nvPr/>
        </p:nvGrpSpPr>
        <p:grpSpPr>
          <a:xfrm rot="0">
            <a:off x="1222056" y="542925"/>
            <a:ext cx="16186334" cy="950830"/>
            <a:chOff x="0" y="0"/>
            <a:chExt cx="13920207" cy="817711"/>
          </a:xfrm>
        </p:grpSpPr>
        <p:sp>
          <p:nvSpPr>
            <p:cNvPr name="Freeform 7" id="7"/>
            <p:cNvSpPr/>
            <p:nvPr/>
          </p:nvSpPr>
          <p:spPr>
            <a:xfrm flipH="false" flipV="false" rot="0">
              <a:off x="0" y="0"/>
              <a:ext cx="13920208" cy="817711"/>
            </a:xfrm>
            <a:custGeom>
              <a:avLst/>
              <a:gdLst/>
              <a:ahLst/>
              <a:cxnLst/>
              <a:rect r="r" b="b" t="t" l="l"/>
              <a:pathLst>
                <a:path h="817711" w="13920208">
                  <a:moveTo>
                    <a:pt x="0" y="0"/>
                  </a:moveTo>
                  <a:lnTo>
                    <a:pt x="13920208" y="0"/>
                  </a:lnTo>
                  <a:lnTo>
                    <a:pt x="13920208" y="817711"/>
                  </a:lnTo>
                  <a:lnTo>
                    <a:pt x="0" y="817711"/>
                  </a:lnTo>
                  <a:close/>
                </a:path>
              </a:pathLst>
            </a:custGeom>
            <a:solidFill>
              <a:srgbClr val="000000">
                <a:alpha val="0"/>
              </a:srgbClr>
            </a:solidFill>
          </p:spPr>
        </p:sp>
        <p:sp>
          <p:nvSpPr>
            <p:cNvPr name="TextBox 8" id="8"/>
            <p:cNvSpPr txBox="true"/>
            <p:nvPr/>
          </p:nvSpPr>
          <p:spPr>
            <a:xfrm>
              <a:off x="0" y="-19050"/>
              <a:ext cx="13920207"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Dataset</a:t>
              </a:r>
            </a:p>
          </p:txBody>
        </p:sp>
      </p:grpSp>
      <p:sp>
        <p:nvSpPr>
          <p:cNvPr name="TextBox 9" id="9"/>
          <p:cNvSpPr txBox="true"/>
          <p:nvPr/>
        </p:nvSpPr>
        <p:spPr>
          <a:xfrm rot="0">
            <a:off x="5801510" y="5960045"/>
            <a:ext cx="7027426" cy="285750"/>
          </a:xfrm>
          <a:prstGeom prst="rect">
            <a:avLst/>
          </a:prstGeom>
        </p:spPr>
        <p:txBody>
          <a:bodyPr anchor="t" rtlCol="false" tIns="0" lIns="0" bIns="0" rIns="0">
            <a:spAutoFit/>
          </a:bodyPr>
          <a:lstStyle/>
          <a:p>
            <a:pPr algn="ctr">
              <a:lnSpc>
                <a:spcPts val="2160"/>
              </a:lnSpc>
              <a:spcBef>
                <a:spcPct val="0"/>
              </a:spcBef>
            </a:pPr>
            <a:r>
              <a:rPr lang="en-US" sz="1800">
                <a:solidFill>
                  <a:srgbClr val="FFFFFF"/>
                </a:solidFill>
                <a:latin typeface="Times New Roman"/>
                <a:ea typeface="Times New Roman"/>
                <a:cs typeface="Times New Roman"/>
                <a:sym typeface="Times New Roman"/>
              </a:rPr>
              <a:t>Link:https://www.kaggle.com/competitions/histopathologic-cancer-detection</a:t>
            </a:r>
          </a:p>
        </p:txBody>
      </p:sp>
      <p:grpSp>
        <p:nvGrpSpPr>
          <p:cNvPr name="Group 10" id="10"/>
          <p:cNvGrpSpPr/>
          <p:nvPr/>
        </p:nvGrpSpPr>
        <p:grpSpPr>
          <a:xfrm rot="0">
            <a:off x="2233884" y="4522850"/>
            <a:ext cx="14162678" cy="1241299"/>
            <a:chOff x="0" y="0"/>
            <a:chExt cx="18883571" cy="1655066"/>
          </a:xfrm>
        </p:grpSpPr>
        <p:sp>
          <p:nvSpPr>
            <p:cNvPr name="Freeform 11" id="11"/>
            <p:cNvSpPr/>
            <p:nvPr/>
          </p:nvSpPr>
          <p:spPr>
            <a:xfrm flipH="false" flipV="false" rot="0">
              <a:off x="0" y="0"/>
              <a:ext cx="18883571" cy="1655066"/>
            </a:xfrm>
            <a:custGeom>
              <a:avLst/>
              <a:gdLst/>
              <a:ahLst/>
              <a:cxnLst/>
              <a:rect r="r" b="b" t="t" l="l"/>
              <a:pathLst>
                <a:path h="1655066" w="18883571">
                  <a:moveTo>
                    <a:pt x="0" y="0"/>
                  </a:moveTo>
                  <a:lnTo>
                    <a:pt x="18883571" y="0"/>
                  </a:lnTo>
                  <a:lnTo>
                    <a:pt x="18883571" y="1655066"/>
                  </a:lnTo>
                  <a:lnTo>
                    <a:pt x="0" y="1655066"/>
                  </a:lnTo>
                  <a:close/>
                </a:path>
              </a:pathLst>
            </a:custGeom>
            <a:solidFill>
              <a:srgbClr val="000000">
                <a:alpha val="0"/>
              </a:srgbClr>
            </a:solidFill>
          </p:spPr>
        </p:sp>
        <p:sp>
          <p:nvSpPr>
            <p:cNvPr name="TextBox 12" id="12"/>
            <p:cNvSpPr txBox="true"/>
            <p:nvPr/>
          </p:nvSpPr>
          <p:spPr>
            <a:xfrm>
              <a:off x="0" y="0"/>
              <a:ext cx="18883571" cy="1655066"/>
            </a:xfrm>
            <a:prstGeom prst="rect">
              <a:avLst/>
            </a:prstGeom>
          </p:spPr>
          <p:txBody>
            <a:bodyPr anchor="t" rtlCol="false" tIns="0" lIns="0" bIns="0" rIns="0"/>
            <a:lstStyle/>
            <a:p>
              <a:pPr algn="ctr">
                <a:lnSpc>
                  <a:spcPts val="7200"/>
                </a:lnSpc>
              </a:pPr>
              <a:r>
                <a:rPr lang="en-US" sz="6000" u="sng">
                  <a:solidFill>
                    <a:srgbClr val="FFFFFF"/>
                  </a:solidFill>
                  <a:latin typeface="Century Gothic Paneuropean"/>
                  <a:ea typeface="Century Gothic Paneuropean"/>
                  <a:cs typeface="Century Gothic Paneuropean"/>
                  <a:sym typeface="Century Gothic Paneuropean"/>
                  <a:hlinkClick r:id="rId3" tooltip="https://www.kaggle.com/competitions/histopathologic-cancer-detection"/>
                </a:rPr>
                <a:t>Histopathologic Cancer Detection</a:t>
              </a:r>
            </a:p>
          </p:txBody>
        </p:sp>
      </p:grpSp>
      <p:sp>
        <p:nvSpPr>
          <p:cNvPr name="Freeform 13" id="13"/>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7761578" y="9713952"/>
            <a:ext cx="1268668" cy="2170263"/>
            <a:chOff x="0" y="0"/>
            <a:chExt cx="431800" cy="738664"/>
          </a:xfrm>
        </p:grpSpPr>
        <p:sp>
          <p:nvSpPr>
            <p:cNvPr name="Freeform 15" id="15"/>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6" id="16"/>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23</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8" cy="807913"/>
            <a:chOff x="0" y="0"/>
            <a:chExt cx="91438" cy="1077218"/>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3"/>
            <a:chOff x="0" y="0"/>
            <a:chExt cx="1238250" cy="1077218"/>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6" id="6"/>
          <p:cNvGrpSpPr/>
          <p:nvPr/>
        </p:nvGrpSpPr>
        <p:grpSpPr>
          <a:xfrm rot="0">
            <a:off x="0" y="2552700"/>
            <a:ext cx="10416998" cy="5829300"/>
            <a:chOff x="0" y="0"/>
            <a:chExt cx="13889330" cy="7772400"/>
          </a:xfrm>
        </p:grpSpPr>
        <p:sp>
          <p:nvSpPr>
            <p:cNvPr name="Freeform 7" id="7"/>
            <p:cNvSpPr/>
            <p:nvPr/>
          </p:nvSpPr>
          <p:spPr>
            <a:xfrm flipH="false" flipV="false" rot="0">
              <a:off x="0" y="0"/>
              <a:ext cx="13889331" cy="7772400"/>
            </a:xfrm>
            <a:custGeom>
              <a:avLst/>
              <a:gdLst/>
              <a:ahLst/>
              <a:cxnLst/>
              <a:rect r="r" b="b" t="t" l="l"/>
              <a:pathLst>
                <a:path h="7772400" w="13889331">
                  <a:moveTo>
                    <a:pt x="0" y="0"/>
                  </a:moveTo>
                  <a:lnTo>
                    <a:pt x="13889331" y="0"/>
                  </a:lnTo>
                  <a:lnTo>
                    <a:pt x="13889331" y="7772400"/>
                  </a:lnTo>
                  <a:lnTo>
                    <a:pt x="0" y="7772400"/>
                  </a:lnTo>
                  <a:close/>
                </a:path>
              </a:pathLst>
            </a:custGeom>
            <a:solidFill>
              <a:srgbClr val="F7B902"/>
            </a:solidFill>
          </p:spPr>
        </p:sp>
      </p:grpSp>
      <p:grpSp>
        <p:nvGrpSpPr>
          <p:cNvPr name="Group 8" id="8"/>
          <p:cNvGrpSpPr/>
          <p:nvPr/>
        </p:nvGrpSpPr>
        <p:grpSpPr>
          <a:xfrm rot="0">
            <a:off x="1903329" y="3202991"/>
            <a:ext cx="7240671" cy="4474159"/>
            <a:chOff x="0" y="0"/>
            <a:chExt cx="9654228" cy="5965545"/>
          </a:xfrm>
        </p:grpSpPr>
        <p:sp>
          <p:nvSpPr>
            <p:cNvPr name="Freeform 9" id="9"/>
            <p:cNvSpPr/>
            <p:nvPr/>
          </p:nvSpPr>
          <p:spPr>
            <a:xfrm flipH="false" flipV="false" rot="0">
              <a:off x="0" y="0"/>
              <a:ext cx="9654228" cy="5965545"/>
            </a:xfrm>
            <a:custGeom>
              <a:avLst/>
              <a:gdLst/>
              <a:ahLst/>
              <a:cxnLst/>
              <a:rect r="r" b="b" t="t" l="l"/>
              <a:pathLst>
                <a:path h="5965545" w="9654228">
                  <a:moveTo>
                    <a:pt x="0" y="0"/>
                  </a:moveTo>
                  <a:lnTo>
                    <a:pt x="9654228" y="0"/>
                  </a:lnTo>
                  <a:lnTo>
                    <a:pt x="9654228" y="5965545"/>
                  </a:lnTo>
                  <a:lnTo>
                    <a:pt x="0" y="5965545"/>
                  </a:lnTo>
                  <a:close/>
                </a:path>
              </a:pathLst>
            </a:custGeom>
            <a:solidFill>
              <a:srgbClr val="000000">
                <a:alpha val="0"/>
              </a:srgbClr>
            </a:solidFill>
          </p:spPr>
        </p:sp>
        <p:sp>
          <p:nvSpPr>
            <p:cNvPr name="TextBox 10" id="10"/>
            <p:cNvSpPr txBox="true"/>
            <p:nvPr/>
          </p:nvSpPr>
          <p:spPr>
            <a:xfrm>
              <a:off x="0" y="0"/>
              <a:ext cx="9654228" cy="5965545"/>
            </a:xfrm>
            <a:prstGeom prst="rect">
              <a:avLst/>
            </a:prstGeom>
          </p:spPr>
          <p:txBody>
            <a:bodyPr anchor="ctr" rtlCol="false" tIns="0" lIns="0" bIns="0" rIns="0"/>
            <a:lstStyle/>
            <a:p>
              <a:pPr algn="l">
                <a:lnSpc>
                  <a:spcPts val="2879"/>
                </a:lnSpc>
              </a:pPr>
              <a:r>
                <a:rPr lang="en-US" sz="2399" b="true">
                  <a:solidFill>
                    <a:srgbClr val="FFFFFF"/>
                  </a:solidFill>
                  <a:latin typeface="Century Gothic Paneuropean Bold"/>
                  <a:ea typeface="Century Gothic Paneuropean Bold"/>
                  <a:cs typeface="Century Gothic Paneuropean Bold"/>
                  <a:sym typeface="Century Gothic Paneuropean Bold"/>
                </a:rPr>
                <a:t>Source:</a:t>
              </a:r>
            </a:p>
            <a:p>
              <a:pPr algn="l">
                <a:lnSpc>
                  <a:spcPts val="2879"/>
                </a:lnSpc>
              </a:pPr>
              <a:r>
                <a:rPr lang="en-US" sz="2399" b="true">
                  <a:solidFill>
                    <a:srgbClr val="FFFFFF"/>
                  </a:solidFill>
                  <a:latin typeface="Century Gothic Paneuropean Bold"/>
                  <a:ea typeface="Century Gothic Paneuropean Bold"/>
                  <a:cs typeface="Century Gothic Paneuropean Bold"/>
                  <a:sym typeface="Century Gothic Paneuropean Bold"/>
                </a:rPr>
                <a:t>Kaggle Competition / PatchCamelyon (PCam)</a:t>
              </a:r>
            </a:p>
            <a:p>
              <a:pPr algn="l">
                <a:lnSpc>
                  <a:spcPts val="2879"/>
                </a:lnSpc>
              </a:pPr>
            </a:p>
            <a:p>
              <a:pPr algn="l">
                <a:lnSpc>
                  <a:spcPts val="2879"/>
                </a:lnSpc>
              </a:pPr>
              <a:r>
                <a:rPr lang="en-US" sz="2399" b="true">
                  <a:solidFill>
                    <a:srgbClr val="FFFFFF"/>
                  </a:solidFill>
                  <a:latin typeface="Century Gothic Paneuropean Bold"/>
                  <a:ea typeface="Century Gothic Paneuropean Bold"/>
                  <a:cs typeface="Century Gothic Paneuropean Bold"/>
                  <a:sym typeface="Century Gothic Paneuropean Bold"/>
                </a:rPr>
                <a:t>Content</a:t>
              </a:r>
            </a:p>
            <a:p>
              <a:pPr algn="l">
                <a:lnSpc>
                  <a:spcPts val="2879"/>
                </a:lnSpc>
              </a:pPr>
              <a:r>
                <a:rPr lang="en-US" sz="2399" b="true">
                  <a:solidFill>
                    <a:srgbClr val="FFFFFF"/>
                  </a:solidFill>
                  <a:latin typeface="Century Gothic Paneuropean Bold"/>
                  <a:ea typeface="Century Gothic Paneuropean Bold"/>
                  <a:cs typeface="Century Gothic Paneuropean Bold"/>
                  <a:sym typeface="Century Gothic Paneuropean Bold"/>
                </a:rPr>
                <a:t>96x96 pixel H&amp;E stained image patches</a:t>
              </a:r>
            </a:p>
            <a:p>
              <a:pPr algn="l">
                <a:lnSpc>
                  <a:spcPts val="2879"/>
                </a:lnSpc>
              </a:pPr>
            </a:p>
            <a:p>
              <a:pPr algn="l">
                <a:lnSpc>
                  <a:spcPts val="2879"/>
                </a:lnSpc>
              </a:pPr>
              <a:r>
                <a:rPr lang="en-US" sz="2399" b="true">
                  <a:solidFill>
                    <a:srgbClr val="FFFFFF"/>
                  </a:solidFill>
                  <a:latin typeface="Century Gothic Paneuropean Bold"/>
                  <a:ea typeface="Century Gothic Paneuropean Bold"/>
                  <a:cs typeface="Century Gothic Paneuropean Bold"/>
                  <a:sym typeface="Century Gothic Paneuropean Bold"/>
                </a:rPr>
                <a:t>Size</a:t>
              </a:r>
            </a:p>
            <a:p>
              <a:pPr algn="l">
                <a:lnSpc>
                  <a:spcPts val="2879"/>
                </a:lnSpc>
              </a:pPr>
              <a:r>
                <a:rPr lang="en-US" sz="2399" b="true">
                  <a:solidFill>
                    <a:srgbClr val="FFFFFF"/>
                  </a:solidFill>
                  <a:latin typeface="Century Gothic Paneuropean Bold"/>
                  <a:ea typeface="Century Gothic Paneuropean Bold"/>
                  <a:cs typeface="Century Gothic Paneuropean Bold"/>
                  <a:sym typeface="Century Gothic Paneuropean Bold"/>
                </a:rPr>
                <a:t>220,000+ labeled training images</a:t>
              </a:r>
            </a:p>
            <a:p>
              <a:pPr algn="l">
                <a:lnSpc>
                  <a:spcPts val="2879"/>
                </a:lnSpc>
              </a:pPr>
            </a:p>
            <a:p>
              <a:pPr algn="l">
                <a:lnSpc>
                  <a:spcPts val="2879"/>
                </a:lnSpc>
              </a:pPr>
              <a:r>
                <a:rPr lang="en-US" sz="2399" b="true">
                  <a:solidFill>
                    <a:srgbClr val="FFFFFF"/>
                  </a:solidFill>
                  <a:latin typeface="Century Gothic Paneuropean Bold"/>
                  <a:ea typeface="Century Gothic Paneuropean Bold"/>
                  <a:cs typeface="Century Gothic Paneuropean Bold"/>
                  <a:sym typeface="Century Gothic Paneuropean Bold"/>
                </a:rPr>
                <a:t>Labels</a:t>
              </a:r>
            </a:p>
            <a:p>
              <a:pPr algn="l">
                <a:lnSpc>
                  <a:spcPts val="2879"/>
                </a:lnSpc>
              </a:pPr>
              <a:r>
                <a:rPr lang="en-US" sz="2399" b="true">
                  <a:solidFill>
                    <a:srgbClr val="FFFFFF"/>
                  </a:solidFill>
                  <a:latin typeface="Century Gothic Paneuropean Bold"/>
                  <a:ea typeface="Century Gothic Paneuropean Bold"/>
                  <a:cs typeface="Century Gothic Paneuropean Bold"/>
                  <a:sym typeface="Century Gothic Paneuropean Bold"/>
                </a:rPr>
                <a:t>Binary (1/0): Tumor in central region.</a:t>
              </a:r>
            </a:p>
            <a:p>
              <a:pPr algn="l">
                <a:lnSpc>
                  <a:spcPts val="2879"/>
                </a:lnSpc>
              </a:pPr>
            </a:p>
          </p:txBody>
        </p:sp>
      </p:grpSp>
      <p:grpSp>
        <p:nvGrpSpPr>
          <p:cNvPr name="Group 11" id="11"/>
          <p:cNvGrpSpPr/>
          <p:nvPr/>
        </p:nvGrpSpPr>
        <p:grpSpPr>
          <a:xfrm rot="0">
            <a:off x="1231581" y="542925"/>
            <a:ext cx="6881790" cy="950830"/>
            <a:chOff x="0" y="0"/>
            <a:chExt cx="5918322" cy="817711"/>
          </a:xfrm>
        </p:grpSpPr>
        <p:sp>
          <p:nvSpPr>
            <p:cNvPr name="Freeform 12" id="12"/>
            <p:cNvSpPr/>
            <p:nvPr/>
          </p:nvSpPr>
          <p:spPr>
            <a:xfrm flipH="false" flipV="false" rot="0">
              <a:off x="0" y="0"/>
              <a:ext cx="5918322" cy="817711"/>
            </a:xfrm>
            <a:custGeom>
              <a:avLst/>
              <a:gdLst/>
              <a:ahLst/>
              <a:cxnLst/>
              <a:rect r="r" b="b" t="t" l="l"/>
              <a:pathLst>
                <a:path h="817711" w="5918322">
                  <a:moveTo>
                    <a:pt x="0" y="0"/>
                  </a:moveTo>
                  <a:lnTo>
                    <a:pt x="5918322" y="0"/>
                  </a:lnTo>
                  <a:lnTo>
                    <a:pt x="5918322" y="817711"/>
                  </a:lnTo>
                  <a:lnTo>
                    <a:pt x="0" y="817711"/>
                  </a:lnTo>
                  <a:close/>
                </a:path>
              </a:pathLst>
            </a:custGeom>
            <a:solidFill>
              <a:srgbClr val="000000">
                <a:alpha val="0"/>
              </a:srgbClr>
            </a:solidFill>
          </p:spPr>
        </p:sp>
        <p:sp>
          <p:nvSpPr>
            <p:cNvPr name="TextBox 13" id="13"/>
            <p:cNvSpPr txBox="true"/>
            <p:nvPr/>
          </p:nvSpPr>
          <p:spPr>
            <a:xfrm>
              <a:off x="0" y="-19050"/>
              <a:ext cx="5918322"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Dataset</a:t>
              </a:r>
            </a:p>
          </p:txBody>
        </p:sp>
      </p:grpSp>
      <p:sp>
        <p:nvSpPr>
          <p:cNvPr name="Freeform 14" id="14"/>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17761578" y="9713952"/>
            <a:ext cx="1268668" cy="2170263"/>
            <a:chOff x="0" y="0"/>
            <a:chExt cx="431800" cy="738664"/>
          </a:xfrm>
        </p:grpSpPr>
        <p:sp>
          <p:nvSpPr>
            <p:cNvPr name="Freeform 16" id="16"/>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7" id="17"/>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24</a:t>
              </a:r>
            </a:p>
          </p:txBody>
        </p:sp>
      </p:grpSp>
      <p:sp>
        <p:nvSpPr>
          <p:cNvPr name="Freeform 18" id="18"/>
          <p:cNvSpPr/>
          <p:nvPr/>
        </p:nvSpPr>
        <p:spPr>
          <a:xfrm flipH="false" flipV="false" rot="0">
            <a:off x="10435295" y="2552700"/>
            <a:ext cx="7476796" cy="5829300"/>
          </a:xfrm>
          <a:custGeom>
            <a:avLst/>
            <a:gdLst/>
            <a:ahLst/>
            <a:cxnLst/>
            <a:rect r="r" b="b" t="t" l="l"/>
            <a:pathLst>
              <a:path h="5829300" w="7476796">
                <a:moveTo>
                  <a:pt x="0" y="0"/>
                </a:moveTo>
                <a:lnTo>
                  <a:pt x="7476796" y="0"/>
                </a:lnTo>
                <a:lnTo>
                  <a:pt x="7476796" y="5829300"/>
                </a:lnTo>
                <a:lnTo>
                  <a:pt x="0" y="5829300"/>
                </a:lnTo>
                <a:lnTo>
                  <a:pt x="0" y="0"/>
                </a:lnTo>
                <a:close/>
              </a:path>
            </a:pathLst>
          </a:custGeom>
          <a:blipFill>
            <a:blip r:embed="rId5"/>
            <a:stretch>
              <a:fillRect l="-5352" t="-1851" r="0" b="-1851"/>
            </a:stretch>
          </a:blipFill>
        </p:spPr>
      </p:sp>
      <p:sp>
        <p:nvSpPr>
          <p:cNvPr name="Freeform 19" id="19"/>
          <p:cNvSpPr/>
          <p:nvPr/>
        </p:nvSpPr>
        <p:spPr>
          <a:xfrm flipH="false" flipV="false" rot="0">
            <a:off x="755262" y="3202991"/>
            <a:ext cx="824286" cy="1039810"/>
          </a:xfrm>
          <a:custGeom>
            <a:avLst/>
            <a:gdLst/>
            <a:ahLst/>
            <a:cxnLst/>
            <a:rect r="r" b="b" t="t" l="l"/>
            <a:pathLst>
              <a:path h="1039810" w="824286">
                <a:moveTo>
                  <a:pt x="0" y="0"/>
                </a:moveTo>
                <a:lnTo>
                  <a:pt x="824286" y="0"/>
                </a:lnTo>
                <a:lnTo>
                  <a:pt x="824286" y="1039810"/>
                </a:lnTo>
                <a:lnTo>
                  <a:pt x="0" y="10398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755262" y="4454700"/>
            <a:ext cx="952637" cy="983021"/>
          </a:xfrm>
          <a:custGeom>
            <a:avLst/>
            <a:gdLst/>
            <a:ahLst/>
            <a:cxnLst/>
            <a:rect r="r" b="b" t="t" l="l"/>
            <a:pathLst>
              <a:path h="983021" w="952637">
                <a:moveTo>
                  <a:pt x="0" y="0"/>
                </a:moveTo>
                <a:lnTo>
                  <a:pt x="952638" y="0"/>
                </a:lnTo>
                <a:lnTo>
                  <a:pt x="952638" y="983021"/>
                </a:lnTo>
                <a:lnTo>
                  <a:pt x="0" y="9830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755262" y="5649621"/>
            <a:ext cx="1148067" cy="684665"/>
          </a:xfrm>
          <a:custGeom>
            <a:avLst/>
            <a:gdLst/>
            <a:ahLst/>
            <a:cxnLst/>
            <a:rect r="r" b="b" t="t" l="l"/>
            <a:pathLst>
              <a:path h="684665" w="1148067">
                <a:moveTo>
                  <a:pt x="0" y="0"/>
                </a:moveTo>
                <a:lnTo>
                  <a:pt x="1148067" y="0"/>
                </a:lnTo>
                <a:lnTo>
                  <a:pt x="1148067" y="684665"/>
                </a:lnTo>
                <a:lnTo>
                  <a:pt x="0" y="68466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755262" y="6543836"/>
            <a:ext cx="824286" cy="934757"/>
          </a:xfrm>
          <a:custGeom>
            <a:avLst/>
            <a:gdLst/>
            <a:ahLst/>
            <a:cxnLst/>
            <a:rect r="r" b="b" t="t" l="l"/>
            <a:pathLst>
              <a:path h="934757" w="824286">
                <a:moveTo>
                  <a:pt x="0" y="0"/>
                </a:moveTo>
                <a:lnTo>
                  <a:pt x="824286" y="0"/>
                </a:lnTo>
                <a:lnTo>
                  <a:pt x="824286" y="934757"/>
                </a:lnTo>
                <a:lnTo>
                  <a:pt x="0" y="93475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8" cy="807913"/>
            <a:chOff x="0" y="0"/>
            <a:chExt cx="91438" cy="1077218"/>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3"/>
            <a:chOff x="0" y="0"/>
            <a:chExt cx="1238250" cy="1077218"/>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6" id="6"/>
          <p:cNvGrpSpPr/>
          <p:nvPr/>
        </p:nvGrpSpPr>
        <p:grpSpPr>
          <a:xfrm rot="0">
            <a:off x="1231581" y="542925"/>
            <a:ext cx="6881790" cy="950830"/>
            <a:chOff x="0" y="0"/>
            <a:chExt cx="5918322" cy="817711"/>
          </a:xfrm>
        </p:grpSpPr>
        <p:sp>
          <p:nvSpPr>
            <p:cNvPr name="Freeform 7" id="7"/>
            <p:cNvSpPr/>
            <p:nvPr/>
          </p:nvSpPr>
          <p:spPr>
            <a:xfrm flipH="false" flipV="false" rot="0">
              <a:off x="0" y="0"/>
              <a:ext cx="5918322" cy="817711"/>
            </a:xfrm>
            <a:custGeom>
              <a:avLst/>
              <a:gdLst/>
              <a:ahLst/>
              <a:cxnLst/>
              <a:rect r="r" b="b" t="t" l="l"/>
              <a:pathLst>
                <a:path h="817711" w="5918322">
                  <a:moveTo>
                    <a:pt x="0" y="0"/>
                  </a:moveTo>
                  <a:lnTo>
                    <a:pt x="5918322" y="0"/>
                  </a:lnTo>
                  <a:lnTo>
                    <a:pt x="5918322" y="817711"/>
                  </a:lnTo>
                  <a:lnTo>
                    <a:pt x="0" y="817711"/>
                  </a:lnTo>
                  <a:close/>
                </a:path>
              </a:pathLst>
            </a:custGeom>
            <a:solidFill>
              <a:srgbClr val="000000">
                <a:alpha val="0"/>
              </a:srgbClr>
            </a:solidFill>
          </p:spPr>
        </p:sp>
        <p:sp>
          <p:nvSpPr>
            <p:cNvPr name="TextBox 8" id="8"/>
            <p:cNvSpPr txBox="true"/>
            <p:nvPr/>
          </p:nvSpPr>
          <p:spPr>
            <a:xfrm>
              <a:off x="0" y="-19050"/>
              <a:ext cx="5918322"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Baseline &amp; SOTA Methods </a:t>
              </a:r>
            </a:p>
          </p:txBody>
        </p:sp>
      </p:grpSp>
      <p:sp>
        <p:nvSpPr>
          <p:cNvPr name="Freeform 9" id="9"/>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7761578" y="9713952"/>
            <a:ext cx="1268668" cy="2170263"/>
            <a:chOff x="0" y="0"/>
            <a:chExt cx="431800" cy="738664"/>
          </a:xfrm>
        </p:grpSpPr>
        <p:sp>
          <p:nvSpPr>
            <p:cNvPr name="Freeform 11" id="11"/>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2" id="12"/>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25</a:t>
              </a:r>
            </a:p>
          </p:txBody>
        </p:sp>
      </p:grpSp>
      <p:grpSp>
        <p:nvGrpSpPr>
          <p:cNvPr name="Group 13" id="13"/>
          <p:cNvGrpSpPr/>
          <p:nvPr/>
        </p:nvGrpSpPr>
        <p:grpSpPr>
          <a:xfrm rot="0">
            <a:off x="0" y="2552700"/>
            <a:ext cx="18288000" cy="5829300"/>
            <a:chOff x="0" y="0"/>
            <a:chExt cx="24384000" cy="7772400"/>
          </a:xfrm>
        </p:grpSpPr>
        <p:sp>
          <p:nvSpPr>
            <p:cNvPr name="Freeform 14" id="14"/>
            <p:cNvSpPr/>
            <p:nvPr/>
          </p:nvSpPr>
          <p:spPr>
            <a:xfrm flipH="false" flipV="false" rot="0">
              <a:off x="0" y="0"/>
              <a:ext cx="24384000" cy="7772400"/>
            </a:xfrm>
            <a:custGeom>
              <a:avLst/>
              <a:gdLst/>
              <a:ahLst/>
              <a:cxnLst/>
              <a:rect r="r" b="b" t="t" l="l"/>
              <a:pathLst>
                <a:path h="7772400" w="24384000">
                  <a:moveTo>
                    <a:pt x="0" y="0"/>
                  </a:moveTo>
                  <a:lnTo>
                    <a:pt x="24384000" y="0"/>
                  </a:lnTo>
                  <a:lnTo>
                    <a:pt x="24384000" y="7772400"/>
                  </a:lnTo>
                  <a:lnTo>
                    <a:pt x="0" y="7772400"/>
                  </a:lnTo>
                  <a:close/>
                </a:path>
              </a:pathLst>
            </a:custGeom>
            <a:solidFill>
              <a:srgbClr val="F7B902"/>
            </a:solidFill>
          </p:spPr>
        </p:sp>
      </p:grpSp>
      <p:sp>
        <p:nvSpPr>
          <p:cNvPr name="TextBox 15" id="15"/>
          <p:cNvSpPr txBox="true"/>
          <p:nvPr/>
        </p:nvSpPr>
        <p:spPr>
          <a:xfrm rot="0">
            <a:off x="171448" y="2786062"/>
            <a:ext cx="18116552" cy="6162675"/>
          </a:xfrm>
          <a:prstGeom prst="rect">
            <a:avLst/>
          </a:prstGeom>
        </p:spPr>
        <p:txBody>
          <a:bodyPr anchor="t" rtlCol="false" tIns="0" lIns="0" bIns="0" rIns="0">
            <a:spAutoFit/>
          </a:bodyPr>
          <a:lstStyle/>
          <a:p>
            <a:pPr algn="l">
              <a:lnSpc>
                <a:spcPts val="3240"/>
              </a:lnSpc>
            </a:pPr>
            <a:r>
              <a:rPr lang="en-US" sz="2700" b="true">
                <a:solidFill>
                  <a:srgbClr val="FFFFFF"/>
                </a:solidFill>
                <a:latin typeface="Times New Roman Bold"/>
                <a:ea typeface="Times New Roman Bold"/>
                <a:cs typeface="Times New Roman Bold"/>
                <a:sym typeface="Times New Roman Bold"/>
              </a:rPr>
              <a:t>Reference work</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Dataset: Kaggle Histopathologic</a:t>
            </a:r>
            <a:r>
              <a:rPr lang="en-US" b="true" sz="2700">
                <a:solidFill>
                  <a:srgbClr val="FFFFFF"/>
                </a:solidFill>
                <a:latin typeface="Times New Roman Bold"/>
                <a:ea typeface="Times New Roman Bold"/>
                <a:cs typeface="Times New Roman Bold"/>
                <a:sym typeface="Times New Roman Bold"/>
              </a:rPr>
              <a:t> Cancer Detection (HCD), 220k 96×96 H&amp;E patches</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Pre-processing: remove over-bright/dark patches, random crop to 90×90, random</a:t>
            </a:r>
            <a:r>
              <a:rPr lang="en-US" b="true" sz="2700">
                <a:solidFill>
                  <a:srgbClr val="FFFFFF"/>
                </a:solidFill>
                <a:latin typeface="Times New Roman Bold"/>
                <a:ea typeface="Times New Roman Bold"/>
                <a:cs typeface="Times New Roman Bold"/>
                <a:sym typeface="Times New Roman Bold"/>
              </a:rPr>
              <a:t> H/V</a:t>
            </a:r>
            <a:r>
              <a:rPr lang="en-US" b="true" sz="2700">
                <a:solidFill>
                  <a:srgbClr val="FFFFFF"/>
                </a:solidFill>
                <a:latin typeface="Times New Roman Bold"/>
                <a:ea typeface="Times New Roman Bold"/>
                <a:cs typeface="Times New Roman Bold"/>
                <a:sym typeface="Times New Roman Bold"/>
              </a:rPr>
              <a:t> flip, ImageNet mean/std normalization</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B</a:t>
            </a:r>
            <a:r>
              <a:rPr lang="en-US" b="true" sz="2700">
                <a:solidFill>
                  <a:srgbClr val="FFFFFF"/>
                </a:solidFill>
                <a:latin typeface="Times New Roman Bold"/>
                <a:ea typeface="Times New Roman Bold"/>
                <a:cs typeface="Times New Roman Bold"/>
                <a:sym typeface="Times New Roman Bold"/>
              </a:rPr>
              <a:t>aseline: logistic regression on patch pixels</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SOTA:</a:t>
            </a:r>
            <a:r>
              <a:rPr lang="en-US" b="true" sz="2700">
                <a:solidFill>
                  <a:srgbClr val="FFFFFF"/>
                </a:solidFill>
                <a:latin typeface="Times New Roman Bold"/>
                <a:ea typeface="Times New Roman Bold"/>
                <a:cs typeface="Times New Roman Bold"/>
                <a:sym typeface="Times New Roman Bold"/>
              </a:rPr>
              <a:t> ResNet-18/34/50/152 (ImageNet-pretrained) with full fine-tuning; best model = ResNet-34-all </a:t>
            </a:r>
          </a:p>
          <a:p>
            <a:pPr algn="l">
              <a:lnSpc>
                <a:spcPts val="3240"/>
              </a:lnSpc>
            </a:pPr>
            <a:r>
              <a:rPr lang="en-US" sz="2700" b="true">
                <a:solidFill>
                  <a:srgbClr val="FFFFFF"/>
                </a:solidFill>
                <a:latin typeface="Times New Roman Bold"/>
                <a:ea typeface="Times New Roman Bold"/>
                <a:cs typeface="Times New Roman Bold"/>
                <a:sym typeface="Times New Roman Bold"/>
              </a:rPr>
              <a:t>Our adaptation</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Use</a:t>
            </a:r>
            <a:r>
              <a:rPr lang="en-US" b="true" sz="2700">
                <a:solidFill>
                  <a:srgbClr val="FFFFFF"/>
                </a:solidFill>
                <a:latin typeface="Times New Roman Bold"/>
                <a:ea typeface="Times New Roman Bold"/>
                <a:cs typeface="Times New Roman Bold"/>
                <a:sym typeface="Times New Roman Bold"/>
              </a:rPr>
              <a:t> the same ResNet architecture and training recipe (90×90 crop + H/V flip + normalization)</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Baseline in</a:t>
            </a:r>
            <a:r>
              <a:rPr lang="en-US" b="true" sz="2700">
                <a:solidFill>
                  <a:srgbClr val="FFFFFF"/>
                </a:solidFill>
                <a:latin typeface="Times New Roman Bold"/>
                <a:ea typeface="Times New Roman Bold"/>
                <a:cs typeface="Times New Roman Bold"/>
                <a:sym typeface="Times New Roman Bold"/>
              </a:rPr>
              <a:t> our experiments: ResNet-18-all </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SOTA reference: ResNet-34-all (paper’s best setting) + used as a strong baseline against our EfficientNetV2-S</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Key difference from the paper:</a:t>
            </a:r>
          </a:p>
          <a:p>
            <a:pPr algn="l" marL="1165860" indent="-388620" lvl="2">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Paper: random 8:1:1 split of</a:t>
            </a:r>
            <a:r>
              <a:rPr lang="en-US" b="true" sz="2700">
                <a:solidFill>
                  <a:srgbClr val="FFFFFF"/>
                </a:solidFill>
                <a:latin typeface="Times New Roman Bold"/>
                <a:ea typeface="Times New Roman Bold"/>
                <a:cs typeface="Times New Roman Bold"/>
                <a:sym typeface="Times New Roman Bold"/>
              </a:rPr>
              <a:t> the 220k patches</a:t>
            </a:r>
          </a:p>
          <a:p>
            <a:pPr algn="l" marL="1165860" indent="-388620" lvl="2">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Ours: stratified 70/15/15 split, keeping similar cancer / non-cancer ratio in train / val / test for more stable AUROC and fair comparison</a:t>
            </a:r>
          </a:p>
          <a:p>
            <a:pPr algn="l">
              <a:lnSpc>
                <a:spcPts val="3240"/>
              </a:lnSpc>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8" cy="807913"/>
            <a:chOff x="0" y="0"/>
            <a:chExt cx="91438" cy="1077218"/>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3"/>
            <a:chOff x="0" y="0"/>
            <a:chExt cx="1238250" cy="1077218"/>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6" id="6"/>
          <p:cNvGrpSpPr/>
          <p:nvPr/>
        </p:nvGrpSpPr>
        <p:grpSpPr>
          <a:xfrm rot="0">
            <a:off x="7871002" y="2552700"/>
            <a:ext cx="10416998" cy="5829300"/>
            <a:chOff x="0" y="0"/>
            <a:chExt cx="13889330" cy="7772400"/>
          </a:xfrm>
        </p:grpSpPr>
        <p:sp>
          <p:nvSpPr>
            <p:cNvPr name="Freeform 7" id="7"/>
            <p:cNvSpPr/>
            <p:nvPr/>
          </p:nvSpPr>
          <p:spPr>
            <a:xfrm flipH="false" flipV="false" rot="0">
              <a:off x="0" y="0"/>
              <a:ext cx="13889331" cy="7772400"/>
            </a:xfrm>
            <a:custGeom>
              <a:avLst/>
              <a:gdLst/>
              <a:ahLst/>
              <a:cxnLst/>
              <a:rect r="r" b="b" t="t" l="l"/>
              <a:pathLst>
                <a:path h="7772400" w="13889331">
                  <a:moveTo>
                    <a:pt x="0" y="0"/>
                  </a:moveTo>
                  <a:lnTo>
                    <a:pt x="13889331" y="0"/>
                  </a:lnTo>
                  <a:lnTo>
                    <a:pt x="13889331" y="7772400"/>
                  </a:lnTo>
                  <a:lnTo>
                    <a:pt x="0" y="7772400"/>
                  </a:lnTo>
                  <a:close/>
                </a:path>
              </a:pathLst>
            </a:custGeom>
            <a:solidFill>
              <a:srgbClr val="F7B902"/>
            </a:solidFill>
          </p:spPr>
        </p:sp>
      </p:grpSp>
      <p:grpSp>
        <p:nvGrpSpPr>
          <p:cNvPr name="Group 8" id="8"/>
          <p:cNvGrpSpPr/>
          <p:nvPr/>
        </p:nvGrpSpPr>
        <p:grpSpPr>
          <a:xfrm rot="0">
            <a:off x="10271626" y="2908186"/>
            <a:ext cx="6987673" cy="1107996"/>
            <a:chOff x="0" y="0"/>
            <a:chExt cx="9316898" cy="1477328"/>
          </a:xfrm>
        </p:grpSpPr>
        <p:sp>
          <p:nvSpPr>
            <p:cNvPr name="Freeform 9" id="9"/>
            <p:cNvSpPr/>
            <p:nvPr/>
          </p:nvSpPr>
          <p:spPr>
            <a:xfrm flipH="false" flipV="false" rot="0">
              <a:off x="0" y="0"/>
              <a:ext cx="9316898" cy="1477328"/>
            </a:xfrm>
            <a:custGeom>
              <a:avLst/>
              <a:gdLst/>
              <a:ahLst/>
              <a:cxnLst/>
              <a:rect r="r" b="b" t="t" l="l"/>
              <a:pathLst>
                <a:path h="1477328" w="9316898">
                  <a:moveTo>
                    <a:pt x="0" y="0"/>
                  </a:moveTo>
                  <a:lnTo>
                    <a:pt x="9316898" y="0"/>
                  </a:lnTo>
                  <a:lnTo>
                    <a:pt x="9316898" y="1477328"/>
                  </a:lnTo>
                  <a:lnTo>
                    <a:pt x="0" y="1477328"/>
                  </a:lnTo>
                  <a:close/>
                </a:path>
              </a:pathLst>
            </a:custGeom>
            <a:solidFill>
              <a:srgbClr val="000000">
                <a:alpha val="0"/>
              </a:srgbClr>
            </a:solidFill>
          </p:spPr>
        </p:sp>
        <p:sp>
          <p:nvSpPr>
            <p:cNvPr name="TextBox 10" id="10"/>
            <p:cNvSpPr txBox="true"/>
            <p:nvPr/>
          </p:nvSpPr>
          <p:spPr>
            <a:xfrm>
              <a:off x="0" y="0"/>
              <a:ext cx="9316898" cy="1477328"/>
            </a:xfrm>
            <a:prstGeom prst="rect">
              <a:avLst/>
            </a:prstGeom>
          </p:spPr>
          <p:txBody>
            <a:bodyPr anchor="ctr" rtlCol="false" tIns="0" lIns="0" bIns="0" rIns="0"/>
            <a:lstStyle/>
            <a:p>
              <a:pPr algn="l">
                <a:lnSpc>
                  <a:spcPts val="2879"/>
                </a:lnSpc>
              </a:pPr>
              <a:r>
                <a:rPr lang="en-US" sz="2399" u="sng" b="true">
                  <a:solidFill>
                    <a:srgbClr val="FFFFFF"/>
                  </a:solidFill>
                  <a:latin typeface="Century Gothic Paneuropean Bold"/>
                  <a:ea typeface="Century Gothic Paneuropean Bold"/>
                  <a:cs typeface="Century Gothic Paneuropean Bold"/>
                  <a:sym typeface="Century Gothic Paneuropean Bold"/>
                </a:rPr>
                <a:t>Stratified 70 / 15 / 15 data split</a:t>
              </a:r>
            </a:p>
          </p:txBody>
        </p:sp>
      </p:grpSp>
      <p:grpSp>
        <p:nvGrpSpPr>
          <p:cNvPr name="Group 11" id="11"/>
          <p:cNvGrpSpPr/>
          <p:nvPr/>
        </p:nvGrpSpPr>
        <p:grpSpPr>
          <a:xfrm rot="0">
            <a:off x="10271626" y="4359354"/>
            <a:ext cx="7928101" cy="1107996"/>
            <a:chOff x="0" y="0"/>
            <a:chExt cx="10570802" cy="1477328"/>
          </a:xfrm>
        </p:grpSpPr>
        <p:sp>
          <p:nvSpPr>
            <p:cNvPr name="Freeform 12" id="12"/>
            <p:cNvSpPr/>
            <p:nvPr/>
          </p:nvSpPr>
          <p:spPr>
            <a:xfrm flipH="false" flipV="false" rot="0">
              <a:off x="0" y="0"/>
              <a:ext cx="10570802" cy="1477328"/>
            </a:xfrm>
            <a:custGeom>
              <a:avLst/>
              <a:gdLst/>
              <a:ahLst/>
              <a:cxnLst/>
              <a:rect r="r" b="b" t="t" l="l"/>
              <a:pathLst>
                <a:path h="1477328" w="10570802">
                  <a:moveTo>
                    <a:pt x="0" y="0"/>
                  </a:moveTo>
                  <a:lnTo>
                    <a:pt x="10570802" y="0"/>
                  </a:lnTo>
                  <a:lnTo>
                    <a:pt x="10570802" y="1477328"/>
                  </a:lnTo>
                  <a:lnTo>
                    <a:pt x="0" y="1477328"/>
                  </a:lnTo>
                  <a:close/>
                </a:path>
              </a:pathLst>
            </a:custGeom>
            <a:solidFill>
              <a:srgbClr val="000000">
                <a:alpha val="0"/>
              </a:srgbClr>
            </a:solidFill>
          </p:spPr>
        </p:sp>
        <p:sp>
          <p:nvSpPr>
            <p:cNvPr name="TextBox 13" id="13"/>
            <p:cNvSpPr txBox="true"/>
            <p:nvPr/>
          </p:nvSpPr>
          <p:spPr>
            <a:xfrm>
              <a:off x="0" y="0"/>
              <a:ext cx="10570802" cy="1477328"/>
            </a:xfrm>
            <a:prstGeom prst="rect">
              <a:avLst/>
            </a:prstGeom>
          </p:spPr>
          <p:txBody>
            <a:bodyPr anchor="ctr" rtlCol="false" tIns="0" lIns="0" bIns="0" rIns="0"/>
            <a:lstStyle/>
            <a:p>
              <a:pPr algn="l">
                <a:lnSpc>
                  <a:spcPts val="2879"/>
                </a:lnSpc>
              </a:pPr>
              <a:r>
                <a:rPr lang="en-US" b="true" sz="2399" u="sng">
                  <a:solidFill>
                    <a:srgbClr val="FFFFFF"/>
                  </a:solidFill>
                  <a:latin typeface="Century Gothic Paneuropean Bold"/>
                  <a:ea typeface="Century Gothic Paneuropean Bold"/>
                  <a:cs typeface="Century Gothic Paneuropean Bold"/>
                  <a:sym typeface="Century Gothic Paneuropean Bold"/>
                </a:rPr>
                <a:t>M</a:t>
              </a:r>
              <a:r>
                <a:rPr lang="en-US" b="true" sz="2399" u="sng">
                  <a:solidFill>
                    <a:srgbClr val="FFFFFF"/>
                  </a:solidFill>
                  <a:latin typeface="Century Gothic Paneuropean Bold"/>
                  <a:ea typeface="Century Gothic Paneuropean Bold"/>
                  <a:cs typeface="Century Gothic Paneuropean Bold"/>
                  <a:sym typeface="Century Gothic Paneuropean Bold"/>
                </a:rPr>
                <a:t>odel selection by validation AUROC</a:t>
              </a:r>
            </a:p>
          </p:txBody>
        </p:sp>
      </p:grpSp>
      <p:grpSp>
        <p:nvGrpSpPr>
          <p:cNvPr name="Group 14" id="14"/>
          <p:cNvGrpSpPr/>
          <p:nvPr/>
        </p:nvGrpSpPr>
        <p:grpSpPr>
          <a:xfrm rot="0">
            <a:off x="10271627" y="5810250"/>
            <a:ext cx="6551634" cy="1107996"/>
            <a:chOff x="0" y="0"/>
            <a:chExt cx="8735511" cy="1477328"/>
          </a:xfrm>
        </p:grpSpPr>
        <p:sp>
          <p:nvSpPr>
            <p:cNvPr name="Freeform 15" id="15"/>
            <p:cNvSpPr/>
            <p:nvPr/>
          </p:nvSpPr>
          <p:spPr>
            <a:xfrm flipH="false" flipV="false" rot="0">
              <a:off x="0" y="0"/>
              <a:ext cx="8735512" cy="1477328"/>
            </a:xfrm>
            <a:custGeom>
              <a:avLst/>
              <a:gdLst/>
              <a:ahLst/>
              <a:cxnLst/>
              <a:rect r="r" b="b" t="t" l="l"/>
              <a:pathLst>
                <a:path h="1477328" w="8735512">
                  <a:moveTo>
                    <a:pt x="0" y="0"/>
                  </a:moveTo>
                  <a:lnTo>
                    <a:pt x="8735512" y="0"/>
                  </a:lnTo>
                  <a:lnTo>
                    <a:pt x="8735512" y="1477328"/>
                  </a:lnTo>
                  <a:lnTo>
                    <a:pt x="0" y="1477328"/>
                  </a:lnTo>
                  <a:close/>
                </a:path>
              </a:pathLst>
            </a:custGeom>
            <a:solidFill>
              <a:srgbClr val="000000">
                <a:alpha val="0"/>
              </a:srgbClr>
            </a:solidFill>
          </p:spPr>
        </p:sp>
        <p:sp>
          <p:nvSpPr>
            <p:cNvPr name="TextBox 16" id="16"/>
            <p:cNvSpPr txBox="true"/>
            <p:nvPr/>
          </p:nvSpPr>
          <p:spPr>
            <a:xfrm>
              <a:off x="0" y="0"/>
              <a:ext cx="8735511" cy="1477328"/>
            </a:xfrm>
            <a:prstGeom prst="rect">
              <a:avLst/>
            </a:prstGeom>
          </p:spPr>
          <p:txBody>
            <a:bodyPr anchor="ctr" rtlCol="false" tIns="0" lIns="0" bIns="0" rIns="0"/>
            <a:lstStyle/>
            <a:p>
              <a:pPr algn="l">
                <a:lnSpc>
                  <a:spcPts val="2879"/>
                </a:lnSpc>
              </a:pPr>
              <a:r>
                <a:rPr lang="en-US" b="true" sz="2399" u="sng">
                  <a:solidFill>
                    <a:srgbClr val="FFFFFF"/>
                  </a:solidFill>
                  <a:latin typeface="Century Gothic Paneuropean Bold"/>
                  <a:ea typeface="Century Gothic Paneuropean Bold"/>
                  <a:cs typeface="Century Gothic Paneuropean Bold"/>
                  <a:sym typeface="Century Gothic Paneuropean Bold"/>
                </a:rPr>
                <a:t>Test metrics:</a:t>
              </a:r>
              <a:r>
                <a:rPr lang="en-US" b="true" sz="2399" u="sng">
                  <a:solidFill>
                    <a:srgbClr val="FFFFFF"/>
                  </a:solidFill>
                  <a:latin typeface="Century Gothic Paneuropean Bold"/>
                  <a:ea typeface="Century Gothic Paneuropean Bold"/>
                  <a:cs typeface="Century Gothic Paneuropean Bold"/>
                  <a:sym typeface="Century Gothic Paneuropean Bold"/>
                </a:rPr>
                <a:t> AUROC + F1 / Precision / Recall</a:t>
              </a:r>
            </a:p>
          </p:txBody>
        </p:sp>
      </p:grpSp>
      <p:sp>
        <p:nvSpPr>
          <p:cNvPr name="Freeform 17" id="17"/>
          <p:cNvSpPr/>
          <p:nvPr/>
        </p:nvSpPr>
        <p:spPr>
          <a:xfrm flipH="false" flipV="false" rot="0">
            <a:off x="0" y="2552700"/>
            <a:ext cx="7871002" cy="5829300"/>
          </a:xfrm>
          <a:custGeom>
            <a:avLst/>
            <a:gdLst/>
            <a:ahLst/>
            <a:cxnLst/>
            <a:rect r="r" b="b" t="t" l="l"/>
            <a:pathLst>
              <a:path h="5829300" w="7871002">
                <a:moveTo>
                  <a:pt x="0" y="0"/>
                </a:moveTo>
                <a:lnTo>
                  <a:pt x="7871002" y="0"/>
                </a:lnTo>
                <a:lnTo>
                  <a:pt x="7871002" y="5829300"/>
                </a:lnTo>
                <a:lnTo>
                  <a:pt x="0" y="5829300"/>
                </a:lnTo>
                <a:lnTo>
                  <a:pt x="0" y="0"/>
                </a:lnTo>
                <a:close/>
              </a:path>
            </a:pathLst>
          </a:custGeom>
          <a:blipFill>
            <a:blip r:embed="rId3"/>
            <a:stretch>
              <a:fillRect l="0" t="-261" r="-6354" b="-261"/>
            </a:stretch>
          </a:blipFill>
        </p:spPr>
      </p:sp>
      <p:grpSp>
        <p:nvGrpSpPr>
          <p:cNvPr name="Group 18" id="18"/>
          <p:cNvGrpSpPr/>
          <p:nvPr/>
        </p:nvGrpSpPr>
        <p:grpSpPr>
          <a:xfrm rot="0">
            <a:off x="1231581" y="542925"/>
            <a:ext cx="5272447" cy="950830"/>
            <a:chOff x="0" y="0"/>
            <a:chExt cx="4534292" cy="817711"/>
          </a:xfrm>
        </p:grpSpPr>
        <p:sp>
          <p:nvSpPr>
            <p:cNvPr name="Freeform 19" id="19"/>
            <p:cNvSpPr/>
            <p:nvPr/>
          </p:nvSpPr>
          <p:spPr>
            <a:xfrm flipH="false" flipV="false" rot="0">
              <a:off x="0" y="0"/>
              <a:ext cx="4534292" cy="817711"/>
            </a:xfrm>
            <a:custGeom>
              <a:avLst/>
              <a:gdLst/>
              <a:ahLst/>
              <a:cxnLst/>
              <a:rect r="r" b="b" t="t" l="l"/>
              <a:pathLst>
                <a:path h="817711" w="4534292">
                  <a:moveTo>
                    <a:pt x="0" y="0"/>
                  </a:moveTo>
                  <a:lnTo>
                    <a:pt x="4534292" y="0"/>
                  </a:lnTo>
                  <a:lnTo>
                    <a:pt x="4534292" y="817711"/>
                  </a:lnTo>
                  <a:lnTo>
                    <a:pt x="0" y="817711"/>
                  </a:lnTo>
                  <a:close/>
                </a:path>
              </a:pathLst>
            </a:custGeom>
            <a:solidFill>
              <a:srgbClr val="000000">
                <a:alpha val="0"/>
              </a:srgbClr>
            </a:solidFill>
          </p:spPr>
        </p:sp>
        <p:sp>
          <p:nvSpPr>
            <p:cNvPr name="TextBox 20" id="20"/>
            <p:cNvSpPr txBox="true"/>
            <p:nvPr/>
          </p:nvSpPr>
          <p:spPr>
            <a:xfrm>
              <a:off x="0" y="-19050"/>
              <a:ext cx="4534292"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Evaluation Strategy </a:t>
              </a:r>
            </a:p>
          </p:txBody>
        </p:sp>
      </p:grpSp>
      <p:sp>
        <p:nvSpPr>
          <p:cNvPr name="Freeform 21" id="21"/>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2" id="22"/>
          <p:cNvGrpSpPr/>
          <p:nvPr/>
        </p:nvGrpSpPr>
        <p:grpSpPr>
          <a:xfrm rot="0">
            <a:off x="17847303" y="9694902"/>
            <a:ext cx="1268668" cy="2170263"/>
            <a:chOff x="0" y="0"/>
            <a:chExt cx="431800" cy="738664"/>
          </a:xfrm>
        </p:grpSpPr>
        <p:sp>
          <p:nvSpPr>
            <p:cNvPr name="Freeform 23" id="23"/>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24" id="24"/>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26</a:t>
              </a:r>
            </a:p>
          </p:txBody>
        </p:sp>
      </p:grpSp>
      <p:grpSp>
        <p:nvGrpSpPr>
          <p:cNvPr name="Group 25" id="25"/>
          <p:cNvGrpSpPr/>
          <p:nvPr/>
        </p:nvGrpSpPr>
        <p:grpSpPr>
          <a:xfrm rot="0">
            <a:off x="10271627" y="7093322"/>
            <a:ext cx="6236493" cy="1107996"/>
            <a:chOff x="0" y="0"/>
            <a:chExt cx="8315324" cy="1477328"/>
          </a:xfrm>
        </p:grpSpPr>
        <p:sp>
          <p:nvSpPr>
            <p:cNvPr name="Freeform 26" id="26"/>
            <p:cNvSpPr/>
            <p:nvPr/>
          </p:nvSpPr>
          <p:spPr>
            <a:xfrm flipH="false" flipV="false" rot="0">
              <a:off x="0" y="0"/>
              <a:ext cx="8315324" cy="1477328"/>
            </a:xfrm>
            <a:custGeom>
              <a:avLst/>
              <a:gdLst/>
              <a:ahLst/>
              <a:cxnLst/>
              <a:rect r="r" b="b" t="t" l="l"/>
              <a:pathLst>
                <a:path h="1477328" w="8315324">
                  <a:moveTo>
                    <a:pt x="0" y="0"/>
                  </a:moveTo>
                  <a:lnTo>
                    <a:pt x="8315324" y="0"/>
                  </a:lnTo>
                  <a:lnTo>
                    <a:pt x="8315324" y="1477328"/>
                  </a:lnTo>
                  <a:lnTo>
                    <a:pt x="0" y="1477328"/>
                  </a:lnTo>
                  <a:close/>
                </a:path>
              </a:pathLst>
            </a:custGeom>
            <a:solidFill>
              <a:srgbClr val="000000">
                <a:alpha val="0"/>
              </a:srgbClr>
            </a:solidFill>
          </p:spPr>
        </p:sp>
        <p:sp>
          <p:nvSpPr>
            <p:cNvPr name="TextBox 27" id="27"/>
            <p:cNvSpPr txBox="true"/>
            <p:nvPr/>
          </p:nvSpPr>
          <p:spPr>
            <a:xfrm>
              <a:off x="0" y="0"/>
              <a:ext cx="8315324" cy="1477328"/>
            </a:xfrm>
            <a:prstGeom prst="rect">
              <a:avLst/>
            </a:prstGeom>
          </p:spPr>
          <p:txBody>
            <a:bodyPr anchor="ctr" rtlCol="false" tIns="0" lIns="0" bIns="0" rIns="0"/>
            <a:lstStyle/>
            <a:p>
              <a:pPr algn="l">
                <a:lnSpc>
                  <a:spcPts val="2879"/>
                </a:lnSpc>
              </a:pPr>
              <a:r>
                <a:rPr lang="en-US" b="true" sz="2399" u="sng">
                  <a:solidFill>
                    <a:srgbClr val="FFFFFF"/>
                  </a:solidFill>
                  <a:latin typeface="Century Gothic Paneuropean Bold"/>
                  <a:ea typeface="Century Gothic Paneuropean Bold"/>
                  <a:cs typeface="Century Gothic Paneuropean Bold"/>
                  <a:sym typeface="Century Gothic Paneuropean Bold"/>
                </a:rPr>
                <a:t>Same</a:t>
              </a:r>
              <a:r>
                <a:rPr lang="en-US" b="true" sz="2399" u="sng">
                  <a:solidFill>
                    <a:srgbClr val="FFFFFF"/>
                  </a:solidFill>
                  <a:latin typeface="Century Gothic Paneuropean Bold"/>
                  <a:ea typeface="Century Gothic Paneuropean Bold"/>
                  <a:cs typeface="Century Gothic Paneuropean Bold"/>
                  <a:sym typeface="Century Gothic Paneuropean Bold"/>
                </a:rPr>
                <a:t> protocol for all models</a:t>
              </a:r>
            </a:p>
          </p:txBody>
        </p:sp>
      </p:grpSp>
      <p:sp>
        <p:nvSpPr>
          <p:cNvPr name="Freeform 28" id="28"/>
          <p:cNvSpPr/>
          <p:nvPr/>
        </p:nvSpPr>
        <p:spPr>
          <a:xfrm flipH="false" flipV="false" rot="0">
            <a:off x="8887403" y="3088266"/>
            <a:ext cx="1107996" cy="1107996"/>
          </a:xfrm>
          <a:custGeom>
            <a:avLst/>
            <a:gdLst/>
            <a:ahLst/>
            <a:cxnLst/>
            <a:rect r="r" b="b" t="t" l="l"/>
            <a:pathLst>
              <a:path h="1107996" w="1107996">
                <a:moveTo>
                  <a:pt x="0" y="0"/>
                </a:moveTo>
                <a:lnTo>
                  <a:pt x="1107996" y="0"/>
                </a:lnTo>
                <a:lnTo>
                  <a:pt x="1107996" y="1107996"/>
                </a:lnTo>
                <a:lnTo>
                  <a:pt x="0" y="11079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0">
            <a:off x="8887403" y="4534630"/>
            <a:ext cx="1110162" cy="1110162"/>
          </a:xfrm>
          <a:custGeom>
            <a:avLst/>
            <a:gdLst/>
            <a:ahLst/>
            <a:cxnLst/>
            <a:rect r="r" b="b" t="t" l="l"/>
            <a:pathLst>
              <a:path h="1110162" w="1110162">
                <a:moveTo>
                  <a:pt x="0" y="0"/>
                </a:moveTo>
                <a:lnTo>
                  <a:pt x="1110162" y="0"/>
                </a:lnTo>
                <a:lnTo>
                  <a:pt x="1110162" y="1110162"/>
                </a:lnTo>
                <a:lnTo>
                  <a:pt x="0" y="11101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0" id="30"/>
          <p:cNvSpPr/>
          <p:nvPr/>
        </p:nvSpPr>
        <p:spPr>
          <a:xfrm flipH="false" flipV="false" rot="0">
            <a:off x="8885237" y="5983160"/>
            <a:ext cx="1110162" cy="1110162"/>
          </a:xfrm>
          <a:custGeom>
            <a:avLst/>
            <a:gdLst/>
            <a:ahLst/>
            <a:cxnLst/>
            <a:rect r="r" b="b" t="t" l="l"/>
            <a:pathLst>
              <a:path h="1110162" w="1110162">
                <a:moveTo>
                  <a:pt x="0" y="0"/>
                </a:moveTo>
                <a:lnTo>
                  <a:pt x="1110162" y="0"/>
                </a:lnTo>
                <a:lnTo>
                  <a:pt x="1110162" y="1110162"/>
                </a:lnTo>
                <a:lnTo>
                  <a:pt x="0" y="11101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1" id="31"/>
          <p:cNvSpPr/>
          <p:nvPr/>
        </p:nvSpPr>
        <p:spPr>
          <a:xfrm flipH="false" flipV="false" rot="0">
            <a:off x="8968142" y="7268305"/>
            <a:ext cx="1029423" cy="1110162"/>
          </a:xfrm>
          <a:custGeom>
            <a:avLst/>
            <a:gdLst/>
            <a:ahLst/>
            <a:cxnLst/>
            <a:rect r="r" b="b" t="t" l="l"/>
            <a:pathLst>
              <a:path h="1110162" w="1029423">
                <a:moveTo>
                  <a:pt x="0" y="0"/>
                </a:moveTo>
                <a:lnTo>
                  <a:pt x="1029423" y="0"/>
                </a:lnTo>
                <a:lnTo>
                  <a:pt x="1029423" y="1110162"/>
                </a:lnTo>
                <a:lnTo>
                  <a:pt x="0" y="111016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2" id="32"/>
          <p:cNvSpPr txBox="true"/>
          <p:nvPr/>
        </p:nvSpPr>
        <p:spPr>
          <a:xfrm rot="0">
            <a:off x="7871002" y="8534400"/>
            <a:ext cx="10416998" cy="198120"/>
          </a:xfrm>
          <a:prstGeom prst="rect">
            <a:avLst/>
          </a:prstGeom>
        </p:spPr>
        <p:txBody>
          <a:bodyPr anchor="t" rtlCol="false" tIns="0" lIns="0" bIns="0" rIns="0">
            <a:spAutoFit/>
          </a:bodyPr>
          <a:lstStyle/>
          <a:p>
            <a:pPr algn="ctr" marL="0" indent="0" lvl="0">
              <a:lnSpc>
                <a:spcPts val="1679"/>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8" cy="807913"/>
            <a:chOff x="0" y="0"/>
            <a:chExt cx="91438" cy="1077218"/>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3"/>
            <a:chOff x="0" y="0"/>
            <a:chExt cx="1238250" cy="1077218"/>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6" id="6"/>
          <p:cNvGrpSpPr/>
          <p:nvPr/>
        </p:nvGrpSpPr>
        <p:grpSpPr>
          <a:xfrm rot="0">
            <a:off x="1231581" y="542925"/>
            <a:ext cx="6881790" cy="950830"/>
            <a:chOff x="0" y="0"/>
            <a:chExt cx="5918322" cy="817711"/>
          </a:xfrm>
        </p:grpSpPr>
        <p:sp>
          <p:nvSpPr>
            <p:cNvPr name="Freeform 7" id="7"/>
            <p:cNvSpPr/>
            <p:nvPr/>
          </p:nvSpPr>
          <p:spPr>
            <a:xfrm flipH="false" flipV="false" rot="0">
              <a:off x="0" y="0"/>
              <a:ext cx="5918322" cy="817711"/>
            </a:xfrm>
            <a:custGeom>
              <a:avLst/>
              <a:gdLst/>
              <a:ahLst/>
              <a:cxnLst/>
              <a:rect r="r" b="b" t="t" l="l"/>
              <a:pathLst>
                <a:path h="817711" w="5918322">
                  <a:moveTo>
                    <a:pt x="0" y="0"/>
                  </a:moveTo>
                  <a:lnTo>
                    <a:pt x="5918322" y="0"/>
                  </a:lnTo>
                  <a:lnTo>
                    <a:pt x="5918322" y="817711"/>
                  </a:lnTo>
                  <a:lnTo>
                    <a:pt x="0" y="817711"/>
                  </a:lnTo>
                  <a:close/>
                </a:path>
              </a:pathLst>
            </a:custGeom>
            <a:solidFill>
              <a:srgbClr val="000000">
                <a:alpha val="0"/>
              </a:srgbClr>
            </a:solidFill>
          </p:spPr>
        </p:sp>
        <p:sp>
          <p:nvSpPr>
            <p:cNvPr name="TextBox 8" id="8"/>
            <p:cNvSpPr txBox="true"/>
            <p:nvPr/>
          </p:nvSpPr>
          <p:spPr>
            <a:xfrm>
              <a:off x="0" y="-19050"/>
              <a:ext cx="5918322"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Environment  </a:t>
              </a:r>
            </a:p>
          </p:txBody>
        </p:sp>
      </p:grpSp>
      <p:sp>
        <p:nvSpPr>
          <p:cNvPr name="Freeform 9" id="9"/>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7761578" y="9713952"/>
            <a:ext cx="1268668" cy="2170263"/>
            <a:chOff x="0" y="0"/>
            <a:chExt cx="431800" cy="738664"/>
          </a:xfrm>
        </p:grpSpPr>
        <p:sp>
          <p:nvSpPr>
            <p:cNvPr name="Freeform 11" id="11"/>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2" id="12"/>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27</a:t>
              </a:r>
            </a:p>
          </p:txBody>
        </p:sp>
      </p:grpSp>
      <p:grpSp>
        <p:nvGrpSpPr>
          <p:cNvPr name="Group 13" id="13"/>
          <p:cNvGrpSpPr/>
          <p:nvPr/>
        </p:nvGrpSpPr>
        <p:grpSpPr>
          <a:xfrm rot="0">
            <a:off x="0" y="2552700"/>
            <a:ext cx="18288000" cy="5829300"/>
            <a:chOff x="0" y="0"/>
            <a:chExt cx="24384000" cy="7772400"/>
          </a:xfrm>
        </p:grpSpPr>
        <p:sp>
          <p:nvSpPr>
            <p:cNvPr name="Freeform 14" id="14"/>
            <p:cNvSpPr/>
            <p:nvPr/>
          </p:nvSpPr>
          <p:spPr>
            <a:xfrm flipH="false" flipV="false" rot="0">
              <a:off x="0" y="0"/>
              <a:ext cx="24384000" cy="7772400"/>
            </a:xfrm>
            <a:custGeom>
              <a:avLst/>
              <a:gdLst/>
              <a:ahLst/>
              <a:cxnLst/>
              <a:rect r="r" b="b" t="t" l="l"/>
              <a:pathLst>
                <a:path h="7772400" w="24384000">
                  <a:moveTo>
                    <a:pt x="0" y="0"/>
                  </a:moveTo>
                  <a:lnTo>
                    <a:pt x="24384000" y="0"/>
                  </a:lnTo>
                  <a:lnTo>
                    <a:pt x="24384000" y="7772400"/>
                  </a:lnTo>
                  <a:lnTo>
                    <a:pt x="0" y="7772400"/>
                  </a:lnTo>
                  <a:close/>
                </a:path>
              </a:pathLst>
            </a:custGeom>
            <a:solidFill>
              <a:srgbClr val="F7B902"/>
            </a:solidFill>
          </p:spPr>
        </p:sp>
      </p:grpSp>
      <p:sp>
        <p:nvSpPr>
          <p:cNvPr name="TextBox 15" id="15"/>
          <p:cNvSpPr txBox="true"/>
          <p:nvPr/>
        </p:nvSpPr>
        <p:spPr>
          <a:xfrm rot="0">
            <a:off x="171448" y="2786062"/>
            <a:ext cx="18116552" cy="5343525"/>
          </a:xfrm>
          <a:prstGeom prst="rect">
            <a:avLst/>
          </a:prstGeom>
        </p:spPr>
        <p:txBody>
          <a:bodyPr anchor="t" rtlCol="false" tIns="0" lIns="0" bIns="0" rIns="0">
            <a:spAutoFit/>
          </a:bodyPr>
          <a:lstStyle/>
          <a:p>
            <a:pPr algn="l">
              <a:lnSpc>
                <a:spcPts val="3240"/>
              </a:lnSpc>
            </a:pPr>
            <a:r>
              <a:rPr lang="en-US" sz="2700" b="true">
                <a:solidFill>
                  <a:srgbClr val="FFFFFF"/>
                </a:solidFill>
                <a:latin typeface="Times New Roman Bold"/>
                <a:ea typeface="Times New Roman Bold"/>
                <a:cs typeface="Times New Roman Bold"/>
                <a:sym typeface="Times New Roman Bold"/>
              </a:rPr>
              <a:t>Hardware</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 8-GPU(DPP)</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E</a:t>
            </a:r>
            <a:r>
              <a:rPr lang="en-US" b="true" sz="2700">
                <a:solidFill>
                  <a:srgbClr val="FFFFFF"/>
                </a:solidFill>
                <a:latin typeface="Times New Roman Bold"/>
                <a:ea typeface="Times New Roman Bold"/>
                <a:cs typeface="Times New Roman Bold"/>
                <a:sym typeface="Times New Roman Bold"/>
              </a:rPr>
              <a:t>ach GPU with enough VRAM for batch size 64 (per GPU)</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Mixed-precision training (AMP) to sp</a:t>
            </a:r>
            <a:r>
              <a:rPr lang="en-US" b="true" sz="2700">
                <a:solidFill>
                  <a:srgbClr val="FFFFFF"/>
                </a:solidFill>
                <a:latin typeface="Times New Roman Bold"/>
                <a:ea typeface="Times New Roman Bold"/>
                <a:cs typeface="Times New Roman Bold"/>
                <a:sym typeface="Times New Roman Bold"/>
              </a:rPr>
              <a:t>e</a:t>
            </a:r>
            <a:r>
              <a:rPr lang="en-US" b="true" sz="2700">
                <a:solidFill>
                  <a:srgbClr val="FFFFFF"/>
                </a:solidFill>
                <a:latin typeface="Times New Roman Bold"/>
                <a:ea typeface="Times New Roman Bold"/>
                <a:cs typeface="Times New Roman Bold"/>
                <a:sym typeface="Times New Roman Bold"/>
              </a:rPr>
              <a:t>ed up training</a:t>
            </a:r>
          </a:p>
          <a:p>
            <a:pPr algn="l">
              <a:lnSpc>
                <a:spcPts val="3240"/>
              </a:lnSpc>
            </a:pPr>
            <a:r>
              <a:rPr lang="en-US" sz="2700" b="true">
                <a:solidFill>
                  <a:srgbClr val="FFFFFF"/>
                </a:solidFill>
                <a:latin typeface="Times New Roman Bold"/>
                <a:ea typeface="Times New Roman Bold"/>
                <a:cs typeface="Times New Roman Bold"/>
                <a:sym typeface="Times New Roman Bold"/>
              </a:rPr>
              <a:t>Softw</a:t>
            </a:r>
            <a:r>
              <a:rPr lang="en-US" sz="2700" b="true">
                <a:solidFill>
                  <a:srgbClr val="FFFFFF"/>
                </a:solidFill>
                <a:latin typeface="Times New Roman Bold"/>
                <a:ea typeface="Times New Roman Bold"/>
                <a:cs typeface="Times New Roman Bold"/>
                <a:sym typeface="Times New Roman Bold"/>
              </a:rPr>
              <a:t>are</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OS: Ubuntu Lin</a:t>
            </a:r>
            <a:r>
              <a:rPr lang="en-US" b="true" sz="2700">
                <a:solidFill>
                  <a:srgbClr val="FFFFFF"/>
                </a:solidFill>
                <a:latin typeface="Times New Roman Bold"/>
                <a:ea typeface="Times New Roman Bold"/>
                <a:cs typeface="Times New Roman Bold"/>
                <a:sym typeface="Times New Roman Bold"/>
              </a:rPr>
              <a:t>ux (server)</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P</a:t>
            </a:r>
            <a:r>
              <a:rPr lang="en-US" b="true" sz="2700">
                <a:solidFill>
                  <a:srgbClr val="FFFFFF"/>
                </a:solidFill>
                <a:latin typeface="Times New Roman Bold"/>
                <a:ea typeface="Times New Roman Bold"/>
                <a:cs typeface="Times New Roman Bold"/>
                <a:sym typeface="Times New Roman Bold"/>
              </a:rPr>
              <a:t>rogramming language: Python 3.10 </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Frameworks: PyTorch </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Dat</a:t>
            </a:r>
            <a:r>
              <a:rPr lang="en-US" b="true" sz="2700">
                <a:solidFill>
                  <a:srgbClr val="FFFFFF"/>
                </a:solidFill>
                <a:latin typeface="Times New Roman Bold"/>
                <a:ea typeface="Times New Roman Bold"/>
                <a:cs typeface="Times New Roman Bold"/>
                <a:sym typeface="Times New Roman Bold"/>
              </a:rPr>
              <a:t>a augmentation: album</a:t>
            </a:r>
            <a:r>
              <a:rPr lang="en-US" b="true" sz="2700">
                <a:solidFill>
                  <a:srgbClr val="FFFFFF"/>
                </a:solidFill>
                <a:latin typeface="Times New Roman Bold"/>
                <a:ea typeface="Times New Roman Bold"/>
                <a:cs typeface="Times New Roman Bold"/>
                <a:sym typeface="Times New Roman Bold"/>
              </a:rPr>
              <a:t>entations</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Me</a:t>
            </a:r>
            <a:r>
              <a:rPr lang="en-US" b="true" sz="2700">
                <a:solidFill>
                  <a:srgbClr val="FFFFFF"/>
                </a:solidFill>
                <a:latin typeface="Times New Roman Bold"/>
                <a:ea typeface="Times New Roman Bold"/>
                <a:cs typeface="Times New Roman Bold"/>
                <a:sym typeface="Times New Roman Bold"/>
              </a:rPr>
              <a:t>trics &amp; utilities: scikit-learn, pandas, numpy</a:t>
            </a:r>
          </a:p>
          <a:p>
            <a:pPr algn="l" marL="582930" indent="-291465" lvl="1">
              <a:lnSpc>
                <a:spcPts val="3240"/>
              </a:lnSpc>
              <a:buFont typeface="Arial"/>
              <a:buChar char="•"/>
            </a:pPr>
            <a:r>
              <a:rPr lang="en-US" b="true" sz="2700">
                <a:solidFill>
                  <a:srgbClr val="FFFFFF"/>
                </a:solidFill>
                <a:latin typeface="Times New Roman Bold"/>
                <a:ea typeface="Times New Roman Bold"/>
                <a:cs typeface="Times New Roman Bold"/>
                <a:sym typeface="Times New Roman Bold"/>
              </a:rPr>
              <a:t>Development: VS Code </a:t>
            </a:r>
          </a:p>
          <a:p>
            <a:pPr algn="l">
              <a:lnSpc>
                <a:spcPts val="3240"/>
              </a:lnSpc>
            </a:pPr>
          </a:p>
          <a:p>
            <a:pPr algn="l">
              <a:lnSpc>
                <a:spcPts val="3240"/>
              </a:lnSpc>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6843252" y="575187"/>
            <a:ext cx="4601496" cy="1206475"/>
            <a:chOff x="0" y="0"/>
            <a:chExt cx="6135328" cy="1608634"/>
          </a:xfrm>
        </p:grpSpPr>
        <p:sp>
          <p:nvSpPr>
            <p:cNvPr name="Freeform 3" id="3"/>
            <p:cNvSpPr/>
            <p:nvPr/>
          </p:nvSpPr>
          <p:spPr>
            <a:xfrm flipH="false" flipV="false" rot="0">
              <a:off x="0" y="0"/>
              <a:ext cx="6135328" cy="1608634"/>
            </a:xfrm>
            <a:custGeom>
              <a:avLst/>
              <a:gdLst/>
              <a:ahLst/>
              <a:cxnLst/>
              <a:rect r="r" b="b" t="t" l="l"/>
              <a:pathLst>
                <a:path h="1608634" w="6135328">
                  <a:moveTo>
                    <a:pt x="0" y="0"/>
                  </a:moveTo>
                  <a:lnTo>
                    <a:pt x="6135328" y="0"/>
                  </a:lnTo>
                  <a:lnTo>
                    <a:pt x="6135328" y="1608634"/>
                  </a:lnTo>
                  <a:lnTo>
                    <a:pt x="0" y="1608634"/>
                  </a:lnTo>
                  <a:close/>
                </a:path>
              </a:pathLst>
            </a:custGeom>
            <a:solidFill>
              <a:srgbClr val="000000">
                <a:alpha val="0"/>
              </a:srgbClr>
            </a:solidFill>
          </p:spPr>
        </p:sp>
        <p:sp>
          <p:nvSpPr>
            <p:cNvPr name="TextBox 4" id="4"/>
            <p:cNvSpPr txBox="true"/>
            <p:nvPr/>
          </p:nvSpPr>
          <p:spPr>
            <a:xfrm>
              <a:off x="0" y="-38100"/>
              <a:ext cx="6135328" cy="1646734"/>
            </a:xfrm>
            <a:prstGeom prst="rect">
              <a:avLst/>
            </a:prstGeom>
          </p:spPr>
          <p:txBody>
            <a:bodyPr anchor="t" rtlCol="false" tIns="0" lIns="0" bIns="0" rIns="0"/>
            <a:lstStyle/>
            <a:p>
              <a:pPr algn="ctr">
                <a:lnSpc>
                  <a:spcPts val="7200"/>
                </a:lnSpc>
              </a:pPr>
              <a:r>
                <a:rPr lang="en-US" sz="6000">
                  <a:solidFill>
                    <a:srgbClr val="F7B902"/>
                  </a:solidFill>
                  <a:latin typeface="Times New Roman"/>
                  <a:ea typeface="Times New Roman"/>
                  <a:cs typeface="Times New Roman"/>
                  <a:sym typeface="Times New Roman"/>
                </a:rPr>
                <a:t>CONTENT</a:t>
              </a:r>
            </a:p>
          </p:txBody>
        </p:sp>
      </p:grpSp>
      <p:grpSp>
        <p:nvGrpSpPr>
          <p:cNvPr name="Group 5" id="5"/>
          <p:cNvGrpSpPr/>
          <p:nvPr/>
        </p:nvGrpSpPr>
        <p:grpSpPr>
          <a:xfrm rot="0">
            <a:off x="8486775" y="1637016"/>
            <a:ext cx="1314450" cy="68578"/>
            <a:chOff x="0" y="0"/>
            <a:chExt cx="1752600" cy="91438"/>
          </a:xfrm>
        </p:grpSpPr>
        <p:sp>
          <p:nvSpPr>
            <p:cNvPr name="Freeform 6" id="6"/>
            <p:cNvSpPr/>
            <p:nvPr/>
          </p:nvSpPr>
          <p:spPr>
            <a:xfrm flipH="false" flipV="false" rot="0">
              <a:off x="0" y="0"/>
              <a:ext cx="1752600" cy="91440"/>
            </a:xfrm>
            <a:custGeom>
              <a:avLst/>
              <a:gdLst/>
              <a:ahLst/>
              <a:cxnLst/>
              <a:rect r="r" b="b" t="t" l="l"/>
              <a:pathLst>
                <a:path h="91440" w="1752600">
                  <a:moveTo>
                    <a:pt x="0" y="0"/>
                  </a:moveTo>
                  <a:lnTo>
                    <a:pt x="1752600" y="0"/>
                  </a:lnTo>
                  <a:lnTo>
                    <a:pt x="1752600" y="91440"/>
                  </a:lnTo>
                  <a:lnTo>
                    <a:pt x="0" y="91440"/>
                  </a:lnTo>
                  <a:close/>
                </a:path>
              </a:pathLst>
            </a:custGeom>
            <a:solidFill>
              <a:srgbClr val="F7B902"/>
            </a:solidFill>
          </p:spPr>
        </p:sp>
      </p:grpSp>
      <p:grpSp>
        <p:nvGrpSpPr>
          <p:cNvPr name="Group 7" id="7"/>
          <p:cNvGrpSpPr/>
          <p:nvPr/>
        </p:nvGrpSpPr>
        <p:grpSpPr>
          <a:xfrm rot="0">
            <a:off x="1028700" y="7390629"/>
            <a:ext cx="2405241" cy="718170"/>
            <a:chOff x="0" y="0"/>
            <a:chExt cx="3206988" cy="957560"/>
          </a:xfrm>
        </p:grpSpPr>
        <p:sp>
          <p:nvSpPr>
            <p:cNvPr name="Freeform 8" id="8"/>
            <p:cNvSpPr/>
            <p:nvPr/>
          </p:nvSpPr>
          <p:spPr>
            <a:xfrm flipH="false" flipV="false" rot="0">
              <a:off x="0" y="0"/>
              <a:ext cx="3206988" cy="957560"/>
            </a:xfrm>
            <a:custGeom>
              <a:avLst/>
              <a:gdLst/>
              <a:ahLst/>
              <a:cxnLst/>
              <a:rect r="r" b="b" t="t" l="l"/>
              <a:pathLst>
                <a:path h="957560" w="3206988">
                  <a:moveTo>
                    <a:pt x="0" y="0"/>
                  </a:moveTo>
                  <a:lnTo>
                    <a:pt x="3206988" y="0"/>
                  </a:lnTo>
                  <a:lnTo>
                    <a:pt x="3206988" y="957560"/>
                  </a:lnTo>
                  <a:lnTo>
                    <a:pt x="0" y="957560"/>
                  </a:lnTo>
                  <a:close/>
                </a:path>
              </a:pathLst>
            </a:custGeom>
            <a:solidFill>
              <a:srgbClr val="000000">
                <a:alpha val="0"/>
              </a:srgbClr>
            </a:solidFill>
          </p:spPr>
        </p:sp>
        <p:sp>
          <p:nvSpPr>
            <p:cNvPr name="TextBox 9" id="9"/>
            <p:cNvSpPr txBox="true"/>
            <p:nvPr/>
          </p:nvSpPr>
          <p:spPr>
            <a:xfrm>
              <a:off x="0" y="-28575"/>
              <a:ext cx="3206988" cy="986135"/>
            </a:xfrm>
            <a:prstGeom prst="rect">
              <a:avLst/>
            </a:prstGeom>
          </p:spPr>
          <p:txBody>
            <a:bodyPr anchor="t" rtlCol="false" tIns="0" lIns="0" bIns="0" rIns="0"/>
            <a:lstStyle/>
            <a:p>
              <a:pPr algn="ctr">
                <a:lnSpc>
                  <a:spcPts val="4320"/>
                </a:lnSpc>
              </a:pPr>
              <a:r>
                <a:rPr lang="en-US" sz="3600">
                  <a:solidFill>
                    <a:srgbClr val="FFFFFF">
                      <a:alpha val="33725"/>
                    </a:srgbClr>
                  </a:solidFill>
                  <a:latin typeface="Times New Roman"/>
                  <a:ea typeface="Times New Roman"/>
                  <a:cs typeface="Times New Roman"/>
                  <a:sym typeface="Times New Roman"/>
                </a:rPr>
                <a:t>Introduction</a:t>
              </a:r>
            </a:p>
          </p:txBody>
        </p:sp>
      </p:grpSp>
      <p:grpSp>
        <p:nvGrpSpPr>
          <p:cNvPr name="Group 10" id="10"/>
          <p:cNvGrpSpPr/>
          <p:nvPr/>
        </p:nvGrpSpPr>
        <p:grpSpPr>
          <a:xfrm rot="0">
            <a:off x="4531108" y="7390629"/>
            <a:ext cx="2654710" cy="1261095"/>
            <a:chOff x="0" y="0"/>
            <a:chExt cx="3539614" cy="1681460"/>
          </a:xfrm>
        </p:grpSpPr>
        <p:sp>
          <p:nvSpPr>
            <p:cNvPr name="Freeform 11" id="11"/>
            <p:cNvSpPr/>
            <p:nvPr/>
          </p:nvSpPr>
          <p:spPr>
            <a:xfrm flipH="false" flipV="false" rot="0">
              <a:off x="0" y="0"/>
              <a:ext cx="3539614" cy="1681460"/>
            </a:xfrm>
            <a:custGeom>
              <a:avLst/>
              <a:gdLst/>
              <a:ahLst/>
              <a:cxnLst/>
              <a:rect r="r" b="b" t="t" l="l"/>
              <a:pathLst>
                <a:path h="1681460" w="3539614">
                  <a:moveTo>
                    <a:pt x="0" y="0"/>
                  </a:moveTo>
                  <a:lnTo>
                    <a:pt x="3539614" y="0"/>
                  </a:lnTo>
                  <a:lnTo>
                    <a:pt x="3539614" y="1681460"/>
                  </a:lnTo>
                  <a:lnTo>
                    <a:pt x="0" y="1681460"/>
                  </a:lnTo>
                  <a:close/>
                </a:path>
              </a:pathLst>
            </a:custGeom>
            <a:solidFill>
              <a:srgbClr val="000000">
                <a:alpha val="0"/>
              </a:srgbClr>
            </a:solidFill>
          </p:spPr>
        </p:sp>
        <p:sp>
          <p:nvSpPr>
            <p:cNvPr name="TextBox 12" id="12"/>
            <p:cNvSpPr txBox="true"/>
            <p:nvPr/>
          </p:nvSpPr>
          <p:spPr>
            <a:xfrm>
              <a:off x="0" y="-28575"/>
              <a:ext cx="3539614" cy="1710035"/>
            </a:xfrm>
            <a:prstGeom prst="rect">
              <a:avLst/>
            </a:prstGeom>
          </p:spPr>
          <p:txBody>
            <a:bodyPr anchor="t" rtlCol="false" tIns="0" lIns="0" bIns="0" rIns="0"/>
            <a:lstStyle/>
            <a:p>
              <a:pPr algn="ctr">
                <a:lnSpc>
                  <a:spcPts val="4320"/>
                </a:lnSpc>
              </a:pPr>
              <a:r>
                <a:rPr lang="en-US" sz="3600">
                  <a:solidFill>
                    <a:srgbClr val="FFFFFF">
                      <a:alpha val="33725"/>
                    </a:srgbClr>
                  </a:solidFill>
                  <a:latin typeface="Times New Roman"/>
                  <a:ea typeface="Times New Roman"/>
                  <a:cs typeface="Times New Roman"/>
                  <a:sym typeface="Times New Roman"/>
                </a:rPr>
                <a:t>Problem Setting</a:t>
              </a:r>
            </a:p>
          </p:txBody>
        </p:sp>
      </p:grpSp>
      <p:grpSp>
        <p:nvGrpSpPr>
          <p:cNvPr name="Group 13" id="13"/>
          <p:cNvGrpSpPr/>
          <p:nvPr/>
        </p:nvGrpSpPr>
        <p:grpSpPr>
          <a:xfrm rot="0">
            <a:off x="11444748" y="7130192"/>
            <a:ext cx="2763519" cy="1261095"/>
            <a:chOff x="0" y="0"/>
            <a:chExt cx="3684692" cy="1681460"/>
          </a:xfrm>
        </p:grpSpPr>
        <p:sp>
          <p:nvSpPr>
            <p:cNvPr name="Freeform 14" id="14"/>
            <p:cNvSpPr/>
            <p:nvPr/>
          </p:nvSpPr>
          <p:spPr>
            <a:xfrm flipH="false" flipV="false" rot="0">
              <a:off x="0" y="0"/>
              <a:ext cx="3684692" cy="1681460"/>
            </a:xfrm>
            <a:custGeom>
              <a:avLst/>
              <a:gdLst/>
              <a:ahLst/>
              <a:cxnLst/>
              <a:rect r="r" b="b" t="t" l="l"/>
              <a:pathLst>
                <a:path h="1681460" w="3684692">
                  <a:moveTo>
                    <a:pt x="0" y="0"/>
                  </a:moveTo>
                  <a:lnTo>
                    <a:pt x="3684692" y="0"/>
                  </a:lnTo>
                  <a:lnTo>
                    <a:pt x="3684692" y="1681460"/>
                  </a:lnTo>
                  <a:lnTo>
                    <a:pt x="0" y="1681460"/>
                  </a:lnTo>
                  <a:close/>
                </a:path>
              </a:pathLst>
            </a:custGeom>
            <a:solidFill>
              <a:srgbClr val="000000">
                <a:alpha val="0"/>
              </a:srgbClr>
            </a:solidFill>
          </p:spPr>
        </p:sp>
        <p:sp>
          <p:nvSpPr>
            <p:cNvPr name="TextBox 15" id="15"/>
            <p:cNvSpPr txBox="true"/>
            <p:nvPr/>
          </p:nvSpPr>
          <p:spPr>
            <a:xfrm>
              <a:off x="0" y="-28575"/>
              <a:ext cx="3684692" cy="1710035"/>
            </a:xfrm>
            <a:prstGeom prst="rect">
              <a:avLst/>
            </a:prstGeom>
          </p:spPr>
          <p:txBody>
            <a:bodyPr anchor="t" rtlCol="false" tIns="0" lIns="0" bIns="0" rIns="0"/>
            <a:lstStyle/>
            <a:p>
              <a:pPr algn="ctr">
                <a:lnSpc>
                  <a:spcPts val="4320"/>
                </a:lnSpc>
              </a:pPr>
              <a:r>
                <a:rPr lang="en-US" sz="3600">
                  <a:solidFill>
                    <a:srgbClr val="FFFFFF">
                      <a:alpha val="33725"/>
                    </a:srgbClr>
                  </a:solidFill>
                  <a:latin typeface="Times New Roman"/>
                  <a:ea typeface="Times New Roman"/>
                  <a:cs typeface="Times New Roman"/>
                  <a:sym typeface="Times New Roman"/>
                </a:rPr>
                <a:t>Experimental Setting </a:t>
              </a:r>
            </a:p>
          </p:txBody>
        </p:sp>
      </p:grpSp>
      <p:grpSp>
        <p:nvGrpSpPr>
          <p:cNvPr name="Group 16" id="16"/>
          <p:cNvGrpSpPr/>
          <p:nvPr/>
        </p:nvGrpSpPr>
        <p:grpSpPr>
          <a:xfrm rot="0">
            <a:off x="15106867" y="7119167"/>
            <a:ext cx="2529977" cy="1261095"/>
            <a:chOff x="0" y="0"/>
            <a:chExt cx="3373302" cy="1681460"/>
          </a:xfrm>
        </p:grpSpPr>
        <p:sp>
          <p:nvSpPr>
            <p:cNvPr name="Freeform 17" id="17"/>
            <p:cNvSpPr/>
            <p:nvPr/>
          </p:nvSpPr>
          <p:spPr>
            <a:xfrm flipH="false" flipV="false" rot="0">
              <a:off x="0" y="0"/>
              <a:ext cx="3373302" cy="1681460"/>
            </a:xfrm>
            <a:custGeom>
              <a:avLst/>
              <a:gdLst/>
              <a:ahLst/>
              <a:cxnLst/>
              <a:rect r="r" b="b" t="t" l="l"/>
              <a:pathLst>
                <a:path h="1681460" w="3373302">
                  <a:moveTo>
                    <a:pt x="0" y="0"/>
                  </a:moveTo>
                  <a:lnTo>
                    <a:pt x="3373302" y="0"/>
                  </a:lnTo>
                  <a:lnTo>
                    <a:pt x="3373302" y="1681460"/>
                  </a:lnTo>
                  <a:lnTo>
                    <a:pt x="0" y="1681460"/>
                  </a:lnTo>
                  <a:close/>
                </a:path>
              </a:pathLst>
            </a:custGeom>
            <a:solidFill>
              <a:srgbClr val="000000">
                <a:alpha val="0"/>
              </a:srgbClr>
            </a:solidFill>
          </p:spPr>
        </p:sp>
        <p:sp>
          <p:nvSpPr>
            <p:cNvPr name="TextBox 18" id="18"/>
            <p:cNvSpPr txBox="true"/>
            <p:nvPr/>
          </p:nvSpPr>
          <p:spPr>
            <a:xfrm>
              <a:off x="0" y="-28575"/>
              <a:ext cx="3373302" cy="1710035"/>
            </a:xfrm>
            <a:prstGeom prst="rect">
              <a:avLst/>
            </a:prstGeom>
          </p:spPr>
          <p:txBody>
            <a:bodyPr anchor="t" rtlCol="false" tIns="0" lIns="0" bIns="0" rIns="0"/>
            <a:lstStyle/>
            <a:p>
              <a:pPr algn="ctr">
                <a:lnSpc>
                  <a:spcPts val="4320"/>
                </a:lnSpc>
              </a:pPr>
              <a:r>
                <a:rPr lang="en-US" sz="3600">
                  <a:solidFill>
                    <a:srgbClr val="FFFFFF"/>
                  </a:solidFill>
                  <a:latin typeface="Times New Roman"/>
                  <a:ea typeface="Times New Roman"/>
                  <a:cs typeface="Times New Roman"/>
                  <a:sym typeface="Times New Roman"/>
                </a:rPr>
                <a:t>Experimental Results </a:t>
              </a:r>
            </a:p>
          </p:txBody>
        </p:sp>
      </p:grpSp>
      <p:grpSp>
        <p:nvGrpSpPr>
          <p:cNvPr name="Group 19" id="19"/>
          <p:cNvGrpSpPr/>
          <p:nvPr/>
        </p:nvGrpSpPr>
        <p:grpSpPr>
          <a:xfrm rot="0">
            <a:off x="15106867" y="4282689"/>
            <a:ext cx="2654710" cy="265471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solidFill>
          </p:spPr>
        </p:sp>
        <p:sp>
          <p:nvSpPr>
            <p:cNvPr name="TextBox 21" id="21"/>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22" id="22"/>
          <p:cNvSpPr/>
          <p:nvPr/>
        </p:nvSpPr>
        <p:spPr>
          <a:xfrm flipH="false" flipV="false" rot="0">
            <a:off x="15713887" y="4888698"/>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3"/>
            <a:stretch>
              <a:fillRect l="0" t="0" r="0" b="0"/>
            </a:stretch>
          </a:blipFill>
        </p:spPr>
      </p:sp>
      <p:grpSp>
        <p:nvGrpSpPr>
          <p:cNvPr name="Group 23" id="23"/>
          <p:cNvGrpSpPr/>
          <p:nvPr/>
        </p:nvGrpSpPr>
        <p:grpSpPr>
          <a:xfrm rot="0">
            <a:off x="4531108" y="4282689"/>
            <a:ext cx="2654710" cy="2654710"/>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19608"/>
              </a:srgbClr>
            </a:solidFill>
          </p:spPr>
        </p:sp>
        <p:sp>
          <p:nvSpPr>
            <p:cNvPr name="TextBox 25" id="25"/>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26" id="26"/>
          <p:cNvSpPr/>
          <p:nvPr/>
        </p:nvSpPr>
        <p:spPr>
          <a:xfrm flipH="false" flipV="false" rot="0">
            <a:off x="5140304" y="4888698"/>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4">
              <a:alphaModFix amt="19999"/>
            </a:blip>
            <a:stretch>
              <a:fillRect l="0" t="0" r="0" b="0"/>
            </a:stretch>
          </a:blipFill>
        </p:spPr>
      </p:sp>
      <p:grpSp>
        <p:nvGrpSpPr>
          <p:cNvPr name="Group 27" id="27"/>
          <p:cNvGrpSpPr/>
          <p:nvPr/>
        </p:nvGrpSpPr>
        <p:grpSpPr>
          <a:xfrm rot="0">
            <a:off x="11444748" y="4281678"/>
            <a:ext cx="2654710" cy="2654710"/>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19608"/>
              </a:srgbClr>
            </a:solidFill>
          </p:spPr>
        </p:sp>
        <p:sp>
          <p:nvSpPr>
            <p:cNvPr name="TextBox 29" id="29"/>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30" id="30"/>
          <p:cNvSpPr/>
          <p:nvPr/>
        </p:nvSpPr>
        <p:spPr>
          <a:xfrm flipH="false" flipV="false" rot="0">
            <a:off x="12051768" y="4889709"/>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5">
              <a:alphaModFix amt="19999"/>
            </a:blip>
            <a:stretch>
              <a:fillRect l="0" t="0" r="0" b="0"/>
            </a:stretch>
          </a:blipFill>
        </p:spPr>
      </p:sp>
      <p:sp>
        <p:nvSpPr>
          <p:cNvPr name="Freeform 31" id="31"/>
          <p:cNvSpPr/>
          <p:nvPr/>
        </p:nvSpPr>
        <p:spPr>
          <a:xfrm flipH="false" flipV="false" rot="0">
            <a:off x="1635720" y="4889709"/>
            <a:ext cx="1440671" cy="1440671"/>
          </a:xfrm>
          <a:custGeom>
            <a:avLst/>
            <a:gdLst/>
            <a:ahLst/>
            <a:cxnLst/>
            <a:rect r="r" b="b" t="t" l="l"/>
            <a:pathLst>
              <a:path h="1440671" w="1440671">
                <a:moveTo>
                  <a:pt x="0" y="0"/>
                </a:moveTo>
                <a:lnTo>
                  <a:pt x="1440671" y="0"/>
                </a:lnTo>
                <a:lnTo>
                  <a:pt x="1440671" y="1440671"/>
                </a:lnTo>
                <a:lnTo>
                  <a:pt x="0" y="1440671"/>
                </a:lnTo>
                <a:lnTo>
                  <a:pt x="0" y="0"/>
                </a:lnTo>
                <a:close/>
              </a:path>
            </a:pathLst>
          </a:custGeom>
          <a:blipFill>
            <a:blip r:embed="rId6"/>
            <a:stretch>
              <a:fillRect l="0" t="0" r="0" b="0"/>
            </a:stretch>
          </a:blipFill>
        </p:spPr>
      </p:sp>
      <p:grpSp>
        <p:nvGrpSpPr>
          <p:cNvPr name="Group 32" id="32"/>
          <p:cNvGrpSpPr/>
          <p:nvPr/>
        </p:nvGrpSpPr>
        <p:grpSpPr>
          <a:xfrm rot="0">
            <a:off x="1028700" y="4282689"/>
            <a:ext cx="2654710" cy="2654710"/>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19608"/>
              </a:srgbClr>
            </a:solidFill>
          </p:spPr>
        </p:sp>
        <p:sp>
          <p:nvSpPr>
            <p:cNvPr name="TextBox 34" id="34"/>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35" id="35"/>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36" id="36"/>
          <p:cNvGrpSpPr/>
          <p:nvPr/>
        </p:nvGrpSpPr>
        <p:grpSpPr>
          <a:xfrm rot="0">
            <a:off x="17761578" y="9713952"/>
            <a:ext cx="1268668" cy="2170263"/>
            <a:chOff x="0" y="0"/>
            <a:chExt cx="431800" cy="738664"/>
          </a:xfrm>
        </p:grpSpPr>
        <p:sp>
          <p:nvSpPr>
            <p:cNvPr name="Freeform 37" id="37"/>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38" id="38"/>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28</a:t>
              </a:r>
            </a:p>
          </p:txBody>
        </p:sp>
      </p:grpSp>
      <p:grpSp>
        <p:nvGrpSpPr>
          <p:cNvPr name="Group 39" id="39"/>
          <p:cNvGrpSpPr/>
          <p:nvPr/>
        </p:nvGrpSpPr>
        <p:grpSpPr>
          <a:xfrm rot="0">
            <a:off x="14487409" y="8546448"/>
            <a:ext cx="4323577" cy="1898427"/>
            <a:chOff x="0" y="0"/>
            <a:chExt cx="5764769" cy="2531236"/>
          </a:xfrm>
        </p:grpSpPr>
        <p:sp>
          <p:nvSpPr>
            <p:cNvPr name="Freeform 40" id="40"/>
            <p:cNvSpPr/>
            <p:nvPr/>
          </p:nvSpPr>
          <p:spPr>
            <a:xfrm flipH="false" flipV="false" rot="0">
              <a:off x="0" y="0"/>
              <a:ext cx="5764769" cy="2531236"/>
            </a:xfrm>
            <a:custGeom>
              <a:avLst/>
              <a:gdLst/>
              <a:ahLst/>
              <a:cxnLst/>
              <a:rect r="r" b="b" t="t" l="l"/>
              <a:pathLst>
                <a:path h="2531236" w="5764769">
                  <a:moveTo>
                    <a:pt x="0" y="0"/>
                  </a:moveTo>
                  <a:lnTo>
                    <a:pt x="5764769" y="0"/>
                  </a:lnTo>
                  <a:lnTo>
                    <a:pt x="5764769" y="2531236"/>
                  </a:lnTo>
                  <a:lnTo>
                    <a:pt x="0" y="2531236"/>
                  </a:lnTo>
                  <a:close/>
                </a:path>
              </a:pathLst>
            </a:custGeom>
            <a:solidFill>
              <a:srgbClr val="000000">
                <a:alpha val="0"/>
              </a:srgbClr>
            </a:solidFill>
          </p:spPr>
        </p:sp>
        <p:sp>
          <p:nvSpPr>
            <p:cNvPr name="TextBox 41" id="41"/>
            <p:cNvSpPr txBox="true"/>
            <p:nvPr/>
          </p:nvSpPr>
          <p:spPr>
            <a:xfrm>
              <a:off x="0" y="-19050"/>
              <a:ext cx="5764769" cy="2550286"/>
            </a:xfrm>
            <a:prstGeom prst="rect">
              <a:avLst/>
            </a:prstGeom>
          </p:spPr>
          <p:txBody>
            <a:bodyPr anchor="t" rtlCol="false" tIns="0" lIns="0" bIns="0" rIns="0"/>
            <a:lstStyle/>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Experimental Results</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Conclusion, Insights &amp; Limitations</a:t>
              </a:r>
            </a:p>
            <a:p>
              <a:pPr algn="l" marL="431801" indent="-215900" lvl="1">
                <a:lnSpc>
                  <a:spcPts val="2400"/>
                </a:lnSpc>
                <a:buFont typeface="Arial"/>
                <a:buChar char="•"/>
              </a:pPr>
              <a:r>
                <a:rPr lang="en-US" b="true" sz="2000">
                  <a:solidFill>
                    <a:srgbClr val="FFFFFF"/>
                  </a:solidFill>
                  <a:latin typeface="Times New Roman Bold"/>
                  <a:ea typeface="Times New Roman Bold"/>
                  <a:cs typeface="Times New Roman Bold"/>
                  <a:sym typeface="Times New Roman Bold"/>
                </a:rPr>
                <a:t>Demo</a:t>
              </a:r>
            </a:p>
            <a:p>
              <a:pPr algn="l">
                <a:lnSpc>
                  <a:spcPts val="4320"/>
                </a:lnSpc>
              </a:pPr>
            </a:p>
          </p:txBody>
        </p:sp>
      </p:grpSp>
      <p:grpSp>
        <p:nvGrpSpPr>
          <p:cNvPr name="Group 42" id="42"/>
          <p:cNvGrpSpPr/>
          <p:nvPr/>
        </p:nvGrpSpPr>
        <p:grpSpPr>
          <a:xfrm rot="0">
            <a:off x="7806605" y="4255395"/>
            <a:ext cx="2654710" cy="2654710"/>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02">
                <a:alpha val="23922"/>
              </a:srgbClr>
            </a:solidFill>
          </p:spPr>
        </p:sp>
        <p:sp>
          <p:nvSpPr>
            <p:cNvPr name="TextBox 44" id="44"/>
            <p:cNvSpPr txBox="true"/>
            <p:nvPr/>
          </p:nvSpPr>
          <p:spPr>
            <a:xfrm>
              <a:off x="76200" y="57150"/>
              <a:ext cx="660400" cy="679450"/>
            </a:xfrm>
            <a:prstGeom prst="rect">
              <a:avLst/>
            </a:prstGeom>
          </p:spPr>
          <p:txBody>
            <a:bodyPr anchor="ctr" rtlCol="false" tIns="50800" lIns="50800" bIns="50800" rIns="50800"/>
            <a:lstStyle/>
            <a:p>
              <a:pPr algn="ctr">
                <a:lnSpc>
                  <a:spcPts val="2160"/>
                </a:lnSpc>
              </a:pPr>
            </a:p>
          </p:txBody>
        </p:sp>
      </p:grpSp>
      <p:sp>
        <p:nvSpPr>
          <p:cNvPr name="Freeform 45" id="45"/>
          <p:cNvSpPr/>
          <p:nvPr/>
        </p:nvSpPr>
        <p:spPr>
          <a:xfrm flipH="false" flipV="false" rot="0">
            <a:off x="8304091" y="4824315"/>
            <a:ext cx="1659740" cy="1703091"/>
          </a:xfrm>
          <a:custGeom>
            <a:avLst/>
            <a:gdLst/>
            <a:ahLst/>
            <a:cxnLst/>
            <a:rect r="r" b="b" t="t" l="l"/>
            <a:pathLst>
              <a:path h="1703091" w="1659740">
                <a:moveTo>
                  <a:pt x="0" y="0"/>
                </a:moveTo>
                <a:lnTo>
                  <a:pt x="1659740" y="0"/>
                </a:lnTo>
                <a:lnTo>
                  <a:pt x="1659740" y="1703091"/>
                </a:lnTo>
                <a:lnTo>
                  <a:pt x="0" y="1703091"/>
                </a:lnTo>
                <a:lnTo>
                  <a:pt x="0" y="0"/>
                </a:lnTo>
                <a:close/>
              </a:path>
            </a:pathLst>
          </a:custGeom>
          <a:blipFill>
            <a:blip r:embed="rId9">
              <a:alphaModFix amt="26000"/>
              <a:extLst>
                <a:ext uri="{96DAC541-7B7A-43D3-8B79-37D633B846F1}">
                  <asvg:svgBlip xmlns:asvg="http://schemas.microsoft.com/office/drawing/2016/SVG/main" r:embed="rId10"/>
                </a:ext>
              </a:extLst>
            </a:blip>
            <a:stretch>
              <a:fillRect l="0" t="0" r="0" b="0"/>
            </a:stretch>
          </a:blipFill>
        </p:spPr>
      </p:sp>
      <p:grpSp>
        <p:nvGrpSpPr>
          <p:cNvPr name="Group 46" id="46"/>
          <p:cNvGrpSpPr/>
          <p:nvPr/>
        </p:nvGrpSpPr>
        <p:grpSpPr>
          <a:xfrm rot="0">
            <a:off x="7808782" y="7130192"/>
            <a:ext cx="2654710" cy="1261095"/>
            <a:chOff x="0" y="0"/>
            <a:chExt cx="3539614" cy="1681460"/>
          </a:xfrm>
        </p:grpSpPr>
        <p:sp>
          <p:nvSpPr>
            <p:cNvPr name="Freeform 47" id="47"/>
            <p:cNvSpPr/>
            <p:nvPr/>
          </p:nvSpPr>
          <p:spPr>
            <a:xfrm flipH="false" flipV="false" rot="0">
              <a:off x="0" y="0"/>
              <a:ext cx="3539614" cy="1681460"/>
            </a:xfrm>
            <a:custGeom>
              <a:avLst/>
              <a:gdLst/>
              <a:ahLst/>
              <a:cxnLst/>
              <a:rect r="r" b="b" t="t" l="l"/>
              <a:pathLst>
                <a:path h="1681460" w="3539614">
                  <a:moveTo>
                    <a:pt x="0" y="0"/>
                  </a:moveTo>
                  <a:lnTo>
                    <a:pt x="3539614" y="0"/>
                  </a:lnTo>
                  <a:lnTo>
                    <a:pt x="3539614" y="1681460"/>
                  </a:lnTo>
                  <a:lnTo>
                    <a:pt x="0" y="1681460"/>
                  </a:lnTo>
                  <a:close/>
                </a:path>
              </a:pathLst>
            </a:custGeom>
            <a:solidFill>
              <a:srgbClr val="000000">
                <a:alpha val="0"/>
              </a:srgbClr>
            </a:solidFill>
          </p:spPr>
        </p:sp>
        <p:sp>
          <p:nvSpPr>
            <p:cNvPr name="TextBox 48" id="48"/>
            <p:cNvSpPr txBox="true"/>
            <p:nvPr/>
          </p:nvSpPr>
          <p:spPr>
            <a:xfrm>
              <a:off x="0" y="-28575"/>
              <a:ext cx="3539614" cy="1710035"/>
            </a:xfrm>
            <a:prstGeom prst="rect">
              <a:avLst/>
            </a:prstGeom>
          </p:spPr>
          <p:txBody>
            <a:bodyPr anchor="t" rtlCol="false" tIns="0" lIns="0" bIns="0" rIns="0"/>
            <a:lstStyle/>
            <a:p>
              <a:pPr algn="ctr">
                <a:lnSpc>
                  <a:spcPts val="4320"/>
                </a:lnSpc>
              </a:pPr>
              <a:r>
                <a:rPr lang="en-US" sz="3600">
                  <a:solidFill>
                    <a:srgbClr val="FFFFFF">
                      <a:alpha val="33725"/>
                    </a:srgbClr>
                  </a:solidFill>
                  <a:latin typeface="Times New Roman"/>
                  <a:ea typeface="Times New Roman"/>
                  <a:cs typeface="Times New Roman"/>
                  <a:sym typeface="Times New Roman"/>
                </a:rPr>
                <a:t>Proposed Methods</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8" cy="807913"/>
            <a:chOff x="0" y="0"/>
            <a:chExt cx="91438" cy="1077218"/>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3"/>
            <a:chOff x="0" y="0"/>
            <a:chExt cx="1238250" cy="1077218"/>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6" id="6"/>
          <p:cNvGrpSpPr/>
          <p:nvPr/>
        </p:nvGrpSpPr>
        <p:grpSpPr>
          <a:xfrm rot="0">
            <a:off x="1231581" y="542925"/>
            <a:ext cx="9920645" cy="950830"/>
            <a:chOff x="0" y="0"/>
            <a:chExt cx="8531730" cy="817711"/>
          </a:xfrm>
        </p:grpSpPr>
        <p:sp>
          <p:nvSpPr>
            <p:cNvPr name="Freeform 7" id="7"/>
            <p:cNvSpPr/>
            <p:nvPr/>
          </p:nvSpPr>
          <p:spPr>
            <a:xfrm flipH="false" flipV="false" rot="0">
              <a:off x="0" y="0"/>
              <a:ext cx="8531730" cy="817711"/>
            </a:xfrm>
            <a:custGeom>
              <a:avLst/>
              <a:gdLst/>
              <a:ahLst/>
              <a:cxnLst/>
              <a:rect r="r" b="b" t="t" l="l"/>
              <a:pathLst>
                <a:path h="817711" w="8531730">
                  <a:moveTo>
                    <a:pt x="0" y="0"/>
                  </a:moveTo>
                  <a:lnTo>
                    <a:pt x="8531730" y="0"/>
                  </a:lnTo>
                  <a:lnTo>
                    <a:pt x="8531730" y="817711"/>
                  </a:lnTo>
                  <a:lnTo>
                    <a:pt x="0" y="817711"/>
                  </a:lnTo>
                  <a:close/>
                </a:path>
              </a:pathLst>
            </a:custGeom>
            <a:solidFill>
              <a:srgbClr val="000000">
                <a:alpha val="0"/>
              </a:srgbClr>
            </a:solidFill>
          </p:spPr>
        </p:sp>
        <p:sp>
          <p:nvSpPr>
            <p:cNvPr name="TextBox 8" id="8"/>
            <p:cNvSpPr txBox="true"/>
            <p:nvPr/>
          </p:nvSpPr>
          <p:spPr>
            <a:xfrm>
              <a:off x="0" y="-19050"/>
              <a:ext cx="8531730"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Experimental Results</a:t>
              </a:r>
            </a:p>
          </p:txBody>
        </p:sp>
      </p:grpSp>
      <p:sp>
        <p:nvSpPr>
          <p:cNvPr name="Freeform 9" id="9"/>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7761578" y="9713952"/>
            <a:ext cx="1268668" cy="2170263"/>
            <a:chOff x="0" y="0"/>
            <a:chExt cx="431800" cy="738664"/>
          </a:xfrm>
        </p:grpSpPr>
        <p:sp>
          <p:nvSpPr>
            <p:cNvPr name="Freeform 11" id="11"/>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2" id="12"/>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29</a:t>
              </a:r>
            </a:p>
          </p:txBody>
        </p:sp>
      </p:grpSp>
      <p:graphicFrame>
        <p:nvGraphicFramePr>
          <p:cNvPr name="Table 13" id="13"/>
          <p:cNvGraphicFramePr>
            <a:graphicFrameLocks noGrp="true"/>
          </p:cNvGraphicFramePr>
          <p:nvPr/>
        </p:nvGraphicFramePr>
        <p:xfrm>
          <a:off x="591775" y="4089756"/>
          <a:ext cx="16816615" cy="5002276"/>
        </p:xfrm>
        <a:graphic>
          <a:graphicData uri="http://schemas.openxmlformats.org/drawingml/2006/table">
            <a:tbl>
              <a:tblPr/>
              <a:tblGrid>
                <a:gridCol w="4105076"/>
                <a:gridCol w="3177885"/>
                <a:gridCol w="3177885"/>
                <a:gridCol w="3177885"/>
                <a:gridCol w="3177885"/>
              </a:tblGrid>
              <a:tr h="1197118">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Model / Setting</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b="true">
                          <a:solidFill>
                            <a:srgbClr val="FFFFFF"/>
                          </a:solidFill>
                          <a:latin typeface="Times New Roman Bold"/>
                          <a:ea typeface="Times New Roman Bold"/>
                          <a:cs typeface="Times New Roman Bold"/>
                          <a:sym typeface="Times New Roman Bold"/>
                        </a:rPr>
                        <a:t>AUROC</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b="true">
                          <a:solidFill>
                            <a:srgbClr val="FFFFFF"/>
                          </a:solidFill>
                          <a:latin typeface="Times New Roman Bold"/>
                          <a:ea typeface="Times New Roman Bold"/>
                          <a:cs typeface="Times New Roman Bold"/>
                          <a:sym typeface="Times New Roman Bold"/>
                        </a:rPr>
                        <a:t>F1-score</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b="true">
                          <a:solidFill>
                            <a:srgbClr val="FFFFFF"/>
                          </a:solidFill>
                          <a:latin typeface="Times New Roman Bold"/>
                          <a:ea typeface="Times New Roman Bold"/>
                          <a:cs typeface="Times New Roman Bold"/>
                          <a:sym typeface="Times New Roman Bold"/>
                        </a:rPr>
                        <a:t>Precision</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b="true">
                          <a:solidFill>
                            <a:srgbClr val="FFFFFF"/>
                          </a:solidFill>
                          <a:latin typeface="Times New Roman Bold"/>
                          <a:ea typeface="Times New Roman Bold"/>
                          <a:cs typeface="Times New Roman Bold"/>
                          <a:sym typeface="Times New Roman Bold"/>
                        </a:rPr>
                        <a:t>Recall</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r>
              <a:tr h="1197118">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ResNet18 baseline</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0.9889</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0.9419</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0.9455</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0.9383</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r>
              <a:tr h="1197118">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ResNet34 (paper SOTA)</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0.9897</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0.9449</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0.9505</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0.9393</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r>
              <a:tr h="1410921">
                <a:tc>
                  <a:txBody>
                    <a:bodyPr anchor="t" rtlCol="false"/>
                    <a:lstStyle/>
                    <a:p>
                      <a:pPr algn="ctr">
                        <a:lnSpc>
                          <a:spcPts val="3639"/>
                        </a:lnSpc>
                        <a:defRPr/>
                      </a:pPr>
                      <a:r>
                        <a:rPr lang="en-US" sz="2599" b="true">
                          <a:solidFill>
                            <a:srgbClr val="FFC200"/>
                          </a:solidFill>
                          <a:latin typeface="Times New Roman Bold"/>
                          <a:ea typeface="Times New Roman Bold"/>
                          <a:cs typeface="Times New Roman Bold"/>
                          <a:sym typeface="Times New Roman Bold"/>
                        </a:rPr>
                        <a:t>EfficientNetV2-S (ours, raw + color aug)</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b="true">
                          <a:solidFill>
                            <a:srgbClr val="FFC200"/>
                          </a:solidFill>
                          <a:latin typeface="Times New Roman Bold"/>
                          <a:ea typeface="Times New Roman Bold"/>
                          <a:cs typeface="Times New Roman Bold"/>
                          <a:sym typeface="Times New Roman Bold"/>
                        </a:rPr>
                        <a:t>0.9957</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b="true">
                          <a:solidFill>
                            <a:srgbClr val="FFC200"/>
                          </a:solidFill>
                          <a:latin typeface="Times New Roman Bold"/>
                          <a:ea typeface="Times New Roman Bold"/>
                          <a:cs typeface="Times New Roman Bold"/>
                          <a:sym typeface="Times New Roman Bold"/>
                        </a:rPr>
                        <a:t>0.9694</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b="true">
                          <a:solidFill>
                            <a:srgbClr val="FFC200"/>
                          </a:solidFill>
                          <a:latin typeface="Times New Roman Bold"/>
                          <a:ea typeface="Times New Roman Bold"/>
                          <a:cs typeface="Times New Roman Bold"/>
                          <a:sym typeface="Times New Roman Bold"/>
                        </a:rPr>
                        <a:t>0.9710</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b="true">
                          <a:solidFill>
                            <a:srgbClr val="FFC200"/>
                          </a:solidFill>
                          <a:latin typeface="Times New Roman Bold"/>
                          <a:ea typeface="Times New Roman Bold"/>
                          <a:cs typeface="Times New Roman Bold"/>
                          <a:sym typeface="Times New Roman Bold"/>
                        </a:rPr>
                        <a:t>0.9678</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r>
            </a:tbl>
          </a:graphicData>
        </a:graphic>
      </p:graphicFrame>
      <p:sp>
        <p:nvSpPr>
          <p:cNvPr name="Freeform 14" id="14"/>
          <p:cNvSpPr/>
          <p:nvPr/>
        </p:nvSpPr>
        <p:spPr>
          <a:xfrm flipH="false" flipV="false" rot="0">
            <a:off x="-153018" y="7347275"/>
            <a:ext cx="1489586" cy="1744756"/>
          </a:xfrm>
          <a:custGeom>
            <a:avLst/>
            <a:gdLst/>
            <a:ahLst/>
            <a:cxnLst/>
            <a:rect r="r" b="b" t="t" l="l"/>
            <a:pathLst>
              <a:path h="1744756" w="1489586">
                <a:moveTo>
                  <a:pt x="0" y="0"/>
                </a:moveTo>
                <a:lnTo>
                  <a:pt x="1489585" y="0"/>
                </a:lnTo>
                <a:lnTo>
                  <a:pt x="1489585" y="1744756"/>
                </a:lnTo>
                <a:lnTo>
                  <a:pt x="0" y="1744756"/>
                </a:lnTo>
                <a:lnTo>
                  <a:pt x="0" y="0"/>
                </a:lnTo>
                <a:close/>
              </a:path>
            </a:pathLst>
          </a:custGeom>
          <a:blipFill>
            <a:blip r:embed="rId5"/>
            <a:stretch>
              <a:fillRect l="0" t="0" r="0" b="0"/>
            </a:stretch>
          </a:blipFill>
        </p:spPr>
      </p:sp>
      <p:sp>
        <p:nvSpPr>
          <p:cNvPr name="TextBox 15" id="15"/>
          <p:cNvSpPr txBox="true"/>
          <p:nvPr/>
        </p:nvSpPr>
        <p:spPr>
          <a:xfrm rot="0">
            <a:off x="344164" y="2214146"/>
            <a:ext cx="16186334" cy="1695450"/>
          </a:xfrm>
          <a:prstGeom prst="rect">
            <a:avLst/>
          </a:prstGeom>
        </p:spPr>
        <p:txBody>
          <a:bodyPr anchor="t" rtlCol="false" tIns="0" lIns="0" bIns="0" rIns="0">
            <a:spAutoFit/>
          </a:bodyPr>
          <a:lstStyle/>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R</a:t>
            </a:r>
            <a:r>
              <a:rPr lang="en-US" b="true" sz="2798">
                <a:solidFill>
                  <a:srgbClr val="FFFFFF"/>
                </a:solidFill>
                <a:latin typeface="Times New Roman Bold"/>
                <a:ea typeface="Times New Roman Bold"/>
                <a:cs typeface="Times New Roman Bold"/>
                <a:sym typeface="Times New Roman Bold"/>
              </a:rPr>
              <a:t>e-implemented paper baseline (ResNet18) and SOTA (ResNet34) on our stratified 70/15/15 split</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Our EfficientNetV2-S achieves the best AUROC and F1-score</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Recall improves fr</a:t>
            </a:r>
            <a:r>
              <a:rPr lang="en-US" b="true" sz="2798">
                <a:solidFill>
                  <a:srgbClr val="FFFFFF"/>
                </a:solidFill>
                <a:latin typeface="Times New Roman Bold"/>
                <a:ea typeface="Times New Roman Bold"/>
                <a:cs typeface="Times New Roman Bold"/>
                <a:sym typeface="Times New Roman Bold"/>
              </a:rPr>
              <a:t>om ≈0.94 to 0.97, which is crucial for not missing metastatic patches</a:t>
            </a:r>
          </a:p>
          <a:p>
            <a:pPr algn="l">
              <a:lnSpc>
                <a:spcPts val="3358"/>
              </a:lnSpc>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8" cy="807913"/>
            <a:chOff x="0" y="0"/>
            <a:chExt cx="91438" cy="1077218"/>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3"/>
            <a:chOff x="0" y="0"/>
            <a:chExt cx="1238250" cy="1077218"/>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6" id="6"/>
          <p:cNvGrpSpPr/>
          <p:nvPr/>
        </p:nvGrpSpPr>
        <p:grpSpPr>
          <a:xfrm rot="0">
            <a:off x="1231581" y="542925"/>
            <a:ext cx="16968147" cy="950830"/>
            <a:chOff x="0" y="0"/>
            <a:chExt cx="14592564" cy="817711"/>
          </a:xfrm>
        </p:grpSpPr>
        <p:sp>
          <p:nvSpPr>
            <p:cNvPr name="Freeform 7" id="7"/>
            <p:cNvSpPr/>
            <p:nvPr/>
          </p:nvSpPr>
          <p:spPr>
            <a:xfrm flipH="false" flipV="false" rot="0">
              <a:off x="0" y="0"/>
              <a:ext cx="14592565" cy="817711"/>
            </a:xfrm>
            <a:custGeom>
              <a:avLst/>
              <a:gdLst/>
              <a:ahLst/>
              <a:cxnLst/>
              <a:rect r="r" b="b" t="t" l="l"/>
              <a:pathLst>
                <a:path h="817711" w="14592565">
                  <a:moveTo>
                    <a:pt x="0" y="0"/>
                  </a:moveTo>
                  <a:lnTo>
                    <a:pt x="14592565" y="0"/>
                  </a:lnTo>
                  <a:lnTo>
                    <a:pt x="14592565" y="817711"/>
                  </a:lnTo>
                  <a:lnTo>
                    <a:pt x="0" y="817711"/>
                  </a:lnTo>
                  <a:close/>
                </a:path>
              </a:pathLst>
            </a:custGeom>
            <a:solidFill>
              <a:srgbClr val="000000">
                <a:alpha val="0"/>
              </a:srgbClr>
            </a:solidFill>
          </p:spPr>
        </p:sp>
        <p:sp>
          <p:nvSpPr>
            <p:cNvPr name="TextBox 8" id="8"/>
            <p:cNvSpPr txBox="true"/>
            <p:nvPr/>
          </p:nvSpPr>
          <p:spPr>
            <a:xfrm>
              <a:off x="0" y="-19050"/>
              <a:ext cx="14592564"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Ablation Study – Stain Normalization × Color Augmentation</a:t>
              </a:r>
            </a:p>
          </p:txBody>
        </p:sp>
      </p:grpSp>
      <p:sp>
        <p:nvSpPr>
          <p:cNvPr name="Freeform 9" id="9"/>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7761578" y="9713952"/>
            <a:ext cx="1268668" cy="2170263"/>
            <a:chOff x="0" y="0"/>
            <a:chExt cx="431800" cy="738664"/>
          </a:xfrm>
        </p:grpSpPr>
        <p:sp>
          <p:nvSpPr>
            <p:cNvPr name="Freeform 11" id="11"/>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2" id="12"/>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30</a:t>
              </a:r>
            </a:p>
          </p:txBody>
        </p:sp>
      </p:grpSp>
      <p:graphicFrame>
        <p:nvGraphicFramePr>
          <p:cNvPr name="Table 13" id="13"/>
          <p:cNvGraphicFramePr>
            <a:graphicFrameLocks noGrp="true"/>
          </p:cNvGraphicFramePr>
          <p:nvPr/>
        </p:nvGraphicFramePr>
        <p:xfrm>
          <a:off x="591775" y="4089756"/>
          <a:ext cx="16816615" cy="3602101"/>
        </p:xfrm>
        <a:graphic>
          <a:graphicData uri="http://schemas.openxmlformats.org/drawingml/2006/table">
            <a:tbl>
              <a:tblPr/>
              <a:tblGrid>
                <a:gridCol w="6599225"/>
                <a:gridCol w="5108695"/>
                <a:gridCol w="5108695"/>
              </a:tblGrid>
              <a:tr h="1200700">
                <a:tc>
                  <a:txBody>
                    <a:bodyPr anchor="t" rtlCol="false"/>
                    <a:lstStyle/>
                    <a:p>
                      <a:pPr algn="ctr">
                        <a:lnSpc>
                          <a:spcPts val="3639"/>
                        </a:lnSpc>
                        <a:defRPr/>
                      </a:pP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b="true">
                          <a:solidFill>
                            <a:srgbClr val="FFFFFF"/>
                          </a:solidFill>
                          <a:latin typeface="Times New Roman Bold"/>
                          <a:ea typeface="Times New Roman Bold"/>
                          <a:cs typeface="Times New Roman Bold"/>
                          <a:sym typeface="Times New Roman Bold"/>
                        </a:rPr>
                        <a:t>Color aug OFF</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b="true">
                          <a:solidFill>
                            <a:srgbClr val="FFFFFF"/>
                          </a:solidFill>
                          <a:latin typeface="Times New Roman Bold"/>
                          <a:ea typeface="Times New Roman Bold"/>
                          <a:cs typeface="Times New Roman Bold"/>
                          <a:sym typeface="Times New Roman Bold"/>
                        </a:rPr>
                        <a:t>Color aug ON</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r>
              <a:tr h="1200700">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Raw HCD</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AUROC 0.9955, F1 0.9676</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b="true">
                          <a:solidFill>
                            <a:srgbClr val="FFC200"/>
                          </a:solidFill>
                          <a:latin typeface="Times New Roman Bold"/>
                          <a:ea typeface="Times New Roman Bold"/>
                          <a:cs typeface="Times New Roman Bold"/>
                          <a:sym typeface="Times New Roman Bold"/>
                        </a:rPr>
                        <a:t>AUROC 0.9957, F1 0.9694</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r>
              <a:tr h="1200700">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Macenko</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AUROC 0.9854, F1 0.9346</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AUROC </a:t>
                      </a:r>
                      <a:r>
                        <a:rPr lang="en-US" sz="2599">
                          <a:solidFill>
                            <a:srgbClr val="FFFFFF"/>
                          </a:solidFill>
                          <a:latin typeface="Times New Roman"/>
                          <a:ea typeface="Times New Roman"/>
                          <a:cs typeface="Times New Roman"/>
                          <a:sym typeface="Times New Roman"/>
                        </a:rPr>
                        <a:t>0.9855, F1 0.9342</a:t>
                      </a:r>
                      <a:endParaRPr lang="en-US" sz="1100"/>
                    </a:p>
                  </a:txBody>
                  <a:tcPr marL="190500" marR="190500" marT="190500" marB="190500" anchor="ctr">
                    <a:lnL cmpd="sng" algn="ctr" cap="flat" w="38100">
                      <a:solidFill>
                        <a:srgbClr val="F7B902"/>
                      </a:solidFill>
                      <a:prstDash val="solid"/>
                      <a:round/>
                      <a:headEnd type="none" w="med" len="med"/>
                      <a:tailEnd type="none" w="med" len="med"/>
                    </a:lnL>
                    <a:lnR cmpd="sng" algn="ctr" cap="flat" w="38100">
                      <a:solidFill>
                        <a:srgbClr val="F7B902"/>
                      </a:solidFill>
                      <a:prstDash val="solid"/>
                      <a:round/>
                      <a:headEnd type="none" w="med" len="med"/>
                      <a:tailEnd type="none" w="med" len="med"/>
                    </a:lnR>
                    <a:lnT cmpd="sng" algn="ctr" cap="flat" w="38100">
                      <a:solidFill>
                        <a:srgbClr val="F7B902"/>
                      </a:solidFill>
                      <a:prstDash val="solid"/>
                      <a:round/>
                      <a:headEnd type="none" w="med" len="med"/>
                      <a:tailEnd type="none" w="med" len="med"/>
                    </a:lnT>
                    <a:lnB cmpd="sng" algn="ctr" cap="flat" w="38100">
                      <a:solidFill>
                        <a:srgbClr val="F7B902"/>
                      </a:solidFill>
                      <a:prstDash val="solid"/>
                      <a:round/>
                      <a:headEnd type="none" w="med" len="med"/>
                      <a:tailEnd type="none" w="med" len="med"/>
                    </a:lnB>
                  </a:tcPr>
                </a:tc>
              </a:tr>
            </a:tbl>
          </a:graphicData>
        </a:graphic>
      </p:graphicFrame>
      <p:sp>
        <p:nvSpPr>
          <p:cNvPr name="TextBox 14" id="14"/>
          <p:cNvSpPr txBox="true"/>
          <p:nvPr/>
        </p:nvSpPr>
        <p:spPr>
          <a:xfrm rot="0">
            <a:off x="344164" y="2214146"/>
            <a:ext cx="16186334" cy="1695450"/>
          </a:xfrm>
          <a:prstGeom prst="rect">
            <a:avLst/>
          </a:prstGeom>
        </p:spPr>
        <p:txBody>
          <a:bodyPr anchor="t" rtlCol="false" tIns="0" lIns="0" bIns="0" rIns="0">
            <a:spAutoFit/>
          </a:bodyPr>
          <a:lstStyle/>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Co</a:t>
            </a:r>
            <a:r>
              <a:rPr lang="en-US" b="true" sz="2798">
                <a:solidFill>
                  <a:srgbClr val="FFFFFF"/>
                </a:solidFill>
                <a:latin typeface="Times New Roman Bold"/>
                <a:ea typeface="Times New Roman Bold"/>
                <a:cs typeface="Times New Roman Bold"/>
                <a:sym typeface="Times New Roman Bold"/>
              </a:rPr>
              <a:t>lor augmentation slightly improves F1 on raw HCD patches</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Macenko stain normalization consistently underperfor</a:t>
            </a:r>
            <a:r>
              <a:rPr lang="en-US" b="true" sz="2798">
                <a:solidFill>
                  <a:srgbClr val="FFFFFF"/>
                </a:solidFill>
                <a:latin typeface="Times New Roman Bold"/>
                <a:ea typeface="Times New Roman Bold"/>
                <a:cs typeface="Times New Roman Bold"/>
                <a:sym typeface="Times New Roman Bold"/>
              </a:rPr>
              <a:t>ms raw HCD in this setting</a:t>
            </a:r>
          </a:p>
          <a:p>
            <a:pPr algn="l" marL="604302" indent="-302151" lvl="1">
              <a:lnSpc>
                <a:spcPts val="3358"/>
              </a:lnSpc>
              <a:buFont typeface="Arial"/>
              <a:buChar char="•"/>
            </a:pPr>
            <a:r>
              <a:rPr lang="en-US" b="true" sz="2798">
                <a:solidFill>
                  <a:srgbClr val="FFFFFF"/>
                </a:solidFill>
                <a:latin typeface="Times New Roman Bold"/>
                <a:ea typeface="Times New Roman Bold"/>
                <a:cs typeface="Times New Roman Bold"/>
                <a:sym typeface="Times New Roman Bold"/>
              </a:rPr>
              <a:t>Gentle color augmentation on Macenko cannot close the gap to raw HCD</a:t>
            </a:r>
          </a:p>
          <a:p>
            <a:pPr algn="l">
              <a:lnSpc>
                <a:spcPts val="3358"/>
              </a:lnSpc>
            </a:pPr>
          </a:p>
        </p:txBody>
      </p:sp>
      <p:sp>
        <p:nvSpPr>
          <p:cNvPr name="Freeform 15" id="15"/>
          <p:cNvSpPr/>
          <p:nvPr/>
        </p:nvSpPr>
        <p:spPr>
          <a:xfrm flipH="false" flipV="false" rot="0">
            <a:off x="16514507" y="4023896"/>
            <a:ext cx="1489586" cy="1744756"/>
          </a:xfrm>
          <a:custGeom>
            <a:avLst/>
            <a:gdLst/>
            <a:ahLst/>
            <a:cxnLst/>
            <a:rect r="r" b="b" t="t" l="l"/>
            <a:pathLst>
              <a:path h="1744756" w="1489586">
                <a:moveTo>
                  <a:pt x="0" y="0"/>
                </a:moveTo>
                <a:lnTo>
                  <a:pt x="1489586" y="0"/>
                </a:lnTo>
                <a:lnTo>
                  <a:pt x="1489586" y="1744757"/>
                </a:lnTo>
                <a:lnTo>
                  <a:pt x="0" y="1744757"/>
                </a:lnTo>
                <a:lnTo>
                  <a:pt x="0" y="0"/>
                </a:lnTo>
                <a:close/>
              </a:path>
            </a:pathLst>
          </a:custGeom>
          <a:blipFill>
            <a:blip r:embed="rId5"/>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8" cy="807913"/>
            <a:chOff x="0" y="0"/>
            <a:chExt cx="91438" cy="1077218"/>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3"/>
            <a:chOff x="0" y="0"/>
            <a:chExt cx="1238250" cy="1077218"/>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6" id="6"/>
          <p:cNvGrpSpPr/>
          <p:nvPr/>
        </p:nvGrpSpPr>
        <p:grpSpPr>
          <a:xfrm rot="0">
            <a:off x="1231581" y="542925"/>
            <a:ext cx="16968147" cy="950830"/>
            <a:chOff x="0" y="0"/>
            <a:chExt cx="14592564" cy="817711"/>
          </a:xfrm>
        </p:grpSpPr>
        <p:sp>
          <p:nvSpPr>
            <p:cNvPr name="Freeform 7" id="7"/>
            <p:cNvSpPr/>
            <p:nvPr/>
          </p:nvSpPr>
          <p:spPr>
            <a:xfrm flipH="false" flipV="false" rot="0">
              <a:off x="0" y="0"/>
              <a:ext cx="14592565" cy="817711"/>
            </a:xfrm>
            <a:custGeom>
              <a:avLst/>
              <a:gdLst/>
              <a:ahLst/>
              <a:cxnLst/>
              <a:rect r="r" b="b" t="t" l="l"/>
              <a:pathLst>
                <a:path h="817711" w="14592565">
                  <a:moveTo>
                    <a:pt x="0" y="0"/>
                  </a:moveTo>
                  <a:lnTo>
                    <a:pt x="14592565" y="0"/>
                  </a:lnTo>
                  <a:lnTo>
                    <a:pt x="14592565" y="817711"/>
                  </a:lnTo>
                  <a:lnTo>
                    <a:pt x="0" y="817711"/>
                  </a:lnTo>
                  <a:close/>
                </a:path>
              </a:pathLst>
            </a:custGeom>
            <a:solidFill>
              <a:srgbClr val="000000">
                <a:alpha val="0"/>
              </a:srgbClr>
            </a:solidFill>
          </p:spPr>
        </p:sp>
        <p:sp>
          <p:nvSpPr>
            <p:cNvPr name="TextBox 8" id="8"/>
            <p:cNvSpPr txBox="true"/>
            <p:nvPr/>
          </p:nvSpPr>
          <p:spPr>
            <a:xfrm>
              <a:off x="0" y="-19050"/>
              <a:ext cx="14592564"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Conclusion, Insights &amp; Limitations</a:t>
              </a:r>
            </a:p>
          </p:txBody>
        </p:sp>
      </p:grpSp>
      <p:sp>
        <p:nvSpPr>
          <p:cNvPr name="Freeform 9" id="9"/>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7761578" y="9713952"/>
            <a:ext cx="1268668" cy="2170263"/>
            <a:chOff x="0" y="0"/>
            <a:chExt cx="431800" cy="738664"/>
          </a:xfrm>
        </p:grpSpPr>
        <p:sp>
          <p:nvSpPr>
            <p:cNvPr name="Freeform 11" id="11"/>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2" id="12"/>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31</a:t>
              </a:r>
            </a:p>
          </p:txBody>
        </p:sp>
      </p:grpSp>
      <p:sp>
        <p:nvSpPr>
          <p:cNvPr name="Freeform 13" id="13"/>
          <p:cNvSpPr/>
          <p:nvPr/>
        </p:nvSpPr>
        <p:spPr>
          <a:xfrm flipH="false" flipV="false" rot="0">
            <a:off x="68578" y="2552700"/>
            <a:ext cx="3429000" cy="4114800"/>
          </a:xfrm>
          <a:custGeom>
            <a:avLst/>
            <a:gdLst/>
            <a:ahLst/>
            <a:cxnLst/>
            <a:rect r="r" b="b" t="t" l="l"/>
            <a:pathLst>
              <a:path h="4114800" w="3429000">
                <a:moveTo>
                  <a:pt x="0" y="0"/>
                </a:moveTo>
                <a:lnTo>
                  <a:pt x="3429000" y="0"/>
                </a:lnTo>
                <a:lnTo>
                  <a:pt x="34290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34289" y="2552700"/>
            <a:ext cx="18361623" cy="5829300"/>
            <a:chOff x="0" y="0"/>
            <a:chExt cx="24482164" cy="7772400"/>
          </a:xfrm>
        </p:grpSpPr>
        <p:sp>
          <p:nvSpPr>
            <p:cNvPr name="Freeform 15" id="15"/>
            <p:cNvSpPr/>
            <p:nvPr/>
          </p:nvSpPr>
          <p:spPr>
            <a:xfrm flipH="false" flipV="false" rot="0">
              <a:off x="0" y="0"/>
              <a:ext cx="24482163" cy="7772400"/>
            </a:xfrm>
            <a:custGeom>
              <a:avLst/>
              <a:gdLst/>
              <a:ahLst/>
              <a:cxnLst/>
              <a:rect r="r" b="b" t="t" l="l"/>
              <a:pathLst>
                <a:path h="7772400" w="24482163">
                  <a:moveTo>
                    <a:pt x="0" y="0"/>
                  </a:moveTo>
                  <a:lnTo>
                    <a:pt x="24482163" y="0"/>
                  </a:lnTo>
                  <a:lnTo>
                    <a:pt x="24482163" y="7772400"/>
                  </a:lnTo>
                  <a:lnTo>
                    <a:pt x="0" y="7772400"/>
                  </a:lnTo>
                  <a:close/>
                </a:path>
              </a:pathLst>
            </a:custGeom>
            <a:solidFill>
              <a:srgbClr val="F7B902"/>
            </a:solidFill>
          </p:spPr>
        </p:sp>
      </p:grpSp>
      <p:sp>
        <p:nvSpPr>
          <p:cNvPr name="Freeform 16" id="16"/>
          <p:cNvSpPr/>
          <p:nvPr/>
        </p:nvSpPr>
        <p:spPr>
          <a:xfrm flipH="false" flipV="false" rot="0">
            <a:off x="101362" y="2552700"/>
            <a:ext cx="2829860" cy="5829300"/>
          </a:xfrm>
          <a:custGeom>
            <a:avLst/>
            <a:gdLst/>
            <a:ahLst/>
            <a:cxnLst/>
            <a:rect r="r" b="b" t="t" l="l"/>
            <a:pathLst>
              <a:path h="5829300" w="2829860">
                <a:moveTo>
                  <a:pt x="0" y="0"/>
                </a:moveTo>
                <a:lnTo>
                  <a:pt x="2829860" y="0"/>
                </a:lnTo>
                <a:lnTo>
                  <a:pt x="2829860" y="5829300"/>
                </a:lnTo>
                <a:lnTo>
                  <a:pt x="0" y="58293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7" id="17"/>
          <p:cNvSpPr txBox="true"/>
          <p:nvPr/>
        </p:nvSpPr>
        <p:spPr>
          <a:xfrm rot="0">
            <a:off x="3671141" y="4581525"/>
            <a:ext cx="14616859" cy="2962275"/>
          </a:xfrm>
          <a:prstGeom prst="rect">
            <a:avLst/>
          </a:prstGeom>
        </p:spPr>
        <p:txBody>
          <a:bodyPr anchor="t" rtlCol="false" tIns="0" lIns="0" bIns="0" rIns="0">
            <a:spAutoFit/>
          </a:bodyPr>
          <a:lstStyle/>
          <a:p>
            <a:pPr algn="l" marL="595314" indent="-297657" lvl="1">
              <a:lnSpc>
                <a:spcPts val="3308"/>
              </a:lnSpc>
              <a:buFont typeface="Arial"/>
              <a:buChar char="•"/>
            </a:pPr>
            <a:r>
              <a:rPr lang="en-US" b="true" sz="2757">
                <a:solidFill>
                  <a:srgbClr val="FFFFFF"/>
                </a:solidFill>
                <a:latin typeface="Times New Roman Bold"/>
                <a:ea typeface="Times New Roman Bold"/>
                <a:cs typeface="Times New Roman Bold"/>
                <a:sym typeface="Times New Roman Bold"/>
              </a:rPr>
              <a:t>Raw H&amp;E + color augmentation gives the best patch-level performance</a:t>
            </a:r>
          </a:p>
          <a:p>
            <a:pPr algn="l">
              <a:lnSpc>
                <a:spcPts val="3308"/>
              </a:lnSpc>
            </a:pPr>
          </a:p>
          <a:p>
            <a:pPr algn="l" marL="595314" indent="-297657" lvl="1">
              <a:lnSpc>
                <a:spcPts val="3308"/>
              </a:lnSpc>
              <a:buFont typeface="Arial"/>
              <a:buChar char="•"/>
            </a:pPr>
            <a:r>
              <a:rPr lang="en-US" b="true" sz="2757">
                <a:solidFill>
                  <a:srgbClr val="FFFFFF"/>
                </a:solidFill>
                <a:latin typeface="Times New Roman Bold"/>
                <a:ea typeface="Times New Roman Bold"/>
                <a:cs typeface="Times New Roman Bold"/>
                <a:sym typeface="Times New Roman Bold"/>
              </a:rPr>
              <a:t>Macenko stain normalization slightly degrades performance, suggesting that it may remove useful stain variation</a:t>
            </a:r>
          </a:p>
          <a:p>
            <a:pPr algn="l">
              <a:lnSpc>
                <a:spcPts val="3308"/>
              </a:lnSpc>
            </a:pPr>
          </a:p>
          <a:p>
            <a:pPr algn="l" marL="595314" indent="-297657" lvl="1">
              <a:lnSpc>
                <a:spcPts val="3308"/>
              </a:lnSpc>
              <a:buFont typeface="Arial"/>
              <a:buChar char="•"/>
            </a:pPr>
            <a:r>
              <a:rPr lang="en-US" b="true" sz="2757">
                <a:solidFill>
                  <a:srgbClr val="FFFFFF"/>
                </a:solidFill>
                <a:latin typeface="Times New Roman Bold"/>
                <a:ea typeface="Times New Roman Bold"/>
                <a:cs typeface="Times New Roman Bold"/>
                <a:sym typeface="Times New Roman Bold"/>
              </a:rPr>
              <a:t>Modern backbone (EfficientNetV2-S) clearly outperforms ResNet18/34 baselines on the same stratified split and is deployed as a web assistant with Grad-CAM &amp; AI explanation</a:t>
            </a:r>
          </a:p>
        </p:txBody>
      </p:sp>
      <p:sp>
        <p:nvSpPr>
          <p:cNvPr name="TextBox 18" id="18"/>
          <p:cNvSpPr txBox="true"/>
          <p:nvPr/>
        </p:nvSpPr>
        <p:spPr>
          <a:xfrm rot="0">
            <a:off x="3497578" y="3351327"/>
            <a:ext cx="4371022" cy="466725"/>
          </a:xfrm>
          <a:prstGeom prst="rect">
            <a:avLst/>
          </a:prstGeom>
        </p:spPr>
        <p:txBody>
          <a:bodyPr anchor="t" rtlCol="false" tIns="0" lIns="0" bIns="0" rIns="0">
            <a:spAutoFit/>
          </a:bodyPr>
          <a:lstStyle/>
          <a:p>
            <a:pPr algn="ctr">
              <a:lnSpc>
                <a:spcPts val="3599"/>
              </a:lnSpc>
              <a:spcBef>
                <a:spcPct val="0"/>
              </a:spcBef>
            </a:pPr>
            <a:r>
              <a:rPr lang="en-US" b="true" sz="2999">
                <a:solidFill>
                  <a:srgbClr val="FFFFFF"/>
                </a:solidFill>
                <a:latin typeface="Times New Roman Bold"/>
                <a:ea typeface="Times New Roman Bold"/>
                <a:cs typeface="Times New Roman Bold"/>
                <a:sym typeface="Times New Roman Bold"/>
              </a:rPr>
              <a:t>Key Insights &amp; Conclusion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0" y="619125"/>
            <a:ext cx="68578" cy="807913"/>
            <a:chOff x="0" y="0"/>
            <a:chExt cx="91438" cy="1077218"/>
          </a:xfrm>
        </p:grpSpPr>
        <p:sp>
          <p:nvSpPr>
            <p:cNvPr name="Freeform 3" id="3"/>
            <p:cNvSpPr/>
            <p:nvPr/>
          </p:nvSpPr>
          <p:spPr>
            <a:xfrm flipH="false" flipV="false" rot="0">
              <a:off x="0" y="0"/>
              <a:ext cx="91440" cy="1077214"/>
            </a:xfrm>
            <a:custGeom>
              <a:avLst/>
              <a:gdLst/>
              <a:ahLst/>
              <a:cxnLst/>
              <a:rect r="r" b="b" t="t" l="l"/>
              <a:pathLst>
                <a:path h="1077214" w="91440">
                  <a:moveTo>
                    <a:pt x="0" y="0"/>
                  </a:moveTo>
                  <a:lnTo>
                    <a:pt x="91440" y="0"/>
                  </a:lnTo>
                  <a:lnTo>
                    <a:pt x="91440" y="1077214"/>
                  </a:lnTo>
                  <a:lnTo>
                    <a:pt x="0" y="1077214"/>
                  </a:lnTo>
                  <a:close/>
                </a:path>
              </a:pathLst>
            </a:custGeom>
            <a:solidFill>
              <a:srgbClr val="F7B902"/>
            </a:solidFill>
          </p:spPr>
        </p:sp>
      </p:grpSp>
      <p:grpSp>
        <p:nvGrpSpPr>
          <p:cNvPr name="Group 4" id="4"/>
          <p:cNvGrpSpPr/>
          <p:nvPr/>
        </p:nvGrpSpPr>
        <p:grpSpPr>
          <a:xfrm rot="0">
            <a:off x="171448" y="619125"/>
            <a:ext cx="928688" cy="807913"/>
            <a:chOff x="0" y="0"/>
            <a:chExt cx="1238250" cy="1077218"/>
          </a:xfrm>
        </p:grpSpPr>
        <p:sp>
          <p:nvSpPr>
            <p:cNvPr name="Freeform 5" id="5"/>
            <p:cNvSpPr/>
            <p:nvPr/>
          </p:nvSpPr>
          <p:spPr>
            <a:xfrm flipH="false" flipV="false" rot="0">
              <a:off x="0" y="0"/>
              <a:ext cx="1238250" cy="1077214"/>
            </a:xfrm>
            <a:custGeom>
              <a:avLst/>
              <a:gdLst/>
              <a:ahLst/>
              <a:cxnLst/>
              <a:rect r="r" b="b" t="t" l="l"/>
              <a:pathLst>
                <a:path h="1077214" w="1238250">
                  <a:moveTo>
                    <a:pt x="0" y="0"/>
                  </a:moveTo>
                  <a:lnTo>
                    <a:pt x="1238250" y="0"/>
                  </a:lnTo>
                  <a:lnTo>
                    <a:pt x="1238250" y="1077214"/>
                  </a:lnTo>
                  <a:lnTo>
                    <a:pt x="0" y="1077214"/>
                  </a:lnTo>
                  <a:close/>
                </a:path>
              </a:pathLst>
            </a:custGeom>
            <a:solidFill>
              <a:srgbClr val="F7B902"/>
            </a:solidFill>
          </p:spPr>
        </p:sp>
      </p:grpSp>
      <p:grpSp>
        <p:nvGrpSpPr>
          <p:cNvPr name="Group 6" id="6"/>
          <p:cNvGrpSpPr/>
          <p:nvPr/>
        </p:nvGrpSpPr>
        <p:grpSpPr>
          <a:xfrm rot="0">
            <a:off x="1231581" y="542925"/>
            <a:ext cx="16968147" cy="950830"/>
            <a:chOff x="0" y="0"/>
            <a:chExt cx="14592564" cy="817711"/>
          </a:xfrm>
        </p:grpSpPr>
        <p:sp>
          <p:nvSpPr>
            <p:cNvPr name="Freeform 7" id="7"/>
            <p:cNvSpPr/>
            <p:nvPr/>
          </p:nvSpPr>
          <p:spPr>
            <a:xfrm flipH="false" flipV="false" rot="0">
              <a:off x="0" y="0"/>
              <a:ext cx="14592565" cy="817711"/>
            </a:xfrm>
            <a:custGeom>
              <a:avLst/>
              <a:gdLst/>
              <a:ahLst/>
              <a:cxnLst/>
              <a:rect r="r" b="b" t="t" l="l"/>
              <a:pathLst>
                <a:path h="817711" w="14592565">
                  <a:moveTo>
                    <a:pt x="0" y="0"/>
                  </a:moveTo>
                  <a:lnTo>
                    <a:pt x="14592565" y="0"/>
                  </a:lnTo>
                  <a:lnTo>
                    <a:pt x="14592565" y="817711"/>
                  </a:lnTo>
                  <a:lnTo>
                    <a:pt x="0" y="817711"/>
                  </a:lnTo>
                  <a:close/>
                </a:path>
              </a:pathLst>
            </a:custGeom>
            <a:solidFill>
              <a:srgbClr val="000000">
                <a:alpha val="0"/>
              </a:srgbClr>
            </a:solidFill>
          </p:spPr>
        </p:sp>
        <p:sp>
          <p:nvSpPr>
            <p:cNvPr name="TextBox 8" id="8"/>
            <p:cNvSpPr txBox="true"/>
            <p:nvPr/>
          </p:nvSpPr>
          <p:spPr>
            <a:xfrm>
              <a:off x="0" y="-19050"/>
              <a:ext cx="14592564" cy="836761"/>
            </a:xfrm>
            <a:prstGeom prst="rect">
              <a:avLst/>
            </a:prstGeom>
          </p:spPr>
          <p:txBody>
            <a:bodyPr anchor="t" rtlCol="false" tIns="0" lIns="0" bIns="0" rIns="0"/>
            <a:lstStyle/>
            <a:p>
              <a:pPr algn="l">
                <a:lnSpc>
                  <a:spcPts val="5399"/>
                </a:lnSpc>
              </a:pPr>
              <a:r>
                <a:rPr lang="en-US" sz="4499" b="true">
                  <a:solidFill>
                    <a:srgbClr val="FFFFFF"/>
                  </a:solidFill>
                  <a:latin typeface="Times New Roman Bold"/>
                  <a:ea typeface="Times New Roman Bold"/>
                  <a:cs typeface="Times New Roman Bold"/>
                  <a:sym typeface="Times New Roman Bold"/>
                </a:rPr>
                <a:t>Conclusion, Insights &amp; Limitations</a:t>
              </a:r>
            </a:p>
          </p:txBody>
        </p:sp>
      </p:grpSp>
      <p:sp>
        <p:nvSpPr>
          <p:cNvPr name="Freeform 9" id="9"/>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7761578" y="9713952"/>
            <a:ext cx="1268668" cy="2170263"/>
            <a:chOff x="0" y="0"/>
            <a:chExt cx="431800" cy="738664"/>
          </a:xfrm>
        </p:grpSpPr>
        <p:sp>
          <p:nvSpPr>
            <p:cNvPr name="Freeform 11" id="11"/>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2" id="12"/>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32</a:t>
              </a:r>
            </a:p>
          </p:txBody>
        </p:sp>
      </p:grpSp>
      <p:sp>
        <p:nvSpPr>
          <p:cNvPr name="Freeform 13" id="13"/>
          <p:cNvSpPr/>
          <p:nvPr/>
        </p:nvSpPr>
        <p:spPr>
          <a:xfrm flipH="false" flipV="false" rot="0">
            <a:off x="68578" y="2552700"/>
            <a:ext cx="3429000" cy="4114800"/>
          </a:xfrm>
          <a:custGeom>
            <a:avLst/>
            <a:gdLst/>
            <a:ahLst/>
            <a:cxnLst/>
            <a:rect r="r" b="b" t="t" l="l"/>
            <a:pathLst>
              <a:path h="4114800" w="3429000">
                <a:moveTo>
                  <a:pt x="0" y="0"/>
                </a:moveTo>
                <a:lnTo>
                  <a:pt x="3429000" y="0"/>
                </a:lnTo>
                <a:lnTo>
                  <a:pt x="34290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34289" y="2552700"/>
            <a:ext cx="18361623" cy="5829300"/>
            <a:chOff x="0" y="0"/>
            <a:chExt cx="24482164" cy="7772400"/>
          </a:xfrm>
        </p:grpSpPr>
        <p:sp>
          <p:nvSpPr>
            <p:cNvPr name="Freeform 15" id="15"/>
            <p:cNvSpPr/>
            <p:nvPr/>
          </p:nvSpPr>
          <p:spPr>
            <a:xfrm flipH="false" flipV="false" rot="0">
              <a:off x="0" y="0"/>
              <a:ext cx="24482163" cy="7772400"/>
            </a:xfrm>
            <a:custGeom>
              <a:avLst/>
              <a:gdLst/>
              <a:ahLst/>
              <a:cxnLst/>
              <a:rect r="r" b="b" t="t" l="l"/>
              <a:pathLst>
                <a:path h="7772400" w="24482163">
                  <a:moveTo>
                    <a:pt x="0" y="0"/>
                  </a:moveTo>
                  <a:lnTo>
                    <a:pt x="24482163" y="0"/>
                  </a:lnTo>
                  <a:lnTo>
                    <a:pt x="24482163" y="7772400"/>
                  </a:lnTo>
                  <a:lnTo>
                    <a:pt x="0" y="7772400"/>
                  </a:lnTo>
                  <a:close/>
                </a:path>
              </a:pathLst>
            </a:custGeom>
            <a:solidFill>
              <a:srgbClr val="F7B902"/>
            </a:solidFill>
          </p:spPr>
        </p:sp>
      </p:grpSp>
      <p:sp>
        <p:nvSpPr>
          <p:cNvPr name="Freeform 16" id="16"/>
          <p:cNvSpPr/>
          <p:nvPr/>
        </p:nvSpPr>
        <p:spPr>
          <a:xfrm flipH="false" flipV="false" rot="0">
            <a:off x="101362" y="2552700"/>
            <a:ext cx="2829860" cy="5829300"/>
          </a:xfrm>
          <a:custGeom>
            <a:avLst/>
            <a:gdLst/>
            <a:ahLst/>
            <a:cxnLst/>
            <a:rect r="r" b="b" t="t" l="l"/>
            <a:pathLst>
              <a:path h="5829300" w="2829860">
                <a:moveTo>
                  <a:pt x="0" y="0"/>
                </a:moveTo>
                <a:lnTo>
                  <a:pt x="2829860" y="0"/>
                </a:lnTo>
                <a:lnTo>
                  <a:pt x="2829860" y="5829300"/>
                </a:lnTo>
                <a:lnTo>
                  <a:pt x="0" y="58293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7" id="17"/>
          <p:cNvSpPr txBox="true"/>
          <p:nvPr/>
        </p:nvSpPr>
        <p:spPr>
          <a:xfrm rot="0">
            <a:off x="3497579" y="4403373"/>
            <a:ext cx="14790421" cy="2124075"/>
          </a:xfrm>
          <a:prstGeom prst="rect">
            <a:avLst/>
          </a:prstGeom>
        </p:spPr>
        <p:txBody>
          <a:bodyPr anchor="t" rtlCol="false" tIns="0" lIns="0" bIns="0" rIns="0">
            <a:spAutoFit/>
          </a:bodyPr>
          <a:lstStyle/>
          <a:p>
            <a:pPr algn="l" marL="595314" indent="-297657" lvl="1">
              <a:lnSpc>
                <a:spcPts val="3308"/>
              </a:lnSpc>
              <a:buFont typeface="Arial"/>
              <a:buChar char="•"/>
            </a:pPr>
            <a:r>
              <a:rPr lang="en-US" b="true" sz="2757">
                <a:solidFill>
                  <a:srgbClr val="FFFFFF"/>
                </a:solidFill>
                <a:latin typeface="Times New Roman Bold"/>
                <a:ea typeface="Times New Roman Bold"/>
                <a:cs typeface="Times New Roman Bold"/>
                <a:sym typeface="Times New Roman Bold"/>
              </a:rPr>
              <a:t>Single public dataset (HCD) with one stratified 70/15/15 split; no external cohort or full k-fold cross-validation</a:t>
            </a:r>
          </a:p>
          <a:p>
            <a:pPr algn="l">
              <a:lnSpc>
                <a:spcPts val="3308"/>
              </a:lnSpc>
            </a:pPr>
          </a:p>
          <a:p>
            <a:pPr algn="l" marL="595314" indent="-297657" lvl="1">
              <a:lnSpc>
                <a:spcPts val="3308"/>
              </a:lnSpc>
              <a:buFont typeface="Arial"/>
              <a:buChar char="•"/>
            </a:pPr>
            <a:r>
              <a:rPr lang="en-US" b="true" sz="2757">
                <a:solidFill>
                  <a:srgbClr val="FFFFFF"/>
                </a:solidFill>
                <a:latin typeface="Times New Roman Bold"/>
                <a:ea typeface="Times New Roman Bold"/>
                <a:cs typeface="Times New Roman Bold"/>
                <a:sym typeface="Times New Roman Bold"/>
              </a:rPr>
              <a:t>Model family limited to ResNet18/34 and EfficientNetV2-S with supervised training; future work: self-supervised pretraining and more stain-robust architectures</a:t>
            </a:r>
          </a:p>
        </p:txBody>
      </p:sp>
      <p:sp>
        <p:nvSpPr>
          <p:cNvPr name="TextBox 18" id="18"/>
          <p:cNvSpPr txBox="true"/>
          <p:nvPr/>
        </p:nvSpPr>
        <p:spPr>
          <a:xfrm rot="0">
            <a:off x="3420307" y="3351327"/>
            <a:ext cx="4525566" cy="466725"/>
          </a:xfrm>
          <a:prstGeom prst="rect">
            <a:avLst/>
          </a:prstGeom>
        </p:spPr>
        <p:txBody>
          <a:bodyPr anchor="t" rtlCol="false" tIns="0" lIns="0" bIns="0" rIns="0">
            <a:spAutoFit/>
          </a:bodyPr>
          <a:lstStyle/>
          <a:p>
            <a:pPr algn="ctr">
              <a:lnSpc>
                <a:spcPts val="3599"/>
              </a:lnSpc>
              <a:spcBef>
                <a:spcPct val="0"/>
              </a:spcBef>
            </a:pPr>
            <a:r>
              <a:rPr lang="en-US" b="true" sz="2999">
                <a:solidFill>
                  <a:srgbClr val="FFFFFF"/>
                </a:solidFill>
                <a:latin typeface="Times New Roman Bold"/>
                <a:ea typeface="Times New Roman Bold"/>
                <a:cs typeface="Times New Roman Bold"/>
                <a:sym typeface="Times New Roman Bold"/>
              </a:rPr>
              <a:t>Lim</a:t>
            </a:r>
            <a:r>
              <a:rPr lang="en-US" b="true" sz="2999">
                <a:solidFill>
                  <a:srgbClr val="FFFFFF"/>
                </a:solidFill>
                <a:latin typeface="Times New Roman Bold"/>
                <a:ea typeface="Times New Roman Bold"/>
                <a:cs typeface="Times New Roman Bold"/>
                <a:sym typeface="Times New Roman Bold"/>
              </a:rPr>
              <a:t>itations &amp; Future Work</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282830"/>
        </a:solidFill>
      </p:bgPr>
    </p:bg>
    <p:spTree>
      <p:nvGrpSpPr>
        <p:cNvPr id="1" name=""/>
        <p:cNvGrpSpPr/>
        <p:nvPr/>
      </p:nvGrpSpPr>
      <p:grpSpPr>
        <a:xfrm>
          <a:off x="0" y="0"/>
          <a:ext cx="0" cy="0"/>
          <a:chOff x="0" y="0"/>
          <a:chExt cx="0" cy="0"/>
        </a:xfrm>
      </p:grpSpPr>
      <p:grpSp>
        <p:nvGrpSpPr>
          <p:cNvPr name="Group 2" id="2"/>
          <p:cNvGrpSpPr/>
          <p:nvPr/>
        </p:nvGrpSpPr>
        <p:grpSpPr>
          <a:xfrm rot="0">
            <a:off x="6184863" y="7360981"/>
            <a:ext cx="11223526" cy="1423683"/>
            <a:chOff x="0" y="0"/>
            <a:chExt cx="14964702" cy="1898244"/>
          </a:xfrm>
        </p:grpSpPr>
        <p:sp>
          <p:nvSpPr>
            <p:cNvPr name="Freeform 3" id="3"/>
            <p:cNvSpPr/>
            <p:nvPr/>
          </p:nvSpPr>
          <p:spPr>
            <a:xfrm flipH="false" flipV="false" rot="0">
              <a:off x="0" y="0"/>
              <a:ext cx="14964702" cy="1898244"/>
            </a:xfrm>
            <a:custGeom>
              <a:avLst/>
              <a:gdLst/>
              <a:ahLst/>
              <a:cxnLst/>
              <a:rect r="r" b="b" t="t" l="l"/>
              <a:pathLst>
                <a:path h="1898244" w="14964702">
                  <a:moveTo>
                    <a:pt x="0" y="0"/>
                  </a:moveTo>
                  <a:lnTo>
                    <a:pt x="14964702" y="0"/>
                  </a:lnTo>
                  <a:lnTo>
                    <a:pt x="14964702" y="1898244"/>
                  </a:lnTo>
                  <a:lnTo>
                    <a:pt x="0" y="1898244"/>
                  </a:lnTo>
                  <a:close/>
                </a:path>
              </a:pathLst>
            </a:custGeom>
            <a:solidFill>
              <a:srgbClr val="000000">
                <a:alpha val="0"/>
              </a:srgbClr>
            </a:solidFill>
          </p:spPr>
        </p:sp>
        <p:sp>
          <p:nvSpPr>
            <p:cNvPr name="TextBox 4" id="4"/>
            <p:cNvSpPr txBox="true"/>
            <p:nvPr/>
          </p:nvSpPr>
          <p:spPr>
            <a:xfrm>
              <a:off x="0" y="9525"/>
              <a:ext cx="14964702" cy="1888719"/>
            </a:xfrm>
            <a:prstGeom prst="rect">
              <a:avLst/>
            </a:prstGeom>
          </p:spPr>
          <p:txBody>
            <a:bodyPr anchor="t" rtlCol="false" tIns="0" lIns="0" bIns="0" rIns="0"/>
            <a:lstStyle/>
            <a:p>
              <a:pPr algn="l">
                <a:lnSpc>
                  <a:spcPts val="8280"/>
                </a:lnSpc>
              </a:pPr>
              <a:r>
                <a:rPr lang="en-US" sz="6900">
                  <a:solidFill>
                    <a:srgbClr val="FFFFFF"/>
                  </a:solidFill>
                  <a:latin typeface="Century Gothic Paneuropean"/>
                  <a:ea typeface="Century Gothic Paneuropean"/>
                  <a:cs typeface="Century Gothic Paneuropean"/>
                  <a:sym typeface="Century Gothic Paneuropean"/>
                </a:rPr>
                <a:t>Thank you for listening</a:t>
              </a:r>
            </a:p>
          </p:txBody>
        </p:sp>
      </p:grpSp>
      <p:grpSp>
        <p:nvGrpSpPr>
          <p:cNvPr name="Group 5" id="5"/>
          <p:cNvGrpSpPr/>
          <p:nvPr/>
        </p:nvGrpSpPr>
        <p:grpSpPr>
          <a:xfrm rot="5400000">
            <a:off x="15271493" y="7966405"/>
            <a:ext cx="1443661" cy="232813"/>
            <a:chOff x="0" y="0"/>
            <a:chExt cx="1924882" cy="310418"/>
          </a:xfrm>
        </p:grpSpPr>
        <p:sp>
          <p:nvSpPr>
            <p:cNvPr name="Freeform 6" id="6"/>
            <p:cNvSpPr/>
            <p:nvPr/>
          </p:nvSpPr>
          <p:spPr>
            <a:xfrm flipH="false" flipV="false" rot="0">
              <a:off x="0" y="0"/>
              <a:ext cx="1924939" cy="310388"/>
            </a:xfrm>
            <a:custGeom>
              <a:avLst/>
              <a:gdLst/>
              <a:ahLst/>
              <a:cxnLst/>
              <a:rect r="r" b="b" t="t" l="l"/>
              <a:pathLst>
                <a:path h="310388" w="1924939">
                  <a:moveTo>
                    <a:pt x="0" y="0"/>
                  </a:moveTo>
                  <a:lnTo>
                    <a:pt x="1924939" y="0"/>
                  </a:lnTo>
                  <a:lnTo>
                    <a:pt x="1924939" y="310388"/>
                  </a:lnTo>
                  <a:lnTo>
                    <a:pt x="0" y="310388"/>
                  </a:lnTo>
                  <a:close/>
                </a:path>
              </a:pathLst>
            </a:custGeom>
            <a:solidFill>
              <a:srgbClr val="F7B902"/>
            </a:solidFill>
          </p:spPr>
        </p:sp>
      </p:grpSp>
      <p:sp>
        <p:nvSpPr>
          <p:cNvPr name="Freeform 7" id="7"/>
          <p:cNvSpPr/>
          <p:nvPr/>
        </p:nvSpPr>
        <p:spPr>
          <a:xfrm flipH="false" flipV="false" rot="0">
            <a:off x="-88491" y="6331744"/>
            <a:ext cx="8219043" cy="3977378"/>
          </a:xfrm>
          <a:custGeom>
            <a:avLst/>
            <a:gdLst/>
            <a:ahLst/>
            <a:cxnLst/>
            <a:rect r="r" b="b" t="t" l="l"/>
            <a:pathLst>
              <a:path h="3977378" w="8219043">
                <a:moveTo>
                  <a:pt x="0" y="0"/>
                </a:moveTo>
                <a:lnTo>
                  <a:pt x="8219043" y="0"/>
                </a:lnTo>
                <a:lnTo>
                  <a:pt x="8219043" y="3977378"/>
                </a:lnTo>
                <a:lnTo>
                  <a:pt x="0" y="3977378"/>
                </a:lnTo>
                <a:lnTo>
                  <a:pt x="0" y="0"/>
                </a:lnTo>
                <a:close/>
              </a:path>
            </a:pathLst>
          </a:custGeom>
          <a:blipFill>
            <a:blip r:embed="rId2"/>
            <a:stretch>
              <a:fillRect l="-34627" t="0" r="-1" b="-117504"/>
            </a:stretch>
          </a:blipFill>
        </p:spPr>
      </p:sp>
      <p:sp>
        <p:nvSpPr>
          <p:cNvPr name="Freeform 8" id="8"/>
          <p:cNvSpPr/>
          <p:nvPr/>
        </p:nvSpPr>
        <p:spPr>
          <a:xfrm flipH="false" flipV="false" rot="0">
            <a:off x="11467362" y="-44247"/>
            <a:ext cx="6894379" cy="3721198"/>
          </a:xfrm>
          <a:custGeom>
            <a:avLst/>
            <a:gdLst/>
            <a:ahLst/>
            <a:cxnLst/>
            <a:rect r="r" b="b" t="t" l="l"/>
            <a:pathLst>
              <a:path h="3721198" w="6894379">
                <a:moveTo>
                  <a:pt x="0" y="0"/>
                </a:moveTo>
                <a:lnTo>
                  <a:pt x="6894379" y="0"/>
                </a:lnTo>
                <a:lnTo>
                  <a:pt x="6894379" y="3721199"/>
                </a:lnTo>
                <a:lnTo>
                  <a:pt x="0" y="3721199"/>
                </a:lnTo>
                <a:lnTo>
                  <a:pt x="0" y="0"/>
                </a:lnTo>
                <a:close/>
              </a:path>
            </a:pathLst>
          </a:custGeom>
          <a:blipFill>
            <a:blip r:embed="rId3"/>
            <a:stretch>
              <a:fillRect l="0" t="-139114" r="-48160" b="0"/>
            </a:stretch>
          </a:blipFill>
        </p:spPr>
      </p:sp>
      <p:sp>
        <p:nvSpPr>
          <p:cNvPr name="Freeform 9" id="9"/>
          <p:cNvSpPr/>
          <p:nvPr/>
        </p:nvSpPr>
        <p:spPr>
          <a:xfrm flipH="false" flipV="false" rot="0">
            <a:off x="17408390" y="9495662"/>
            <a:ext cx="1582676" cy="1582676"/>
          </a:xfrm>
          <a:custGeom>
            <a:avLst/>
            <a:gdLst/>
            <a:ahLst/>
            <a:cxnLst/>
            <a:rect r="r" b="b" t="t" l="l"/>
            <a:pathLst>
              <a:path h="1582676" w="1582676">
                <a:moveTo>
                  <a:pt x="0" y="0"/>
                </a:moveTo>
                <a:lnTo>
                  <a:pt x="1582676" y="0"/>
                </a:lnTo>
                <a:lnTo>
                  <a:pt x="1582676" y="1582676"/>
                </a:lnTo>
                <a:lnTo>
                  <a:pt x="0" y="15826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7761578" y="9713952"/>
            <a:ext cx="1268668" cy="2170263"/>
            <a:chOff x="0" y="0"/>
            <a:chExt cx="431800" cy="738664"/>
          </a:xfrm>
        </p:grpSpPr>
        <p:sp>
          <p:nvSpPr>
            <p:cNvPr name="Freeform 11" id="11"/>
            <p:cNvSpPr/>
            <p:nvPr/>
          </p:nvSpPr>
          <p:spPr>
            <a:xfrm flipH="false" flipV="false" rot="0">
              <a:off x="0" y="0"/>
              <a:ext cx="431800" cy="738664"/>
            </a:xfrm>
            <a:custGeom>
              <a:avLst/>
              <a:gdLst/>
              <a:ahLst/>
              <a:cxnLst/>
              <a:rect r="r" b="b" t="t" l="l"/>
              <a:pathLst>
                <a:path h="738664" w="431800">
                  <a:moveTo>
                    <a:pt x="0" y="0"/>
                  </a:moveTo>
                  <a:lnTo>
                    <a:pt x="431800" y="0"/>
                  </a:lnTo>
                  <a:lnTo>
                    <a:pt x="431800" y="738664"/>
                  </a:lnTo>
                  <a:lnTo>
                    <a:pt x="0" y="738664"/>
                  </a:lnTo>
                  <a:close/>
                </a:path>
              </a:pathLst>
            </a:custGeom>
            <a:solidFill>
              <a:srgbClr val="000000">
                <a:alpha val="0"/>
              </a:srgbClr>
            </a:solidFill>
          </p:spPr>
        </p:sp>
        <p:sp>
          <p:nvSpPr>
            <p:cNvPr name="TextBox 12" id="12"/>
            <p:cNvSpPr txBox="true"/>
            <p:nvPr/>
          </p:nvSpPr>
          <p:spPr>
            <a:xfrm>
              <a:off x="0" y="-19050"/>
              <a:ext cx="431800" cy="757714"/>
            </a:xfrm>
            <a:prstGeom prst="rect">
              <a:avLst/>
            </a:prstGeom>
          </p:spPr>
          <p:txBody>
            <a:bodyPr anchor="t" rtlCol="false" tIns="0" lIns="0" bIns="0" rIns="0"/>
            <a:lstStyle/>
            <a:p>
              <a:pPr algn="l">
                <a:lnSpc>
                  <a:spcPts val="3240"/>
                </a:lnSpc>
              </a:pPr>
              <a:r>
                <a:rPr lang="en-US" sz="2700" b="true">
                  <a:solidFill>
                    <a:srgbClr val="FFFFFF"/>
                  </a:solidFill>
                  <a:latin typeface="Times New Roman Bold"/>
                  <a:ea typeface="Times New Roman Bold"/>
                  <a:cs typeface="Times New Roman Bold"/>
                  <a:sym typeface="Times New Roman Bold"/>
                </a:rPr>
                <a:t>33</a:t>
              </a:r>
            </a:p>
          </p:txBody>
        </p:sp>
      </p:grpSp>
      <p:graphicFrame>
        <p:nvGraphicFramePr>
          <p:cNvPr name="Table 13" id="13"/>
          <p:cNvGraphicFramePr>
            <a:graphicFrameLocks noGrp="true"/>
          </p:cNvGraphicFramePr>
          <p:nvPr/>
        </p:nvGraphicFramePr>
        <p:xfrm>
          <a:off x="2553949" y="906205"/>
          <a:ext cx="9521184" cy="6153150"/>
        </p:xfrm>
        <a:graphic>
          <a:graphicData uri="http://schemas.openxmlformats.org/drawingml/2006/table">
            <a:tbl>
              <a:tblPr/>
              <a:tblGrid>
                <a:gridCol w="4650292"/>
                <a:gridCol w="2435446"/>
                <a:gridCol w="2435446"/>
              </a:tblGrid>
              <a:tr h="1025525">
                <a:tc>
                  <a:txBody>
                    <a:bodyPr anchor="t" rtlCol="false"/>
                    <a:lstStyle/>
                    <a:p>
                      <a:pPr algn="ctr">
                        <a:lnSpc>
                          <a:spcPts val="2520"/>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b="true">
                          <a:solidFill>
                            <a:srgbClr val="FFFFFF"/>
                          </a:solidFill>
                          <a:latin typeface="Times New Roman Bold"/>
                          <a:ea typeface="Times New Roman Bold"/>
                          <a:cs typeface="Times New Roman Bold"/>
                          <a:sym typeface="Times New Roman Bold"/>
                        </a:rPr>
                        <a:t>林呈軒</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b="true">
                          <a:solidFill>
                            <a:srgbClr val="FFFFFF"/>
                          </a:solidFill>
                          <a:latin typeface="Times New Roman Bold"/>
                          <a:ea typeface="Times New Roman Bold"/>
                          <a:cs typeface="Times New Roman Bold"/>
                          <a:sym typeface="Times New Roman Bold"/>
                        </a:rPr>
                        <a:t>許晴鈞</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5525">
                <a:tc>
                  <a:txBody>
                    <a:bodyPr anchor="t" rtlCol="false"/>
                    <a:lstStyle/>
                    <a:p>
                      <a:pPr algn="ctr">
                        <a:lnSpc>
                          <a:spcPts val="3639"/>
                        </a:lnSpc>
                        <a:defRPr/>
                      </a:pPr>
                      <a:r>
                        <a:rPr lang="en-US" sz="2599" b="true">
                          <a:solidFill>
                            <a:srgbClr val="FFFFFF"/>
                          </a:solidFill>
                          <a:latin typeface="Times New Roman Bold"/>
                          <a:ea typeface="Times New Roman Bold"/>
                          <a:cs typeface="Times New Roman Bold"/>
                          <a:sym typeface="Times New Roman Bold"/>
                        </a:rPr>
                        <a:t>Survey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b="true">
                          <a:solidFill>
                            <a:srgbClr val="FFFFFF"/>
                          </a:solidFill>
                          <a:latin typeface="Times New Roman Bold"/>
                          <a:ea typeface="Times New Roman Bold"/>
                          <a:cs typeface="Times New Roman Bold"/>
                          <a:sym typeface="Times New Roman Bold"/>
                        </a:rPr>
                        <a:t>V</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b="true">
                          <a:solidFill>
                            <a:srgbClr val="FFFFFF"/>
                          </a:solidFill>
                          <a:latin typeface="Times New Roman Bold"/>
                          <a:ea typeface="Times New Roman Bold"/>
                          <a:cs typeface="Times New Roman Bold"/>
                          <a:sym typeface="Times New Roman Bold"/>
                        </a:rPr>
                        <a:t>V</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5525">
                <a:tc>
                  <a:txBody>
                    <a:bodyPr anchor="t" rtlCol="false"/>
                    <a:lstStyle/>
                    <a:p>
                      <a:pPr algn="ctr">
                        <a:lnSpc>
                          <a:spcPts val="3639"/>
                        </a:lnSpc>
                        <a:defRPr/>
                      </a:pPr>
                      <a:r>
                        <a:rPr lang="en-US" sz="2599" b="true">
                          <a:solidFill>
                            <a:srgbClr val="FFFFFF"/>
                          </a:solidFill>
                          <a:latin typeface="Times New Roman Bold"/>
                          <a:ea typeface="Times New Roman Bold"/>
                          <a:cs typeface="Times New Roman Bold"/>
                          <a:sym typeface="Times New Roman Bold"/>
                        </a:rPr>
                        <a:t> Data Understanding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V</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V</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5525">
                <a:tc>
                  <a:txBody>
                    <a:bodyPr anchor="t" rtlCol="false"/>
                    <a:lstStyle/>
                    <a:p>
                      <a:pPr algn="ctr">
                        <a:lnSpc>
                          <a:spcPts val="3639"/>
                        </a:lnSpc>
                        <a:defRPr/>
                      </a:pPr>
                      <a:r>
                        <a:rPr lang="en-US" sz="2599" b="true">
                          <a:solidFill>
                            <a:srgbClr val="FFFFFF"/>
                          </a:solidFill>
                          <a:latin typeface="Times New Roman Bold"/>
                          <a:ea typeface="Times New Roman Bold"/>
                          <a:cs typeface="Times New Roman Bold"/>
                          <a:sym typeface="Times New Roman Bold"/>
                        </a:rPr>
                        <a:t> Data Preparation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V</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V</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5525">
                <a:tc>
                  <a:txBody>
                    <a:bodyPr anchor="t" rtlCol="false"/>
                    <a:lstStyle/>
                    <a:p>
                      <a:pPr algn="ctr">
                        <a:lnSpc>
                          <a:spcPts val="3639"/>
                        </a:lnSpc>
                        <a:defRPr/>
                      </a:pPr>
                      <a:r>
                        <a:rPr lang="en-US" sz="2599" b="true">
                          <a:solidFill>
                            <a:srgbClr val="FFFFFF"/>
                          </a:solidFill>
                          <a:latin typeface="Times New Roman Bold"/>
                          <a:ea typeface="Times New Roman Bold"/>
                          <a:cs typeface="Times New Roman Bold"/>
                          <a:sym typeface="Times New Roman Bold"/>
                        </a:rPr>
                        <a:t> Data Modeling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V</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V</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5525">
                <a:tc>
                  <a:txBody>
                    <a:bodyPr anchor="t" rtlCol="false"/>
                    <a:lstStyle/>
                    <a:p>
                      <a:pPr algn="ctr">
                        <a:lnSpc>
                          <a:spcPts val="3639"/>
                        </a:lnSpc>
                        <a:defRPr/>
                      </a:pPr>
                      <a:r>
                        <a:rPr lang="en-US" sz="2599" b="true">
                          <a:solidFill>
                            <a:srgbClr val="FFFFFF"/>
                          </a:solidFill>
                          <a:latin typeface="Times New Roman Bold"/>
                          <a:ea typeface="Times New Roman Bold"/>
                          <a:cs typeface="Times New Roman Bold"/>
                          <a:sym typeface="Times New Roman Bold"/>
                        </a:rPr>
                        <a:t>Evaluation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V</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Times New Roman"/>
                          <a:ea typeface="Times New Roman"/>
                          <a:cs typeface="Times New Roman"/>
                          <a:sym typeface="Times New Roman"/>
                        </a:rPr>
                        <a:t>V</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DAGznCdR6xE</dc:identifier>
  <dcterms:modified xsi:type="dcterms:W3CDTF">2011-08-01T06:04:30Z</dcterms:modified>
  <cp:revision>1</cp:revision>
  <dc:title>DSP</dc:title>
</cp:coreProperties>
</file>